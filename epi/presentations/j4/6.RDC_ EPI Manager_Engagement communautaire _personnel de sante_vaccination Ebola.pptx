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diagrams/data1.xml" ContentType="application/vnd.openxmlformats-officedocument.drawingml.diagramData+xml"/>
  <Override PartName="/ppt/diagrams/data2.xml" ContentType="application/vnd.openxmlformats-officedocument.drawingml.diagramData+xml"/>
  <Override PartName="/ppt/slideMasters/slideMaster1.xml" ContentType="application/vnd.openxmlformats-officedocument.presentationml.slideMaster+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quickStyle2.xml" ContentType="application/vnd.openxmlformats-officedocument.drawingml.diagramStyle+xml"/>
  <Override PartName="/ppt/authors.xml" ContentType="application/vnd.ms-powerpoint.authors+xml"/>
  <Override PartName="/ppt/diagrams/colors2.xml" ContentType="application/vnd.openxmlformats-officedocument.drawingml.diagramColors+xml"/>
  <Override PartName="/ppt/diagrams/layout2.xml" ContentType="application/vnd.openxmlformats-officedocument.drawingml.diagramLayout+xml"/>
  <Override PartName="/ppt/diagrams/drawing2.xml" ContentType="application/vnd.ms-office.drawingml.diagramDrawing+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147469399" r:id="rId3"/>
    <p:sldId id="2147469431" r:id="rId4"/>
    <p:sldId id="271" r:id="rId5"/>
    <p:sldId id="2147469395" r:id="rId6"/>
    <p:sldId id="2147469408" r:id="rId7"/>
    <p:sldId id="2147469422" r:id="rId8"/>
    <p:sldId id="2147469425" r:id="rId9"/>
    <p:sldId id="2147469402" r:id="rId10"/>
    <p:sldId id="2147469403" r:id="rId11"/>
    <p:sldId id="2147469406" r:id="rId12"/>
    <p:sldId id="2147469411" r:id="rId13"/>
    <p:sldId id="2147469424" r:id="rId14"/>
    <p:sldId id="2147469429" r:id="rId15"/>
    <p:sldId id="2147469430" r:id="rId16"/>
    <p:sldId id="2147469394" r:id="rId17"/>
    <p:sldId id="269" r:id="rId18"/>
    <p:sldId id="33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E5A3CBC-0BE3-2328-C9F1-D04812A79184}" name="DOSHI, Reena Hemendra" initials="DRH" userId="S::rdoshi@who.int::a000f633-1554-4c76-9779-d0878cdbdb8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249" autoAdjust="0"/>
  </p:normalViewPr>
  <p:slideViewPr>
    <p:cSldViewPr snapToGrid="0">
      <p:cViewPr>
        <p:scale>
          <a:sx n="70" d="100"/>
          <a:sy n="70" d="100"/>
        </p:scale>
        <p:origin x="50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28"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openxmlformats.org/officeDocument/2006/relationships/customXml" Target="../customXml/item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530BB7-33C6-4603-AF14-0950102DA01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A897972-65CB-433E-8BA5-B9C6A3257E3E}">
      <dgm:prSet/>
      <dgm:spPr/>
      <dgm:t>
        <a:bodyPr/>
        <a:lstStyle/>
        <a:p>
          <a:r>
            <a:rPr lang="fr-FR" b="1" dirty="0"/>
            <a:t>Risque d'exposition 
Prévention de la transmission
Maintien de la capacité des soins de santé
Protection des travailleurs de première ligne
Confiance du public et leadership
Préparation à une pandémie</a:t>
          </a:r>
          <a:endParaRPr lang="en-US" dirty="0"/>
        </a:p>
      </dgm:t>
    </dgm:pt>
    <dgm:pt modelId="{2326935C-EAEA-44E5-BE97-6DF5301E1F22}" type="parTrans" cxnId="{4EDA1630-718F-4C0F-94B4-BE750A397886}">
      <dgm:prSet/>
      <dgm:spPr/>
      <dgm:t>
        <a:bodyPr/>
        <a:lstStyle/>
        <a:p>
          <a:endParaRPr lang="en-US"/>
        </a:p>
      </dgm:t>
    </dgm:pt>
    <dgm:pt modelId="{0E215C2E-1C12-4D91-996D-2BC33C72483B}" type="sibTrans" cxnId="{4EDA1630-718F-4C0F-94B4-BE750A397886}">
      <dgm:prSet/>
      <dgm:spPr/>
      <dgm:t>
        <a:bodyPr/>
        <a:lstStyle/>
        <a:p>
          <a:endParaRPr lang="en-US"/>
        </a:p>
      </dgm:t>
    </dgm:pt>
    <dgm:pt modelId="{9372895B-424B-4512-AB07-60F7E144E892}" type="pres">
      <dgm:prSet presAssocID="{50530BB7-33C6-4603-AF14-0950102DA019}" presName="linear" presStyleCnt="0">
        <dgm:presLayoutVars>
          <dgm:animLvl val="lvl"/>
          <dgm:resizeHandles val="exact"/>
        </dgm:presLayoutVars>
      </dgm:prSet>
      <dgm:spPr/>
    </dgm:pt>
    <dgm:pt modelId="{4FB8709E-7AB3-4B68-88E8-77843FAC2268}" type="pres">
      <dgm:prSet presAssocID="{BA897972-65CB-433E-8BA5-B9C6A3257E3E}" presName="parentText" presStyleLbl="node1" presStyleIdx="0" presStyleCnt="1">
        <dgm:presLayoutVars>
          <dgm:chMax val="0"/>
          <dgm:bulletEnabled val="1"/>
        </dgm:presLayoutVars>
      </dgm:prSet>
      <dgm:spPr/>
    </dgm:pt>
  </dgm:ptLst>
  <dgm:cxnLst>
    <dgm:cxn modelId="{49E69603-F180-48CA-8FCA-B55AFD8324CB}" type="presOf" srcId="{BA897972-65CB-433E-8BA5-B9C6A3257E3E}" destId="{4FB8709E-7AB3-4B68-88E8-77843FAC2268}" srcOrd="0" destOrd="0" presId="urn:microsoft.com/office/officeart/2005/8/layout/vList2"/>
    <dgm:cxn modelId="{B26F3807-BFF0-4536-919C-D3B774340682}" type="presOf" srcId="{50530BB7-33C6-4603-AF14-0950102DA019}" destId="{9372895B-424B-4512-AB07-60F7E144E892}" srcOrd="0" destOrd="0" presId="urn:microsoft.com/office/officeart/2005/8/layout/vList2"/>
    <dgm:cxn modelId="{4EDA1630-718F-4C0F-94B4-BE750A397886}" srcId="{50530BB7-33C6-4603-AF14-0950102DA019}" destId="{BA897972-65CB-433E-8BA5-B9C6A3257E3E}" srcOrd="0" destOrd="0" parTransId="{2326935C-EAEA-44E5-BE97-6DF5301E1F22}" sibTransId="{0E215C2E-1C12-4D91-996D-2BC33C72483B}"/>
    <dgm:cxn modelId="{8C287CF4-8D42-487C-8D73-CC606382155B}" type="presParOf" srcId="{9372895B-424B-4512-AB07-60F7E144E892}" destId="{4FB8709E-7AB3-4B68-88E8-77843FAC2268}"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379E66A-B1EB-4A53-B73D-73A721184506}" type="doc">
      <dgm:prSet loTypeId="urn:microsoft.com/office/officeart/2005/8/layout/default" loCatId="list" qsTypeId="urn:microsoft.com/office/officeart/2005/8/quickstyle/simple1" qsCatId="simple" csTypeId="urn:microsoft.com/office/officeart/2005/8/colors/accent6_2" csCatId="accent6" phldr="1"/>
      <dgm:spPr/>
      <dgm:t>
        <a:bodyPr/>
        <a:lstStyle/>
        <a:p>
          <a:endParaRPr lang="en-US"/>
        </a:p>
      </dgm:t>
    </dgm:pt>
    <dgm:pt modelId="{EA3B06F3-08E6-42EA-9FB3-6311EA1A01AD}">
      <dgm:prSet/>
      <dgm:spPr/>
      <dgm:t>
        <a:bodyPr/>
        <a:lstStyle/>
        <a:p>
          <a:r>
            <a:rPr lang="en-US" b="1" dirty="0"/>
            <a:t>Communication sur </a:t>
          </a:r>
          <a:r>
            <a:rPr lang="en-US" b="1" dirty="0" err="1"/>
            <a:t>mesure</a:t>
          </a:r>
          <a:r>
            <a:rPr lang="en-US" b="1" dirty="0"/>
            <a:t> </a:t>
          </a:r>
          <a:endParaRPr lang="en-US" dirty="0"/>
        </a:p>
      </dgm:t>
    </dgm:pt>
    <dgm:pt modelId="{0D62C0DB-64BA-4C20-8D5E-C0C34D8D296F}" type="parTrans" cxnId="{00BD8A96-DA4E-489C-9BA2-79356217C6AF}">
      <dgm:prSet/>
      <dgm:spPr/>
      <dgm:t>
        <a:bodyPr/>
        <a:lstStyle/>
        <a:p>
          <a:endParaRPr lang="en-US"/>
        </a:p>
      </dgm:t>
    </dgm:pt>
    <dgm:pt modelId="{630D99BD-FADD-4301-9DF3-2286ADCA54AB}" type="sibTrans" cxnId="{00BD8A96-DA4E-489C-9BA2-79356217C6AF}">
      <dgm:prSet/>
      <dgm:spPr/>
      <dgm:t>
        <a:bodyPr/>
        <a:lstStyle/>
        <a:p>
          <a:endParaRPr lang="en-US"/>
        </a:p>
      </dgm:t>
    </dgm:pt>
    <dgm:pt modelId="{DA01FF11-04FB-4A50-8CDF-5D372E5697F9}">
      <dgm:prSet/>
      <dgm:spPr/>
      <dgm:t>
        <a:bodyPr/>
        <a:lstStyle/>
        <a:p>
          <a:r>
            <a:rPr lang="fr-FR" b="1" dirty="0"/>
            <a:t>Engagement par l’intermédiaire des dirigeants locaux </a:t>
          </a:r>
          <a:endParaRPr lang="en-US" dirty="0"/>
        </a:p>
      </dgm:t>
    </dgm:pt>
    <dgm:pt modelId="{C077C903-3B5C-4435-8B4B-695805CCDDF5}" type="parTrans" cxnId="{732F16A7-9862-4E12-B3FF-69A34F4A03EA}">
      <dgm:prSet/>
      <dgm:spPr/>
      <dgm:t>
        <a:bodyPr/>
        <a:lstStyle/>
        <a:p>
          <a:endParaRPr lang="en-US"/>
        </a:p>
      </dgm:t>
    </dgm:pt>
    <dgm:pt modelId="{E51B4D04-9D5D-4122-B245-3C0AAA1A5493}" type="sibTrans" cxnId="{732F16A7-9862-4E12-B3FF-69A34F4A03EA}">
      <dgm:prSet/>
      <dgm:spPr/>
      <dgm:t>
        <a:bodyPr/>
        <a:lstStyle/>
        <a:p>
          <a:endParaRPr lang="en-US"/>
        </a:p>
      </dgm:t>
    </dgm:pt>
    <dgm:pt modelId="{93C51E44-27CA-4332-8A6D-E1BD4EBEA6FD}">
      <dgm:prSet/>
      <dgm:spPr/>
      <dgm:t>
        <a:bodyPr/>
        <a:lstStyle/>
        <a:p>
          <a:r>
            <a:rPr lang="fr-FR" b="1" dirty="0"/>
            <a:t>Séances de formation et de sensibilisation </a:t>
          </a:r>
          <a:endParaRPr lang="en-US" dirty="0"/>
        </a:p>
      </dgm:t>
    </dgm:pt>
    <dgm:pt modelId="{478E7FA7-4897-451C-BA53-3333D0063B34}" type="parTrans" cxnId="{BB755BF8-A8B9-4942-A1B9-3832CD0ED7CE}">
      <dgm:prSet/>
      <dgm:spPr/>
      <dgm:t>
        <a:bodyPr/>
        <a:lstStyle/>
        <a:p>
          <a:endParaRPr lang="en-US"/>
        </a:p>
      </dgm:t>
    </dgm:pt>
    <dgm:pt modelId="{DB7F92F1-0F47-424E-BE0F-C8560FC823B4}" type="sibTrans" cxnId="{BB755BF8-A8B9-4942-A1B9-3832CD0ED7CE}">
      <dgm:prSet/>
      <dgm:spPr/>
      <dgm:t>
        <a:bodyPr/>
        <a:lstStyle/>
        <a:p>
          <a:endParaRPr lang="en-US"/>
        </a:p>
      </dgm:t>
    </dgm:pt>
    <dgm:pt modelId="{C590A927-EB3D-49E9-84F0-70549AEF9A96}">
      <dgm:prSet/>
      <dgm:spPr/>
      <dgm:t>
        <a:bodyPr/>
        <a:lstStyle/>
        <a:p>
          <a:r>
            <a:rPr lang="en-US" b="1" dirty="0" err="1"/>
            <a:t>Cliniques</a:t>
          </a:r>
          <a:r>
            <a:rPr lang="en-US" b="1" dirty="0"/>
            <a:t> de vaccination mobiles </a:t>
          </a:r>
          <a:endParaRPr lang="en-US" dirty="0"/>
        </a:p>
      </dgm:t>
    </dgm:pt>
    <dgm:pt modelId="{39F27729-6BE1-4E09-93CF-E46527C86213}" type="parTrans" cxnId="{1107FC10-4E96-449C-8691-76F1C792B47B}">
      <dgm:prSet/>
      <dgm:spPr/>
      <dgm:t>
        <a:bodyPr/>
        <a:lstStyle/>
        <a:p>
          <a:endParaRPr lang="en-US"/>
        </a:p>
      </dgm:t>
    </dgm:pt>
    <dgm:pt modelId="{51D65912-6E50-4139-9667-9EFB7ABEDE08}" type="sibTrans" cxnId="{1107FC10-4E96-449C-8691-76F1C792B47B}">
      <dgm:prSet/>
      <dgm:spPr/>
      <dgm:t>
        <a:bodyPr/>
        <a:lstStyle/>
        <a:p>
          <a:endParaRPr lang="en-US"/>
        </a:p>
      </dgm:t>
    </dgm:pt>
    <dgm:pt modelId="{95F2732E-0686-41E0-BEE1-CC31529DF610}">
      <dgm:prSet/>
      <dgm:spPr/>
      <dgm:t>
        <a:bodyPr/>
        <a:lstStyle/>
        <a:p>
          <a:r>
            <a:rPr lang="en-US" b="1" dirty="0"/>
            <a:t>Engagement entre pairs </a:t>
          </a:r>
          <a:endParaRPr lang="en-US" dirty="0"/>
        </a:p>
      </dgm:t>
    </dgm:pt>
    <dgm:pt modelId="{E380EA0E-5562-4EB4-A471-93F4AEBF21E0}" type="parTrans" cxnId="{1A51D566-8301-4565-91F0-0DC26A8F10FD}">
      <dgm:prSet/>
      <dgm:spPr/>
      <dgm:t>
        <a:bodyPr/>
        <a:lstStyle/>
        <a:p>
          <a:endParaRPr lang="en-US"/>
        </a:p>
      </dgm:t>
    </dgm:pt>
    <dgm:pt modelId="{8E01D0AB-C911-4927-8C8D-8F87DD3B0A39}" type="sibTrans" cxnId="{1A51D566-8301-4565-91F0-0DC26A8F10FD}">
      <dgm:prSet/>
      <dgm:spPr/>
      <dgm:t>
        <a:bodyPr/>
        <a:lstStyle/>
        <a:p>
          <a:endParaRPr lang="en-US"/>
        </a:p>
      </dgm:t>
    </dgm:pt>
    <dgm:pt modelId="{7B928DCE-A612-45BB-AB44-DA8D8267AF78}">
      <dgm:prSet/>
      <dgm:spPr/>
      <dgm:t>
        <a:bodyPr/>
        <a:lstStyle/>
        <a:p>
          <a:r>
            <a:rPr lang="en-US" b="1" dirty="0" err="1"/>
            <a:t>Incitations</a:t>
          </a:r>
          <a:r>
            <a:rPr lang="en-US" b="1" dirty="0"/>
            <a:t> et reconnaissance </a:t>
          </a:r>
          <a:endParaRPr lang="en-US" dirty="0"/>
        </a:p>
      </dgm:t>
    </dgm:pt>
    <dgm:pt modelId="{139FF006-74F2-43F7-A066-1D7997726F6B}" type="parTrans" cxnId="{90E55D81-C3AF-49E8-93A8-ADA45349F79A}">
      <dgm:prSet/>
      <dgm:spPr/>
      <dgm:t>
        <a:bodyPr/>
        <a:lstStyle/>
        <a:p>
          <a:endParaRPr lang="en-US"/>
        </a:p>
      </dgm:t>
    </dgm:pt>
    <dgm:pt modelId="{CA2E24D9-7A40-45D5-8477-1C11122C4D95}" type="sibTrans" cxnId="{90E55D81-C3AF-49E8-93A8-ADA45349F79A}">
      <dgm:prSet/>
      <dgm:spPr/>
      <dgm:t>
        <a:bodyPr/>
        <a:lstStyle/>
        <a:p>
          <a:endParaRPr lang="en-US"/>
        </a:p>
      </dgm:t>
    </dgm:pt>
    <dgm:pt modelId="{CC1B5B70-9F53-4D6E-9483-27DB367122C8}">
      <dgm:prSet/>
      <dgm:spPr/>
      <dgm:t>
        <a:bodyPr/>
        <a:lstStyle/>
        <a:p>
          <a:r>
            <a:rPr lang="fr-FR" b="1" dirty="0"/>
            <a:t>Collaboration avec les employeurs et les organisations </a:t>
          </a:r>
          <a:endParaRPr lang="en-US" dirty="0"/>
        </a:p>
      </dgm:t>
    </dgm:pt>
    <dgm:pt modelId="{045F8256-A70D-4F11-AE08-02F30A4E3F51}" type="parTrans" cxnId="{F35261BD-E9E5-4C89-9DDF-FDE7CA46E082}">
      <dgm:prSet/>
      <dgm:spPr/>
      <dgm:t>
        <a:bodyPr/>
        <a:lstStyle/>
        <a:p>
          <a:endParaRPr lang="en-US"/>
        </a:p>
      </dgm:t>
    </dgm:pt>
    <dgm:pt modelId="{14F137AF-F2CB-4D80-BDDF-63EEFB167AC5}" type="sibTrans" cxnId="{F35261BD-E9E5-4C89-9DDF-FDE7CA46E082}">
      <dgm:prSet/>
      <dgm:spPr/>
      <dgm:t>
        <a:bodyPr/>
        <a:lstStyle/>
        <a:p>
          <a:endParaRPr lang="en-US"/>
        </a:p>
      </dgm:t>
    </dgm:pt>
    <dgm:pt modelId="{B73755BB-A7E3-46F3-AAF3-18651375CA76}">
      <dgm:prSet/>
      <dgm:spPr/>
      <dgm:t>
        <a:bodyPr/>
        <a:lstStyle/>
        <a:p>
          <a:r>
            <a:rPr lang="fr-FR" b="1" dirty="0"/>
            <a:t>Utilisation de la technologie et des médias sociaux </a:t>
          </a:r>
          <a:endParaRPr lang="en-US" dirty="0"/>
        </a:p>
      </dgm:t>
    </dgm:pt>
    <dgm:pt modelId="{578534C4-F75E-4E0F-8ABA-4663576A4E50}" type="parTrans" cxnId="{32C8CB60-7E2C-4B4B-AEDC-A7362A3017CF}">
      <dgm:prSet/>
      <dgm:spPr/>
      <dgm:t>
        <a:bodyPr/>
        <a:lstStyle/>
        <a:p>
          <a:endParaRPr lang="en-US"/>
        </a:p>
      </dgm:t>
    </dgm:pt>
    <dgm:pt modelId="{F2D3B365-4793-4CF7-8178-BCFFE8ECF78F}" type="sibTrans" cxnId="{32C8CB60-7E2C-4B4B-AEDC-A7362A3017CF}">
      <dgm:prSet/>
      <dgm:spPr/>
      <dgm:t>
        <a:bodyPr/>
        <a:lstStyle/>
        <a:p>
          <a:endParaRPr lang="en-US"/>
        </a:p>
      </dgm:t>
    </dgm:pt>
    <dgm:pt modelId="{01759A15-4F64-4A2C-8FB8-90AC32822DDE}">
      <dgm:prSet/>
      <dgm:spPr/>
      <dgm:t>
        <a:bodyPr/>
        <a:lstStyle/>
        <a:p>
          <a:r>
            <a:rPr lang="en-US" b="1" dirty="0" err="1"/>
            <a:t>Événements</a:t>
          </a:r>
          <a:r>
            <a:rPr lang="en-US" b="1" dirty="0"/>
            <a:t> </a:t>
          </a:r>
          <a:r>
            <a:rPr lang="en-US" b="1" dirty="0" err="1"/>
            <a:t>d'engagement</a:t>
          </a:r>
          <a:r>
            <a:rPr lang="en-US" b="1" dirty="0"/>
            <a:t> </a:t>
          </a:r>
          <a:r>
            <a:rPr lang="en-US" b="1" dirty="0" err="1"/>
            <a:t>communautaire</a:t>
          </a:r>
          <a:r>
            <a:rPr lang="en-US" b="1" dirty="0"/>
            <a:t> </a:t>
          </a:r>
          <a:endParaRPr lang="en-US" dirty="0"/>
        </a:p>
      </dgm:t>
    </dgm:pt>
    <dgm:pt modelId="{A9A57816-54BE-4261-A48C-A7D1A24AA289}" type="parTrans" cxnId="{659FC2C1-D59A-40E0-920D-720E28F30C60}">
      <dgm:prSet/>
      <dgm:spPr/>
      <dgm:t>
        <a:bodyPr/>
        <a:lstStyle/>
        <a:p>
          <a:endParaRPr lang="en-US"/>
        </a:p>
      </dgm:t>
    </dgm:pt>
    <dgm:pt modelId="{A2E7177F-7557-4208-9027-6B469419F554}" type="sibTrans" cxnId="{659FC2C1-D59A-40E0-920D-720E28F30C60}">
      <dgm:prSet/>
      <dgm:spPr/>
      <dgm:t>
        <a:bodyPr/>
        <a:lstStyle/>
        <a:p>
          <a:endParaRPr lang="en-US"/>
        </a:p>
      </dgm:t>
    </dgm:pt>
    <dgm:pt modelId="{776872BC-20A3-4C33-A382-3C9AE0C585F4}">
      <dgm:prSet/>
      <dgm:spPr/>
      <dgm:t>
        <a:bodyPr/>
        <a:lstStyle/>
        <a:p>
          <a:r>
            <a:rPr lang="en-US" b="1" dirty="0" err="1"/>
            <a:t>Mécanismes</a:t>
          </a:r>
          <a:r>
            <a:rPr lang="en-US" b="1" dirty="0"/>
            <a:t> de rétroaction </a:t>
          </a:r>
          <a:endParaRPr lang="en-US" dirty="0"/>
        </a:p>
      </dgm:t>
    </dgm:pt>
    <dgm:pt modelId="{147FF4C8-DC58-49A1-96B0-0B5F7354A193}" type="parTrans" cxnId="{FFDC35F3-10E4-4C63-AAD5-E6C5F05F2FB9}">
      <dgm:prSet/>
      <dgm:spPr/>
      <dgm:t>
        <a:bodyPr/>
        <a:lstStyle/>
        <a:p>
          <a:endParaRPr lang="en-US"/>
        </a:p>
      </dgm:t>
    </dgm:pt>
    <dgm:pt modelId="{C30294D7-E8D7-4533-9071-4FFF411C0505}" type="sibTrans" cxnId="{FFDC35F3-10E4-4C63-AAD5-E6C5F05F2FB9}">
      <dgm:prSet/>
      <dgm:spPr/>
      <dgm:t>
        <a:bodyPr/>
        <a:lstStyle/>
        <a:p>
          <a:endParaRPr lang="en-US"/>
        </a:p>
      </dgm:t>
    </dgm:pt>
    <dgm:pt modelId="{684357E0-EF71-4E83-982A-5E8A0FFAFD70}">
      <dgm:prSet/>
      <dgm:spPr/>
      <dgm:t>
        <a:bodyPr/>
        <a:lstStyle/>
        <a:p>
          <a:r>
            <a:rPr lang="en-US" b="1" dirty="0"/>
            <a:t>Assistance et </a:t>
          </a:r>
          <a:r>
            <a:rPr lang="en-US" b="1" dirty="0" err="1"/>
            <a:t>suivi</a:t>
          </a:r>
          <a:r>
            <a:rPr lang="en-US" b="1" dirty="0"/>
            <a:t> </a:t>
          </a:r>
          <a:r>
            <a:rPr lang="en-US" b="1" dirty="0" err="1"/>
            <a:t>continus</a:t>
          </a:r>
          <a:r>
            <a:rPr lang="en-US" b="1" dirty="0"/>
            <a:t> </a:t>
          </a:r>
          <a:endParaRPr lang="en-US" dirty="0"/>
        </a:p>
      </dgm:t>
    </dgm:pt>
    <dgm:pt modelId="{04A8D4EC-08AD-4B28-9DC5-F1E9289E6D2A}" type="parTrans" cxnId="{9F0951B8-8002-4CB7-8D62-E9112DFE033C}">
      <dgm:prSet/>
      <dgm:spPr/>
      <dgm:t>
        <a:bodyPr/>
        <a:lstStyle/>
        <a:p>
          <a:endParaRPr lang="en-US"/>
        </a:p>
      </dgm:t>
    </dgm:pt>
    <dgm:pt modelId="{A5A80989-F5A2-4C8F-BF1D-582065455998}" type="sibTrans" cxnId="{9F0951B8-8002-4CB7-8D62-E9112DFE033C}">
      <dgm:prSet/>
      <dgm:spPr/>
      <dgm:t>
        <a:bodyPr/>
        <a:lstStyle/>
        <a:p>
          <a:endParaRPr lang="en-US"/>
        </a:p>
      </dgm:t>
    </dgm:pt>
    <dgm:pt modelId="{C39BC1F9-CFD8-4E5D-933D-9E7AD054071B}" type="pres">
      <dgm:prSet presAssocID="{3379E66A-B1EB-4A53-B73D-73A721184506}" presName="diagram" presStyleCnt="0">
        <dgm:presLayoutVars>
          <dgm:dir/>
          <dgm:resizeHandles val="exact"/>
        </dgm:presLayoutVars>
      </dgm:prSet>
      <dgm:spPr/>
    </dgm:pt>
    <dgm:pt modelId="{F50A31C1-6F2C-4AEB-BF11-E5D5BB2D9D8E}" type="pres">
      <dgm:prSet presAssocID="{EA3B06F3-08E6-42EA-9FB3-6311EA1A01AD}" presName="node" presStyleLbl="node1" presStyleIdx="0" presStyleCnt="11">
        <dgm:presLayoutVars>
          <dgm:bulletEnabled val="1"/>
        </dgm:presLayoutVars>
      </dgm:prSet>
      <dgm:spPr/>
    </dgm:pt>
    <dgm:pt modelId="{729A4F52-9FFE-4420-892C-D4AB8CD86F85}" type="pres">
      <dgm:prSet presAssocID="{630D99BD-FADD-4301-9DF3-2286ADCA54AB}" presName="sibTrans" presStyleCnt="0"/>
      <dgm:spPr/>
    </dgm:pt>
    <dgm:pt modelId="{09EF1211-94FA-42EF-B1A8-4B624D249C0C}" type="pres">
      <dgm:prSet presAssocID="{DA01FF11-04FB-4A50-8CDF-5D372E5697F9}" presName="node" presStyleLbl="node1" presStyleIdx="1" presStyleCnt="11">
        <dgm:presLayoutVars>
          <dgm:bulletEnabled val="1"/>
        </dgm:presLayoutVars>
      </dgm:prSet>
      <dgm:spPr/>
    </dgm:pt>
    <dgm:pt modelId="{F7636AAC-28C9-42E8-988D-4EC9CEDE42B0}" type="pres">
      <dgm:prSet presAssocID="{E51B4D04-9D5D-4122-B245-3C0AAA1A5493}" presName="sibTrans" presStyleCnt="0"/>
      <dgm:spPr/>
    </dgm:pt>
    <dgm:pt modelId="{AF5F3067-D5C2-4216-942D-A78A4D8B1BB6}" type="pres">
      <dgm:prSet presAssocID="{93C51E44-27CA-4332-8A6D-E1BD4EBEA6FD}" presName="node" presStyleLbl="node1" presStyleIdx="2" presStyleCnt="11">
        <dgm:presLayoutVars>
          <dgm:bulletEnabled val="1"/>
        </dgm:presLayoutVars>
      </dgm:prSet>
      <dgm:spPr/>
    </dgm:pt>
    <dgm:pt modelId="{B21F25AC-F1ED-402F-B47C-C0FC3E7A3659}" type="pres">
      <dgm:prSet presAssocID="{DB7F92F1-0F47-424E-BE0F-C8560FC823B4}" presName="sibTrans" presStyleCnt="0"/>
      <dgm:spPr/>
    </dgm:pt>
    <dgm:pt modelId="{81788BF0-9798-42A2-984B-67004570251C}" type="pres">
      <dgm:prSet presAssocID="{C590A927-EB3D-49E9-84F0-70549AEF9A96}" presName="node" presStyleLbl="node1" presStyleIdx="3" presStyleCnt="11">
        <dgm:presLayoutVars>
          <dgm:bulletEnabled val="1"/>
        </dgm:presLayoutVars>
      </dgm:prSet>
      <dgm:spPr/>
    </dgm:pt>
    <dgm:pt modelId="{6D31EC15-1D95-49F1-A520-4828A7D54400}" type="pres">
      <dgm:prSet presAssocID="{51D65912-6E50-4139-9667-9EFB7ABEDE08}" presName="sibTrans" presStyleCnt="0"/>
      <dgm:spPr/>
    </dgm:pt>
    <dgm:pt modelId="{8CCA938F-5335-4F22-AA00-C41E285DAD8D}" type="pres">
      <dgm:prSet presAssocID="{95F2732E-0686-41E0-BEE1-CC31529DF610}" presName="node" presStyleLbl="node1" presStyleIdx="4" presStyleCnt="11">
        <dgm:presLayoutVars>
          <dgm:bulletEnabled val="1"/>
        </dgm:presLayoutVars>
      </dgm:prSet>
      <dgm:spPr/>
    </dgm:pt>
    <dgm:pt modelId="{260916BC-0A17-4401-B4AE-33A945622A09}" type="pres">
      <dgm:prSet presAssocID="{8E01D0AB-C911-4927-8C8D-8F87DD3B0A39}" presName="sibTrans" presStyleCnt="0"/>
      <dgm:spPr/>
    </dgm:pt>
    <dgm:pt modelId="{A599129F-394E-49F9-BCCF-AD086FDD2C79}" type="pres">
      <dgm:prSet presAssocID="{7B928DCE-A612-45BB-AB44-DA8D8267AF78}" presName="node" presStyleLbl="node1" presStyleIdx="5" presStyleCnt="11">
        <dgm:presLayoutVars>
          <dgm:bulletEnabled val="1"/>
        </dgm:presLayoutVars>
      </dgm:prSet>
      <dgm:spPr/>
    </dgm:pt>
    <dgm:pt modelId="{93E478E4-56A8-491F-9D98-60598DB88421}" type="pres">
      <dgm:prSet presAssocID="{CA2E24D9-7A40-45D5-8477-1C11122C4D95}" presName="sibTrans" presStyleCnt="0"/>
      <dgm:spPr/>
    </dgm:pt>
    <dgm:pt modelId="{D96B5294-2223-4399-B7D1-0B0F850BC717}" type="pres">
      <dgm:prSet presAssocID="{CC1B5B70-9F53-4D6E-9483-27DB367122C8}" presName="node" presStyleLbl="node1" presStyleIdx="6" presStyleCnt="11">
        <dgm:presLayoutVars>
          <dgm:bulletEnabled val="1"/>
        </dgm:presLayoutVars>
      </dgm:prSet>
      <dgm:spPr/>
    </dgm:pt>
    <dgm:pt modelId="{FAC378EF-AAB5-4FCF-A4E1-EE3DF0EF982D}" type="pres">
      <dgm:prSet presAssocID="{14F137AF-F2CB-4D80-BDDF-63EEFB167AC5}" presName="sibTrans" presStyleCnt="0"/>
      <dgm:spPr/>
    </dgm:pt>
    <dgm:pt modelId="{1B4A7CFB-222D-4F8A-8F03-4CD479A20181}" type="pres">
      <dgm:prSet presAssocID="{B73755BB-A7E3-46F3-AAF3-18651375CA76}" presName="node" presStyleLbl="node1" presStyleIdx="7" presStyleCnt="11">
        <dgm:presLayoutVars>
          <dgm:bulletEnabled val="1"/>
        </dgm:presLayoutVars>
      </dgm:prSet>
      <dgm:spPr/>
    </dgm:pt>
    <dgm:pt modelId="{0AE21C01-A1D4-4D4A-B9F1-5FC6870D3819}" type="pres">
      <dgm:prSet presAssocID="{F2D3B365-4793-4CF7-8178-BCFFE8ECF78F}" presName="sibTrans" presStyleCnt="0"/>
      <dgm:spPr/>
    </dgm:pt>
    <dgm:pt modelId="{2CACC20B-B240-4750-B672-77DD362FEF2F}" type="pres">
      <dgm:prSet presAssocID="{01759A15-4F64-4A2C-8FB8-90AC32822DDE}" presName="node" presStyleLbl="node1" presStyleIdx="8" presStyleCnt="11">
        <dgm:presLayoutVars>
          <dgm:bulletEnabled val="1"/>
        </dgm:presLayoutVars>
      </dgm:prSet>
      <dgm:spPr/>
    </dgm:pt>
    <dgm:pt modelId="{CA15713F-B898-4B9D-92F2-0ECBEDC8794E}" type="pres">
      <dgm:prSet presAssocID="{A2E7177F-7557-4208-9027-6B469419F554}" presName="sibTrans" presStyleCnt="0"/>
      <dgm:spPr/>
    </dgm:pt>
    <dgm:pt modelId="{4AC8B19B-BC0D-43A1-9D9D-7743682DB881}" type="pres">
      <dgm:prSet presAssocID="{776872BC-20A3-4C33-A382-3C9AE0C585F4}" presName="node" presStyleLbl="node1" presStyleIdx="9" presStyleCnt="11">
        <dgm:presLayoutVars>
          <dgm:bulletEnabled val="1"/>
        </dgm:presLayoutVars>
      </dgm:prSet>
      <dgm:spPr/>
    </dgm:pt>
    <dgm:pt modelId="{6C7A129F-5989-443A-9113-009901FC5006}" type="pres">
      <dgm:prSet presAssocID="{C30294D7-E8D7-4533-9071-4FFF411C0505}" presName="sibTrans" presStyleCnt="0"/>
      <dgm:spPr/>
    </dgm:pt>
    <dgm:pt modelId="{8D512D3D-C158-43EA-9204-940B0FEA5614}" type="pres">
      <dgm:prSet presAssocID="{684357E0-EF71-4E83-982A-5E8A0FFAFD70}" presName="node" presStyleLbl="node1" presStyleIdx="10" presStyleCnt="11">
        <dgm:presLayoutVars>
          <dgm:bulletEnabled val="1"/>
        </dgm:presLayoutVars>
      </dgm:prSet>
      <dgm:spPr/>
    </dgm:pt>
  </dgm:ptLst>
  <dgm:cxnLst>
    <dgm:cxn modelId="{DF659C06-976B-49DF-B547-134589C6B143}" type="presOf" srcId="{95F2732E-0686-41E0-BEE1-CC31529DF610}" destId="{8CCA938F-5335-4F22-AA00-C41E285DAD8D}" srcOrd="0" destOrd="0" presId="urn:microsoft.com/office/officeart/2005/8/layout/default"/>
    <dgm:cxn modelId="{7EF14B0C-8FE9-4333-A9F4-A57E2AB1FE2F}" type="presOf" srcId="{EA3B06F3-08E6-42EA-9FB3-6311EA1A01AD}" destId="{F50A31C1-6F2C-4AEB-BF11-E5D5BB2D9D8E}" srcOrd="0" destOrd="0" presId="urn:microsoft.com/office/officeart/2005/8/layout/default"/>
    <dgm:cxn modelId="{1107FC10-4E96-449C-8691-76F1C792B47B}" srcId="{3379E66A-B1EB-4A53-B73D-73A721184506}" destId="{C590A927-EB3D-49E9-84F0-70549AEF9A96}" srcOrd="3" destOrd="0" parTransId="{39F27729-6BE1-4E09-93CF-E46527C86213}" sibTransId="{51D65912-6E50-4139-9667-9EFB7ABEDE08}"/>
    <dgm:cxn modelId="{32C8CB60-7E2C-4B4B-AEDC-A7362A3017CF}" srcId="{3379E66A-B1EB-4A53-B73D-73A721184506}" destId="{B73755BB-A7E3-46F3-AAF3-18651375CA76}" srcOrd="7" destOrd="0" parTransId="{578534C4-F75E-4E0F-8ABA-4663576A4E50}" sibTransId="{F2D3B365-4793-4CF7-8178-BCFFE8ECF78F}"/>
    <dgm:cxn modelId="{1A51D566-8301-4565-91F0-0DC26A8F10FD}" srcId="{3379E66A-B1EB-4A53-B73D-73A721184506}" destId="{95F2732E-0686-41E0-BEE1-CC31529DF610}" srcOrd="4" destOrd="0" parTransId="{E380EA0E-5562-4EB4-A471-93F4AEBF21E0}" sibTransId="{8E01D0AB-C911-4927-8C8D-8F87DD3B0A39}"/>
    <dgm:cxn modelId="{51BE0A73-051D-4F5F-8D82-E0B11240C7A3}" type="presOf" srcId="{C590A927-EB3D-49E9-84F0-70549AEF9A96}" destId="{81788BF0-9798-42A2-984B-67004570251C}" srcOrd="0" destOrd="0" presId="urn:microsoft.com/office/officeart/2005/8/layout/default"/>
    <dgm:cxn modelId="{A1BB8E57-A9AB-4393-894B-450551BE5958}" type="presOf" srcId="{CC1B5B70-9F53-4D6E-9483-27DB367122C8}" destId="{D96B5294-2223-4399-B7D1-0B0F850BC717}" srcOrd="0" destOrd="0" presId="urn:microsoft.com/office/officeart/2005/8/layout/default"/>
    <dgm:cxn modelId="{74AB0258-F676-452E-A304-493A2ED5F867}" type="presOf" srcId="{7B928DCE-A612-45BB-AB44-DA8D8267AF78}" destId="{A599129F-394E-49F9-BCCF-AD086FDD2C79}" srcOrd="0" destOrd="0" presId="urn:microsoft.com/office/officeart/2005/8/layout/default"/>
    <dgm:cxn modelId="{90E55D81-C3AF-49E8-93A8-ADA45349F79A}" srcId="{3379E66A-B1EB-4A53-B73D-73A721184506}" destId="{7B928DCE-A612-45BB-AB44-DA8D8267AF78}" srcOrd="5" destOrd="0" parTransId="{139FF006-74F2-43F7-A066-1D7997726F6B}" sibTransId="{CA2E24D9-7A40-45D5-8477-1C11122C4D95}"/>
    <dgm:cxn modelId="{E69A4090-1FAD-4532-A49E-AB994E89AB79}" type="presOf" srcId="{776872BC-20A3-4C33-A382-3C9AE0C585F4}" destId="{4AC8B19B-BC0D-43A1-9D9D-7743682DB881}" srcOrd="0" destOrd="0" presId="urn:microsoft.com/office/officeart/2005/8/layout/default"/>
    <dgm:cxn modelId="{00BD8A96-DA4E-489C-9BA2-79356217C6AF}" srcId="{3379E66A-B1EB-4A53-B73D-73A721184506}" destId="{EA3B06F3-08E6-42EA-9FB3-6311EA1A01AD}" srcOrd="0" destOrd="0" parTransId="{0D62C0DB-64BA-4C20-8D5E-C0C34D8D296F}" sibTransId="{630D99BD-FADD-4301-9DF3-2286ADCA54AB}"/>
    <dgm:cxn modelId="{732F16A7-9862-4E12-B3FF-69A34F4A03EA}" srcId="{3379E66A-B1EB-4A53-B73D-73A721184506}" destId="{DA01FF11-04FB-4A50-8CDF-5D372E5697F9}" srcOrd="1" destOrd="0" parTransId="{C077C903-3B5C-4435-8B4B-695805CCDDF5}" sibTransId="{E51B4D04-9D5D-4122-B245-3C0AAA1A5493}"/>
    <dgm:cxn modelId="{AAE461B4-DBA0-4C69-8A46-2A0155EC58FB}" type="presOf" srcId="{684357E0-EF71-4E83-982A-5E8A0FFAFD70}" destId="{8D512D3D-C158-43EA-9204-940B0FEA5614}" srcOrd="0" destOrd="0" presId="urn:microsoft.com/office/officeart/2005/8/layout/default"/>
    <dgm:cxn modelId="{9F0951B8-8002-4CB7-8D62-E9112DFE033C}" srcId="{3379E66A-B1EB-4A53-B73D-73A721184506}" destId="{684357E0-EF71-4E83-982A-5E8A0FFAFD70}" srcOrd="10" destOrd="0" parTransId="{04A8D4EC-08AD-4B28-9DC5-F1E9289E6D2A}" sibTransId="{A5A80989-F5A2-4C8F-BF1D-582065455998}"/>
    <dgm:cxn modelId="{CC71E0BA-04D2-48AC-BE41-C5A106A5F236}" type="presOf" srcId="{B73755BB-A7E3-46F3-AAF3-18651375CA76}" destId="{1B4A7CFB-222D-4F8A-8F03-4CD479A20181}" srcOrd="0" destOrd="0" presId="urn:microsoft.com/office/officeart/2005/8/layout/default"/>
    <dgm:cxn modelId="{F35261BD-E9E5-4C89-9DDF-FDE7CA46E082}" srcId="{3379E66A-B1EB-4A53-B73D-73A721184506}" destId="{CC1B5B70-9F53-4D6E-9483-27DB367122C8}" srcOrd="6" destOrd="0" parTransId="{045F8256-A70D-4F11-AE08-02F30A4E3F51}" sibTransId="{14F137AF-F2CB-4D80-BDDF-63EEFB167AC5}"/>
    <dgm:cxn modelId="{659FC2C1-D59A-40E0-920D-720E28F30C60}" srcId="{3379E66A-B1EB-4A53-B73D-73A721184506}" destId="{01759A15-4F64-4A2C-8FB8-90AC32822DDE}" srcOrd="8" destOrd="0" parTransId="{A9A57816-54BE-4261-A48C-A7D1A24AA289}" sibTransId="{A2E7177F-7557-4208-9027-6B469419F554}"/>
    <dgm:cxn modelId="{6CA60AC4-EA16-4851-A232-DB8A0415051A}" type="presOf" srcId="{DA01FF11-04FB-4A50-8CDF-5D372E5697F9}" destId="{09EF1211-94FA-42EF-B1A8-4B624D249C0C}" srcOrd="0" destOrd="0" presId="urn:microsoft.com/office/officeart/2005/8/layout/default"/>
    <dgm:cxn modelId="{6B0837CB-A1E2-4155-9F16-3CDFF578A817}" type="presOf" srcId="{3379E66A-B1EB-4A53-B73D-73A721184506}" destId="{C39BC1F9-CFD8-4E5D-933D-9E7AD054071B}" srcOrd="0" destOrd="0" presId="urn:microsoft.com/office/officeart/2005/8/layout/default"/>
    <dgm:cxn modelId="{8EBB29EA-388C-47DC-A4FB-29E32A4254F9}" type="presOf" srcId="{01759A15-4F64-4A2C-8FB8-90AC32822DDE}" destId="{2CACC20B-B240-4750-B672-77DD362FEF2F}" srcOrd="0" destOrd="0" presId="urn:microsoft.com/office/officeart/2005/8/layout/default"/>
    <dgm:cxn modelId="{7EDE9DED-1741-4ABD-812B-187BD1C560E4}" type="presOf" srcId="{93C51E44-27CA-4332-8A6D-E1BD4EBEA6FD}" destId="{AF5F3067-D5C2-4216-942D-A78A4D8B1BB6}" srcOrd="0" destOrd="0" presId="urn:microsoft.com/office/officeart/2005/8/layout/default"/>
    <dgm:cxn modelId="{FFDC35F3-10E4-4C63-AAD5-E6C5F05F2FB9}" srcId="{3379E66A-B1EB-4A53-B73D-73A721184506}" destId="{776872BC-20A3-4C33-A382-3C9AE0C585F4}" srcOrd="9" destOrd="0" parTransId="{147FF4C8-DC58-49A1-96B0-0B5F7354A193}" sibTransId="{C30294D7-E8D7-4533-9071-4FFF411C0505}"/>
    <dgm:cxn modelId="{BB755BF8-A8B9-4942-A1B9-3832CD0ED7CE}" srcId="{3379E66A-B1EB-4A53-B73D-73A721184506}" destId="{93C51E44-27CA-4332-8A6D-E1BD4EBEA6FD}" srcOrd="2" destOrd="0" parTransId="{478E7FA7-4897-451C-BA53-3333D0063B34}" sibTransId="{DB7F92F1-0F47-424E-BE0F-C8560FC823B4}"/>
    <dgm:cxn modelId="{758F0CC5-028C-4D62-91F7-DF760C409FF1}" type="presParOf" srcId="{C39BC1F9-CFD8-4E5D-933D-9E7AD054071B}" destId="{F50A31C1-6F2C-4AEB-BF11-E5D5BB2D9D8E}" srcOrd="0" destOrd="0" presId="urn:microsoft.com/office/officeart/2005/8/layout/default"/>
    <dgm:cxn modelId="{813B3C4F-6E43-4856-AC93-F7A0FA2BE94E}" type="presParOf" srcId="{C39BC1F9-CFD8-4E5D-933D-9E7AD054071B}" destId="{729A4F52-9FFE-4420-892C-D4AB8CD86F85}" srcOrd="1" destOrd="0" presId="urn:microsoft.com/office/officeart/2005/8/layout/default"/>
    <dgm:cxn modelId="{66DE4AF5-A8D4-4236-BE39-2582FD5925FF}" type="presParOf" srcId="{C39BC1F9-CFD8-4E5D-933D-9E7AD054071B}" destId="{09EF1211-94FA-42EF-B1A8-4B624D249C0C}" srcOrd="2" destOrd="0" presId="urn:microsoft.com/office/officeart/2005/8/layout/default"/>
    <dgm:cxn modelId="{17746897-E8E2-41F6-AE91-7F224AC8C78D}" type="presParOf" srcId="{C39BC1F9-CFD8-4E5D-933D-9E7AD054071B}" destId="{F7636AAC-28C9-42E8-988D-4EC9CEDE42B0}" srcOrd="3" destOrd="0" presId="urn:microsoft.com/office/officeart/2005/8/layout/default"/>
    <dgm:cxn modelId="{9379144A-F90B-4176-BB7D-61142DBAA126}" type="presParOf" srcId="{C39BC1F9-CFD8-4E5D-933D-9E7AD054071B}" destId="{AF5F3067-D5C2-4216-942D-A78A4D8B1BB6}" srcOrd="4" destOrd="0" presId="urn:microsoft.com/office/officeart/2005/8/layout/default"/>
    <dgm:cxn modelId="{FB2BC56F-F2CB-46F8-8137-42C396F10ADD}" type="presParOf" srcId="{C39BC1F9-CFD8-4E5D-933D-9E7AD054071B}" destId="{B21F25AC-F1ED-402F-B47C-C0FC3E7A3659}" srcOrd="5" destOrd="0" presId="urn:microsoft.com/office/officeart/2005/8/layout/default"/>
    <dgm:cxn modelId="{718D7BFF-7404-4F1D-8FCE-17E5AA6399E2}" type="presParOf" srcId="{C39BC1F9-CFD8-4E5D-933D-9E7AD054071B}" destId="{81788BF0-9798-42A2-984B-67004570251C}" srcOrd="6" destOrd="0" presId="urn:microsoft.com/office/officeart/2005/8/layout/default"/>
    <dgm:cxn modelId="{02F347CB-D315-4208-92A9-097255D1572B}" type="presParOf" srcId="{C39BC1F9-CFD8-4E5D-933D-9E7AD054071B}" destId="{6D31EC15-1D95-49F1-A520-4828A7D54400}" srcOrd="7" destOrd="0" presId="urn:microsoft.com/office/officeart/2005/8/layout/default"/>
    <dgm:cxn modelId="{EE6A06E4-B117-40C0-BFDB-11D12173D311}" type="presParOf" srcId="{C39BC1F9-CFD8-4E5D-933D-9E7AD054071B}" destId="{8CCA938F-5335-4F22-AA00-C41E285DAD8D}" srcOrd="8" destOrd="0" presId="urn:microsoft.com/office/officeart/2005/8/layout/default"/>
    <dgm:cxn modelId="{95352BD1-D6C6-4116-90F5-5ACD132BCBC7}" type="presParOf" srcId="{C39BC1F9-CFD8-4E5D-933D-9E7AD054071B}" destId="{260916BC-0A17-4401-B4AE-33A945622A09}" srcOrd="9" destOrd="0" presId="urn:microsoft.com/office/officeart/2005/8/layout/default"/>
    <dgm:cxn modelId="{EA32D277-88E8-4F8C-922E-3D3450CEDF0B}" type="presParOf" srcId="{C39BC1F9-CFD8-4E5D-933D-9E7AD054071B}" destId="{A599129F-394E-49F9-BCCF-AD086FDD2C79}" srcOrd="10" destOrd="0" presId="urn:microsoft.com/office/officeart/2005/8/layout/default"/>
    <dgm:cxn modelId="{916E863B-2E22-40F4-AD03-290582C0ADF3}" type="presParOf" srcId="{C39BC1F9-CFD8-4E5D-933D-9E7AD054071B}" destId="{93E478E4-56A8-491F-9D98-60598DB88421}" srcOrd="11" destOrd="0" presId="urn:microsoft.com/office/officeart/2005/8/layout/default"/>
    <dgm:cxn modelId="{648EBB21-898A-444C-8417-2D3470813761}" type="presParOf" srcId="{C39BC1F9-CFD8-4E5D-933D-9E7AD054071B}" destId="{D96B5294-2223-4399-B7D1-0B0F850BC717}" srcOrd="12" destOrd="0" presId="urn:microsoft.com/office/officeart/2005/8/layout/default"/>
    <dgm:cxn modelId="{223E433A-5D08-4A6A-941A-1CF37D5E6917}" type="presParOf" srcId="{C39BC1F9-CFD8-4E5D-933D-9E7AD054071B}" destId="{FAC378EF-AAB5-4FCF-A4E1-EE3DF0EF982D}" srcOrd="13" destOrd="0" presId="urn:microsoft.com/office/officeart/2005/8/layout/default"/>
    <dgm:cxn modelId="{74407033-8B57-44FA-BD16-38CE3E4F71F8}" type="presParOf" srcId="{C39BC1F9-CFD8-4E5D-933D-9E7AD054071B}" destId="{1B4A7CFB-222D-4F8A-8F03-4CD479A20181}" srcOrd="14" destOrd="0" presId="urn:microsoft.com/office/officeart/2005/8/layout/default"/>
    <dgm:cxn modelId="{1888CA28-3ACA-44E9-8D2A-110656BD0101}" type="presParOf" srcId="{C39BC1F9-CFD8-4E5D-933D-9E7AD054071B}" destId="{0AE21C01-A1D4-4D4A-B9F1-5FC6870D3819}" srcOrd="15" destOrd="0" presId="urn:microsoft.com/office/officeart/2005/8/layout/default"/>
    <dgm:cxn modelId="{4D207E17-814F-41CE-9BC3-00ED6C71BAC5}" type="presParOf" srcId="{C39BC1F9-CFD8-4E5D-933D-9E7AD054071B}" destId="{2CACC20B-B240-4750-B672-77DD362FEF2F}" srcOrd="16" destOrd="0" presId="urn:microsoft.com/office/officeart/2005/8/layout/default"/>
    <dgm:cxn modelId="{6A557EB1-8728-4C82-877E-DD6044E6DC00}" type="presParOf" srcId="{C39BC1F9-CFD8-4E5D-933D-9E7AD054071B}" destId="{CA15713F-B898-4B9D-92F2-0ECBEDC8794E}" srcOrd="17" destOrd="0" presId="urn:microsoft.com/office/officeart/2005/8/layout/default"/>
    <dgm:cxn modelId="{E4931649-3DB4-4620-A77A-52DFDC40FD98}" type="presParOf" srcId="{C39BC1F9-CFD8-4E5D-933D-9E7AD054071B}" destId="{4AC8B19B-BC0D-43A1-9D9D-7743682DB881}" srcOrd="18" destOrd="0" presId="urn:microsoft.com/office/officeart/2005/8/layout/default"/>
    <dgm:cxn modelId="{A7379318-2C52-4681-B8F1-92D1019AA185}" type="presParOf" srcId="{C39BC1F9-CFD8-4E5D-933D-9E7AD054071B}" destId="{6C7A129F-5989-443A-9113-009901FC5006}" srcOrd="19" destOrd="0" presId="urn:microsoft.com/office/officeart/2005/8/layout/default"/>
    <dgm:cxn modelId="{30782CEC-8800-4336-BD2C-0C52C70624C3}" type="presParOf" srcId="{C39BC1F9-CFD8-4E5D-933D-9E7AD054071B}" destId="{8D512D3D-C158-43EA-9204-940B0FEA5614}" srcOrd="20"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B8709E-7AB3-4B68-88E8-77843FAC2268}">
      <dsp:nvSpPr>
        <dsp:cNvPr id="0" name=""/>
        <dsp:cNvSpPr/>
      </dsp:nvSpPr>
      <dsp:spPr>
        <a:xfrm>
          <a:off x="0" y="254294"/>
          <a:ext cx="4562722" cy="4446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fr-FR" sz="2500" b="1" kern="1200" dirty="0"/>
            <a:t>Risque d'exposition 
Prévention de la transmission
Maintien de la capacité des soins de santé
Protection des travailleurs de première ligne
Confiance du public et leadership
Préparation à une pandémie</a:t>
          </a:r>
          <a:endParaRPr lang="en-US" sz="2500" kern="1200" dirty="0"/>
        </a:p>
      </dsp:txBody>
      <dsp:txXfrm>
        <a:off x="217036" y="471330"/>
        <a:ext cx="4128650" cy="40119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0A31C1-6F2C-4AEB-BF11-E5D5BB2D9D8E}">
      <dsp:nvSpPr>
        <dsp:cNvPr id="0" name=""/>
        <dsp:cNvSpPr/>
      </dsp:nvSpPr>
      <dsp:spPr>
        <a:xfrm>
          <a:off x="730645" y="3490"/>
          <a:ext cx="1844593" cy="110675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Communication sur </a:t>
          </a:r>
          <a:r>
            <a:rPr lang="en-US" sz="1700" b="1" kern="1200" dirty="0" err="1"/>
            <a:t>mesure</a:t>
          </a:r>
          <a:r>
            <a:rPr lang="en-US" sz="1700" b="1" kern="1200" dirty="0"/>
            <a:t> </a:t>
          </a:r>
          <a:endParaRPr lang="en-US" sz="1700" kern="1200" dirty="0"/>
        </a:p>
      </dsp:txBody>
      <dsp:txXfrm>
        <a:off x="730645" y="3490"/>
        <a:ext cx="1844593" cy="1106755"/>
      </dsp:txXfrm>
    </dsp:sp>
    <dsp:sp modelId="{09EF1211-94FA-42EF-B1A8-4B624D249C0C}">
      <dsp:nvSpPr>
        <dsp:cNvPr id="0" name=""/>
        <dsp:cNvSpPr/>
      </dsp:nvSpPr>
      <dsp:spPr>
        <a:xfrm>
          <a:off x="2759698" y="3490"/>
          <a:ext cx="1844593" cy="110675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FR" sz="1700" b="1" kern="1200" dirty="0"/>
            <a:t>Engagement par l’intermédiaire des dirigeants locaux </a:t>
          </a:r>
          <a:endParaRPr lang="en-US" sz="1700" kern="1200" dirty="0"/>
        </a:p>
      </dsp:txBody>
      <dsp:txXfrm>
        <a:off x="2759698" y="3490"/>
        <a:ext cx="1844593" cy="1106755"/>
      </dsp:txXfrm>
    </dsp:sp>
    <dsp:sp modelId="{AF5F3067-D5C2-4216-942D-A78A4D8B1BB6}">
      <dsp:nvSpPr>
        <dsp:cNvPr id="0" name=""/>
        <dsp:cNvSpPr/>
      </dsp:nvSpPr>
      <dsp:spPr>
        <a:xfrm>
          <a:off x="4788750" y="3490"/>
          <a:ext cx="1844593" cy="110675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FR" sz="1700" b="1" kern="1200" dirty="0"/>
            <a:t>Séances de formation et de sensibilisation </a:t>
          </a:r>
          <a:endParaRPr lang="en-US" sz="1700" kern="1200" dirty="0"/>
        </a:p>
      </dsp:txBody>
      <dsp:txXfrm>
        <a:off x="4788750" y="3490"/>
        <a:ext cx="1844593" cy="1106755"/>
      </dsp:txXfrm>
    </dsp:sp>
    <dsp:sp modelId="{81788BF0-9798-42A2-984B-67004570251C}">
      <dsp:nvSpPr>
        <dsp:cNvPr id="0" name=""/>
        <dsp:cNvSpPr/>
      </dsp:nvSpPr>
      <dsp:spPr>
        <a:xfrm>
          <a:off x="730645" y="1294705"/>
          <a:ext cx="1844593" cy="110675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err="1"/>
            <a:t>Cliniques</a:t>
          </a:r>
          <a:r>
            <a:rPr lang="en-US" sz="1700" b="1" kern="1200" dirty="0"/>
            <a:t> de vaccination mobiles </a:t>
          </a:r>
          <a:endParaRPr lang="en-US" sz="1700" kern="1200" dirty="0"/>
        </a:p>
      </dsp:txBody>
      <dsp:txXfrm>
        <a:off x="730645" y="1294705"/>
        <a:ext cx="1844593" cy="1106755"/>
      </dsp:txXfrm>
    </dsp:sp>
    <dsp:sp modelId="{8CCA938F-5335-4F22-AA00-C41E285DAD8D}">
      <dsp:nvSpPr>
        <dsp:cNvPr id="0" name=""/>
        <dsp:cNvSpPr/>
      </dsp:nvSpPr>
      <dsp:spPr>
        <a:xfrm>
          <a:off x="2759698" y="1294705"/>
          <a:ext cx="1844593" cy="110675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Engagement entre pairs </a:t>
          </a:r>
          <a:endParaRPr lang="en-US" sz="1700" kern="1200" dirty="0"/>
        </a:p>
      </dsp:txBody>
      <dsp:txXfrm>
        <a:off x="2759698" y="1294705"/>
        <a:ext cx="1844593" cy="1106755"/>
      </dsp:txXfrm>
    </dsp:sp>
    <dsp:sp modelId="{A599129F-394E-49F9-BCCF-AD086FDD2C79}">
      <dsp:nvSpPr>
        <dsp:cNvPr id="0" name=""/>
        <dsp:cNvSpPr/>
      </dsp:nvSpPr>
      <dsp:spPr>
        <a:xfrm>
          <a:off x="4788750" y="1294705"/>
          <a:ext cx="1844593" cy="110675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err="1"/>
            <a:t>Incitations</a:t>
          </a:r>
          <a:r>
            <a:rPr lang="en-US" sz="1700" b="1" kern="1200" dirty="0"/>
            <a:t> et reconnaissance </a:t>
          </a:r>
          <a:endParaRPr lang="en-US" sz="1700" kern="1200" dirty="0"/>
        </a:p>
      </dsp:txBody>
      <dsp:txXfrm>
        <a:off x="4788750" y="1294705"/>
        <a:ext cx="1844593" cy="1106755"/>
      </dsp:txXfrm>
    </dsp:sp>
    <dsp:sp modelId="{D96B5294-2223-4399-B7D1-0B0F850BC717}">
      <dsp:nvSpPr>
        <dsp:cNvPr id="0" name=""/>
        <dsp:cNvSpPr/>
      </dsp:nvSpPr>
      <dsp:spPr>
        <a:xfrm>
          <a:off x="730645" y="2585920"/>
          <a:ext cx="1844593" cy="110675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FR" sz="1700" b="1" kern="1200" dirty="0"/>
            <a:t>Collaboration avec les employeurs et les organisations </a:t>
          </a:r>
          <a:endParaRPr lang="en-US" sz="1700" kern="1200" dirty="0"/>
        </a:p>
      </dsp:txBody>
      <dsp:txXfrm>
        <a:off x="730645" y="2585920"/>
        <a:ext cx="1844593" cy="1106755"/>
      </dsp:txXfrm>
    </dsp:sp>
    <dsp:sp modelId="{1B4A7CFB-222D-4F8A-8F03-4CD479A20181}">
      <dsp:nvSpPr>
        <dsp:cNvPr id="0" name=""/>
        <dsp:cNvSpPr/>
      </dsp:nvSpPr>
      <dsp:spPr>
        <a:xfrm>
          <a:off x="2759698" y="2585920"/>
          <a:ext cx="1844593" cy="110675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FR" sz="1700" b="1" kern="1200" dirty="0"/>
            <a:t>Utilisation de la technologie et des médias sociaux </a:t>
          </a:r>
          <a:endParaRPr lang="en-US" sz="1700" kern="1200" dirty="0"/>
        </a:p>
      </dsp:txBody>
      <dsp:txXfrm>
        <a:off x="2759698" y="2585920"/>
        <a:ext cx="1844593" cy="1106755"/>
      </dsp:txXfrm>
    </dsp:sp>
    <dsp:sp modelId="{2CACC20B-B240-4750-B672-77DD362FEF2F}">
      <dsp:nvSpPr>
        <dsp:cNvPr id="0" name=""/>
        <dsp:cNvSpPr/>
      </dsp:nvSpPr>
      <dsp:spPr>
        <a:xfrm>
          <a:off x="4788750" y="2585920"/>
          <a:ext cx="1844593" cy="110675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err="1"/>
            <a:t>Événements</a:t>
          </a:r>
          <a:r>
            <a:rPr lang="en-US" sz="1700" b="1" kern="1200" dirty="0"/>
            <a:t> </a:t>
          </a:r>
          <a:r>
            <a:rPr lang="en-US" sz="1700" b="1" kern="1200" dirty="0" err="1"/>
            <a:t>d'engagement</a:t>
          </a:r>
          <a:r>
            <a:rPr lang="en-US" sz="1700" b="1" kern="1200" dirty="0"/>
            <a:t> </a:t>
          </a:r>
          <a:r>
            <a:rPr lang="en-US" sz="1700" b="1" kern="1200" dirty="0" err="1"/>
            <a:t>communautaire</a:t>
          </a:r>
          <a:r>
            <a:rPr lang="en-US" sz="1700" b="1" kern="1200" dirty="0"/>
            <a:t> </a:t>
          </a:r>
          <a:endParaRPr lang="en-US" sz="1700" kern="1200" dirty="0"/>
        </a:p>
      </dsp:txBody>
      <dsp:txXfrm>
        <a:off x="4788750" y="2585920"/>
        <a:ext cx="1844593" cy="1106755"/>
      </dsp:txXfrm>
    </dsp:sp>
    <dsp:sp modelId="{4AC8B19B-BC0D-43A1-9D9D-7743682DB881}">
      <dsp:nvSpPr>
        <dsp:cNvPr id="0" name=""/>
        <dsp:cNvSpPr/>
      </dsp:nvSpPr>
      <dsp:spPr>
        <a:xfrm>
          <a:off x="1745172" y="3877135"/>
          <a:ext cx="1844593" cy="110675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err="1"/>
            <a:t>Mécanismes</a:t>
          </a:r>
          <a:r>
            <a:rPr lang="en-US" sz="1700" b="1" kern="1200" dirty="0"/>
            <a:t> de rétroaction </a:t>
          </a:r>
          <a:endParaRPr lang="en-US" sz="1700" kern="1200" dirty="0"/>
        </a:p>
      </dsp:txBody>
      <dsp:txXfrm>
        <a:off x="1745172" y="3877135"/>
        <a:ext cx="1844593" cy="1106755"/>
      </dsp:txXfrm>
    </dsp:sp>
    <dsp:sp modelId="{8D512D3D-C158-43EA-9204-940B0FEA5614}">
      <dsp:nvSpPr>
        <dsp:cNvPr id="0" name=""/>
        <dsp:cNvSpPr/>
      </dsp:nvSpPr>
      <dsp:spPr>
        <a:xfrm>
          <a:off x="3774224" y="3877135"/>
          <a:ext cx="1844593" cy="110675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Assistance et </a:t>
          </a:r>
          <a:r>
            <a:rPr lang="en-US" sz="1700" b="1" kern="1200" dirty="0" err="1"/>
            <a:t>suivi</a:t>
          </a:r>
          <a:r>
            <a:rPr lang="en-US" sz="1700" b="1" kern="1200" dirty="0"/>
            <a:t> </a:t>
          </a:r>
          <a:r>
            <a:rPr lang="en-US" sz="1700" b="1" kern="1200" dirty="0" err="1"/>
            <a:t>continus</a:t>
          </a:r>
          <a:r>
            <a:rPr lang="en-US" sz="1700" b="1" kern="1200" dirty="0"/>
            <a:t> </a:t>
          </a:r>
          <a:endParaRPr lang="en-US" sz="1700" kern="1200" dirty="0"/>
        </a:p>
      </dsp:txBody>
      <dsp:txXfrm>
        <a:off x="3774224" y="3877135"/>
        <a:ext cx="1844593" cy="110675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C66C5F-9028-445E-B518-955335AE8F64}" type="datetimeFigureOut">
              <a:rPr lang="en-US" smtClean="0"/>
              <a:t>9/10/2024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75FE08-7B4E-4342-B24B-CBF42946D234}" type="slidenum">
              <a:rPr lang="en-US" smtClean="0"/>
              <a:t>‹#›</a:t>
            </a:fld>
            <a:endParaRPr lang="en-US"/>
          </a:p>
        </p:txBody>
      </p:sp>
    </p:spTree>
    <p:extLst>
      <p:ext uri="{BB962C8B-B14F-4D97-AF65-F5344CB8AC3E}">
        <p14:creationId xmlns:p14="http://schemas.microsoft.com/office/powerpoint/2010/main" val="2347271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75FE08-7B4E-4342-B24B-CBF42946D234}" type="slidenum">
              <a:rPr lang="en-US" smtClean="0"/>
              <a:t>2</a:t>
            </a:fld>
            <a:endParaRPr lang="en-US"/>
          </a:p>
        </p:txBody>
      </p:sp>
    </p:spTree>
    <p:extLst>
      <p:ext uri="{BB962C8B-B14F-4D97-AF65-F5344CB8AC3E}">
        <p14:creationId xmlns:p14="http://schemas.microsoft.com/office/powerpoint/2010/main" val="18060125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just">
              <a:buNone/>
            </a:pPr>
            <a:r>
              <a:rPr lang="en-US" sz="1200" b="1" dirty="0">
                <a:effectLst/>
                <a:latin typeface="Times New Roman" panose="02020603050405020304" pitchFamily="18" charset="0"/>
                <a:ea typeface="Times New Roman" panose="02020603050405020304" pitchFamily="18" charset="0"/>
              </a:rPr>
              <a:t>Risk of Exposure</a:t>
            </a:r>
            <a:r>
              <a:rPr lang="en-US" sz="1200" dirty="0">
                <a:effectLst/>
                <a:latin typeface="Times New Roman" panose="02020603050405020304" pitchFamily="18" charset="0"/>
                <a:ea typeface="Times New Roman" panose="02020603050405020304" pitchFamily="18" charset="0"/>
              </a:rPr>
              <a:t>: Healthcare workers are at the frontline of treating patients with Ebola virus disease (EVD). They face direct exposure to bodily fluids of infected individuals, which puts them at high risk of contracting the virus.</a:t>
            </a:r>
          </a:p>
          <a:p>
            <a:pPr marL="0" marR="0" indent="0" algn="just">
              <a:buNone/>
            </a:pPr>
            <a:r>
              <a:rPr lang="en-US" sz="1200" dirty="0">
                <a:effectLst/>
                <a:latin typeface="Symbol" panose="05050102010706020507" pitchFamily="18" charset="2"/>
                <a:ea typeface="Times New Roman" panose="02020603050405020304" pitchFamily="18" charset="0"/>
              </a:rPr>
              <a:t>·</a:t>
            </a:r>
            <a:r>
              <a:rPr lang="en-US" sz="1200" dirty="0">
                <a:effectLst/>
                <a:latin typeface="Times New Roman" panose="02020603050405020304" pitchFamily="18" charset="0"/>
                <a:ea typeface="Times New Roman" panose="02020603050405020304" pitchFamily="18" charset="0"/>
              </a:rPr>
              <a:t>  </a:t>
            </a:r>
            <a:r>
              <a:rPr lang="en-US" sz="1200" b="1" dirty="0">
                <a:effectLst/>
                <a:latin typeface="Times New Roman" panose="02020603050405020304" pitchFamily="18" charset="0"/>
                <a:ea typeface="Times New Roman" panose="02020603050405020304" pitchFamily="18" charset="0"/>
              </a:rPr>
              <a:t>Transmission Prevention</a:t>
            </a:r>
            <a:r>
              <a:rPr lang="en-US" sz="1200" dirty="0">
                <a:effectLst/>
                <a:latin typeface="Times New Roman" panose="02020603050405020304" pitchFamily="18" charset="0"/>
                <a:ea typeface="Times New Roman" panose="02020603050405020304" pitchFamily="18" charset="0"/>
              </a:rPr>
              <a:t>: Vaccinating healthcare workers helps prevent transmission within healthcare settings. By reducing the risk of infection among healthcare providers, the spread of Ebola to other patients and community members is mitigated.</a:t>
            </a:r>
          </a:p>
          <a:p>
            <a:pPr marL="0" marR="0" indent="0" algn="just">
              <a:buNone/>
            </a:pPr>
            <a:r>
              <a:rPr lang="en-US" sz="1200" dirty="0">
                <a:effectLst/>
                <a:latin typeface="Symbol" panose="05050102010706020507" pitchFamily="18" charset="2"/>
                <a:ea typeface="Times New Roman" panose="02020603050405020304" pitchFamily="18" charset="0"/>
              </a:rPr>
              <a:t>·</a:t>
            </a:r>
            <a:r>
              <a:rPr lang="en-US" sz="1200" dirty="0">
                <a:effectLst/>
                <a:latin typeface="Times New Roman" panose="02020603050405020304" pitchFamily="18" charset="0"/>
                <a:ea typeface="Times New Roman" panose="02020603050405020304" pitchFamily="18" charset="0"/>
              </a:rPr>
              <a:t>  </a:t>
            </a:r>
            <a:r>
              <a:rPr lang="en-US" sz="1200" b="1" dirty="0">
                <a:effectLst/>
                <a:latin typeface="Times New Roman" panose="02020603050405020304" pitchFamily="18" charset="0"/>
                <a:ea typeface="Times New Roman" panose="02020603050405020304" pitchFamily="18" charset="0"/>
              </a:rPr>
              <a:t>Maintaining Healthcare Capacity</a:t>
            </a:r>
            <a:r>
              <a:rPr lang="en-US" sz="1200" dirty="0">
                <a:effectLst/>
                <a:latin typeface="Times New Roman" panose="02020603050405020304" pitchFamily="18" charset="0"/>
                <a:ea typeface="Times New Roman" panose="02020603050405020304" pitchFamily="18" charset="0"/>
              </a:rPr>
              <a:t>: During Ebola outbreaks, healthcare systems are often overwhelmed. Vaccinating healthcare workers ensures that essential medical services can continue without interruption, as vaccinated workers are less likely to become ill and require medical care themselves.</a:t>
            </a:r>
          </a:p>
          <a:p>
            <a:pPr marL="0" marR="0" indent="0" algn="just">
              <a:buNone/>
            </a:pPr>
            <a:r>
              <a:rPr lang="en-US" sz="1200" dirty="0">
                <a:effectLst/>
                <a:latin typeface="Symbol" panose="05050102010706020507" pitchFamily="18" charset="2"/>
                <a:ea typeface="Times New Roman" panose="02020603050405020304" pitchFamily="18" charset="0"/>
              </a:rPr>
              <a:t>·</a:t>
            </a:r>
            <a:r>
              <a:rPr lang="en-US" sz="1200" dirty="0">
                <a:effectLst/>
                <a:latin typeface="Times New Roman" panose="02020603050405020304" pitchFamily="18" charset="0"/>
                <a:ea typeface="Times New Roman" panose="02020603050405020304" pitchFamily="18" charset="0"/>
              </a:rPr>
              <a:t>  </a:t>
            </a:r>
            <a:r>
              <a:rPr lang="en-US" sz="1200" b="1" dirty="0">
                <a:effectLst/>
                <a:latin typeface="Times New Roman" panose="02020603050405020304" pitchFamily="18" charset="0"/>
                <a:ea typeface="Times New Roman" panose="02020603050405020304" pitchFamily="18" charset="0"/>
              </a:rPr>
              <a:t>Protection of Frontline Workers</a:t>
            </a:r>
            <a:r>
              <a:rPr lang="en-US" sz="1200" dirty="0">
                <a:effectLst/>
                <a:latin typeface="Times New Roman" panose="02020603050405020304" pitchFamily="18" charset="0"/>
                <a:ea typeface="Times New Roman" panose="02020603050405020304" pitchFamily="18" charset="0"/>
              </a:rPr>
              <a:t>: Frontline workers such as first responders, community health workers, and volunteers are also at increased risk due to their direct contact with affected communities. Vaccination protects these individuals, allowing them to safely carry out their critical roles in outbreak response.</a:t>
            </a:r>
          </a:p>
          <a:p>
            <a:pPr marL="0" marR="0" indent="0" algn="just">
              <a:buNone/>
            </a:pPr>
            <a:r>
              <a:rPr lang="en-US" sz="1200" dirty="0">
                <a:effectLst/>
                <a:latin typeface="Symbol" panose="05050102010706020507" pitchFamily="18" charset="2"/>
                <a:ea typeface="Times New Roman" panose="02020603050405020304" pitchFamily="18" charset="0"/>
              </a:rPr>
              <a:t>·</a:t>
            </a:r>
            <a:r>
              <a:rPr lang="en-US" sz="1200" dirty="0">
                <a:effectLst/>
                <a:latin typeface="Times New Roman" panose="02020603050405020304" pitchFamily="18" charset="0"/>
                <a:ea typeface="Times New Roman" panose="02020603050405020304" pitchFamily="18" charset="0"/>
              </a:rPr>
              <a:t>  </a:t>
            </a:r>
            <a:r>
              <a:rPr lang="en-US" sz="1200" b="1" dirty="0">
                <a:effectLst/>
                <a:latin typeface="Times New Roman" panose="02020603050405020304" pitchFamily="18" charset="0"/>
                <a:ea typeface="Times New Roman" panose="02020603050405020304" pitchFamily="18" charset="0"/>
              </a:rPr>
              <a:t>Public Confidence and Leadership</a:t>
            </a:r>
            <a:r>
              <a:rPr lang="en-US" sz="1200" dirty="0">
                <a:effectLst/>
                <a:latin typeface="Times New Roman" panose="02020603050405020304" pitchFamily="18" charset="0"/>
                <a:ea typeface="Times New Roman" panose="02020603050405020304" pitchFamily="18" charset="0"/>
              </a:rPr>
              <a:t>: When healthcare and frontline workers receive the vaccine, it demonstrates confidence in the vaccine's safety and efficacy. This leadership by example can encourage broader community acceptance of vaccination programs.</a:t>
            </a:r>
          </a:p>
          <a:p>
            <a:pPr marL="0" marR="0" indent="0" algn="just">
              <a:buNone/>
            </a:pPr>
            <a:r>
              <a:rPr lang="en-US" sz="1200" dirty="0">
                <a:effectLst/>
                <a:latin typeface="Symbol" panose="05050102010706020507" pitchFamily="18" charset="2"/>
                <a:ea typeface="Times New Roman" panose="02020603050405020304" pitchFamily="18" charset="0"/>
              </a:rPr>
              <a:t>·</a:t>
            </a:r>
            <a:r>
              <a:rPr lang="en-US" sz="1200" dirty="0">
                <a:effectLst/>
                <a:latin typeface="Times New Roman" panose="02020603050405020304" pitchFamily="18" charset="0"/>
                <a:ea typeface="Times New Roman" panose="02020603050405020304" pitchFamily="18" charset="0"/>
              </a:rPr>
              <a:t>  </a:t>
            </a:r>
            <a:r>
              <a:rPr lang="en-US" sz="1200" b="1" dirty="0">
                <a:effectLst/>
                <a:latin typeface="Times New Roman" panose="02020603050405020304" pitchFamily="18" charset="0"/>
                <a:ea typeface="Times New Roman" panose="02020603050405020304" pitchFamily="18" charset="0"/>
              </a:rPr>
              <a:t>Pandemic Preparedness</a:t>
            </a:r>
            <a:r>
              <a:rPr lang="en-US" sz="1200" dirty="0">
                <a:effectLst/>
                <a:latin typeface="Times New Roman" panose="02020603050405020304" pitchFamily="18" charset="0"/>
                <a:ea typeface="Times New Roman" panose="02020603050405020304" pitchFamily="18" charset="0"/>
              </a:rPr>
              <a:t>: Ebola outbreaks can escalate rapidly, and preparedness is key to controlling them. Vaccinating healthcare and frontline workers builds a resilient healthcare infrastructure ready to respond to future outbreaks promptly and effectively.</a:t>
            </a:r>
          </a:p>
          <a:p>
            <a:endParaRPr lang="en-US" dirty="0"/>
          </a:p>
        </p:txBody>
      </p:sp>
      <p:sp>
        <p:nvSpPr>
          <p:cNvPr id="4" name="Slide Number Placeholder 3"/>
          <p:cNvSpPr>
            <a:spLocks noGrp="1"/>
          </p:cNvSpPr>
          <p:nvPr>
            <p:ph type="sldNum" sz="quarter" idx="5"/>
          </p:nvPr>
        </p:nvSpPr>
        <p:spPr/>
        <p:txBody>
          <a:bodyPr/>
          <a:lstStyle/>
          <a:p>
            <a:fld id="{A675FE08-7B4E-4342-B24B-CBF42946D234}" type="slidenum">
              <a:rPr lang="en-US" smtClean="0"/>
              <a:t>4</a:t>
            </a:fld>
            <a:endParaRPr lang="en-US"/>
          </a:p>
        </p:txBody>
      </p:sp>
    </p:spTree>
    <p:extLst>
      <p:ext uri="{BB962C8B-B14F-4D97-AF65-F5344CB8AC3E}">
        <p14:creationId xmlns:p14="http://schemas.microsoft.com/office/powerpoint/2010/main" val="9099254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spcBef>
                <a:spcPts val="0"/>
              </a:spcBef>
              <a:spcAft>
                <a:spcPts val="800"/>
              </a:spcAft>
              <a:buFont typeface="+mj-lt"/>
              <a:buAutoNum type="arabicPeriod"/>
              <a:tabLst>
                <a:tab pos="457200" algn="l"/>
              </a:tabLst>
            </a:pPr>
            <a:r>
              <a:rPr lang="en-US" sz="500" b="1"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Safety Concerns</a:t>
            </a:r>
            <a:r>
              <a:rPr lang="en-US" sz="500"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500" kern="100" dirty="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500" b="1"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Addressing Strategy</a:t>
            </a:r>
            <a:r>
              <a:rPr lang="en-US" sz="500"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Provide detailed information about the safety profile of the Ebola vaccine. Highlight that the vaccine has undergone rigorous testing in clinical trials to ensure safety. Emphasize that adverse effects are rare and generally mild, similar to other vaccines.</a:t>
            </a:r>
            <a:endParaRPr lang="en-US" sz="500" kern="100" dirty="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Font typeface="+mj-lt"/>
              <a:buAutoNum type="arabicPeriod"/>
              <a:tabLst>
                <a:tab pos="457200" algn="l"/>
              </a:tabLst>
            </a:pPr>
            <a:r>
              <a:rPr lang="en-US" sz="500" b="1"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Perceived Side Effects</a:t>
            </a:r>
            <a:r>
              <a:rPr lang="en-US" sz="500"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500" kern="100" dirty="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500" b="1"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Addressing Strategy</a:t>
            </a:r>
            <a:r>
              <a:rPr lang="en-US" sz="500"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Discuss common side effects of the Ebola vaccine, such as mild fever, headache, or injection site reactions, and reassure frontline workers that these are usually temporary and mild. Provide information on how to manage potential side effects and emphasize the benefits of vaccination outweigh the risks.</a:t>
            </a:r>
            <a:endParaRPr lang="en-US" sz="500" kern="100" dirty="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Font typeface="+mj-lt"/>
              <a:buAutoNum type="arabicPeriod"/>
              <a:tabLst>
                <a:tab pos="457200" algn="l"/>
              </a:tabLst>
            </a:pPr>
            <a:r>
              <a:rPr lang="en-US" sz="500" b="1"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Lack of Trust in the Vaccine Development Process</a:t>
            </a:r>
            <a:r>
              <a:rPr lang="en-US" sz="500"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500" kern="100" dirty="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500" b="1"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Addressing Strategy</a:t>
            </a:r>
            <a:r>
              <a:rPr lang="en-US" sz="500"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Explain the transparent and rigorous process involved in developing and testing the Ebola vaccine. Highlight the involvement of international health organizations, regulatory bodies, and independent experts in ensuring vaccine safety and efficacy.</a:t>
            </a:r>
            <a:endParaRPr lang="en-US" sz="500" kern="100" dirty="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Font typeface="+mj-lt"/>
              <a:buAutoNum type="arabicPeriod"/>
              <a:tabLst>
                <a:tab pos="457200" algn="l"/>
              </a:tabLst>
            </a:pPr>
            <a:r>
              <a:rPr lang="en-US" sz="500" b="1"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Fear of the Unknown or New Vaccine Technology</a:t>
            </a:r>
            <a:r>
              <a:rPr lang="en-US" sz="500"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500" kern="100" dirty="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500" b="1"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Addressing Strategy</a:t>
            </a:r>
            <a:r>
              <a:rPr lang="en-US" sz="500"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Educate frontline workers about the science behind the Ebola vaccine and its technology. Clarify that while the vaccine may be new to them, the underlying principles and technology used are well-established and have been used successfully in other vaccines.</a:t>
            </a:r>
            <a:endParaRPr lang="en-US" sz="500" kern="100" dirty="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Font typeface="+mj-lt"/>
              <a:buAutoNum type="arabicPeriod"/>
              <a:tabLst>
                <a:tab pos="457200" algn="l"/>
              </a:tabLst>
            </a:pPr>
            <a:r>
              <a:rPr lang="en-US" sz="500" b="1"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Misinformation and Rumors</a:t>
            </a:r>
            <a:r>
              <a:rPr lang="en-US" sz="500"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500" kern="100" dirty="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500" b="1"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Addressing Strategy</a:t>
            </a:r>
            <a:r>
              <a:rPr lang="en-US" sz="500"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Combat misinformation by providing accurate, evidence-based information about the Ebola vaccine through trusted sources such as health authorities, reputable organizations, and healthcare providers. Address specific concerns or rumors directly with clear and factual information.</a:t>
            </a:r>
            <a:endParaRPr lang="en-US" sz="500" kern="100" dirty="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Font typeface="+mj-lt"/>
              <a:buAutoNum type="arabicPeriod"/>
              <a:tabLst>
                <a:tab pos="457200" algn="l"/>
              </a:tabLst>
            </a:pPr>
            <a:r>
              <a:rPr lang="en-US" sz="500" b="1"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Concerns about Vaccine Effectiveness</a:t>
            </a:r>
            <a:r>
              <a:rPr lang="en-US" sz="500"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500" kern="100" dirty="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500" b="1"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Addressing Strategy</a:t>
            </a:r>
            <a:r>
              <a:rPr lang="en-US" sz="500"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Provide data and evidence demonstrating the effectiveness of the Ebola vaccine in preventing Ebola virus disease. Highlight real-world examples and case studies where vaccination has successfully controlled outbreaks or protected healthcare workers.</a:t>
            </a:r>
            <a:endParaRPr lang="en-US" sz="500" kern="100" dirty="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Font typeface="+mj-lt"/>
              <a:buAutoNum type="arabicPeriod"/>
              <a:tabLst>
                <a:tab pos="457200" algn="l"/>
              </a:tabLst>
            </a:pPr>
            <a:r>
              <a:rPr lang="en-US" sz="500" b="1"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Logistical Barriers or Access Issues</a:t>
            </a:r>
            <a:r>
              <a:rPr lang="en-US" sz="500"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500" kern="100" dirty="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500" b="1"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Addressing Strategy</a:t>
            </a:r>
            <a:r>
              <a:rPr lang="en-US" sz="500"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Ensure easy access to vaccination by organizing mobile vaccination clinics, offering flexible scheduling options, or integrating vaccination into routine healthcare services. Address logistical concerns such as time constraints or availability of vaccine doses proactively.</a:t>
            </a:r>
            <a:endParaRPr lang="en-US" sz="500" kern="100" dirty="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Font typeface="+mj-lt"/>
              <a:buAutoNum type="arabicPeriod"/>
              <a:tabLst>
                <a:tab pos="457200" algn="l"/>
              </a:tabLst>
            </a:pPr>
            <a:r>
              <a:rPr lang="en-US" sz="500" b="1"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Personal or Religious Beliefs</a:t>
            </a:r>
            <a:r>
              <a:rPr lang="en-US" sz="500"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500" kern="100" dirty="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500" b="1"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Addressing Strategy</a:t>
            </a:r>
            <a:r>
              <a:rPr lang="en-US" sz="500"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Respect individual beliefs and values while providing information on how vaccination aligns with personal and communal health responsibilities. Emphasize that vaccination protects not only the individual but also their patients, colleagues, and community members.</a:t>
            </a:r>
            <a:endParaRPr lang="en-US" sz="500" kern="100" dirty="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Font typeface="+mj-lt"/>
              <a:buAutoNum type="arabicPeriod"/>
              <a:tabLst>
                <a:tab pos="457200" algn="l"/>
              </a:tabLst>
            </a:pPr>
            <a:r>
              <a:rPr lang="en-US" sz="500" b="1"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Leadership and Role Modeling</a:t>
            </a:r>
            <a:r>
              <a:rPr lang="en-US" sz="500"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500" kern="100" dirty="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500" b="1"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Addressing Strategy</a:t>
            </a:r>
            <a:r>
              <a:rPr lang="en-US" sz="500"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Highlight the importance of healthcare and frontline workers' leadership in promoting public health and protecting vulnerable populations. Encourage vaccination as a professional responsibility and a commitment to patient safety and community health.</a:t>
            </a:r>
            <a:endParaRPr lang="en-US" sz="500" kern="100" dirty="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Font typeface="+mj-lt"/>
              <a:buAutoNum type="arabicPeriod"/>
              <a:tabLst>
                <a:tab pos="457200" algn="l"/>
              </a:tabLst>
            </a:pPr>
            <a:r>
              <a:rPr lang="en-US" sz="500" b="1"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Continuous Communication and Support</a:t>
            </a:r>
            <a:r>
              <a:rPr lang="en-US" sz="500"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500" kern="100" dirty="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500" b="1"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Addressing Strategy</a:t>
            </a:r>
            <a:r>
              <a:rPr lang="en-US" sz="500" kern="0" dirty="0">
                <a:solidFill>
                  <a:schemeClr val="tx1">
                    <a:alpha val="8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Establish ongoing communication channels to address new concerns or questions that may arise among healthcare and frontline workers. Provide support, resources, and access to reliable information throughout the vaccination process and beyond.</a:t>
            </a:r>
            <a:endParaRPr lang="en-US" sz="500" kern="100" dirty="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675FE08-7B4E-4342-B24B-CBF42946D234}" type="slidenum">
              <a:rPr lang="en-US" smtClean="0"/>
              <a:t>6</a:t>
            </a:fld>
            <a:endParaRPr lang="en-US"/>
          </a:p>
        </p:txBody>
      </p:sp>
    </p:spTree>
    <p:extLst>
      <p:ext uri="{BB962C8B-B14F-4D97-AF65-F5344CB8AC3E}">
        <p14:creationId xmlns:p14="http://schemas.microsoft.com/office/powerpoint/2010/main" val="8469837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228600" algn="just">
              <a:buFont typeface="Arial" panose="020B0604020202020204" pitchFamily="34" charset="0"/>
              <a:buChar char="•"/>
            </a:pPr>
            <a:r>
              <a:rPr lang="en-US" sz="1200" b="1" dirty="0"/>
              <a:t>Training and Education Programs</a:t>
            </a:r>
            <a:r>
              <a:rPr lang="en-US" sz="1200" dirty="0"/>
              <a:t>: Conducting targeted training sessions and educational programs for healthcare and frontline workers about the Ebola virus, vaccine efficacy, safety, and benefits. These sessions should address any misconceptions or concerns specific to the local context.</a:t>
            </a:r>
          </a:p>
          <a:p>
            <a:pPr indent="-228600" algn="just">
              <a:buFont typeface="Arial" panose="020B0604020202020204" pitchFamily="34" charset="0"/>
              <a:buChar char="•"/>
            </a:pPr>
            <a:r>
              <a:rPr lang="en-US" sz="1200" b="1" dirty="0"/>
              <a:t>Engagement with Local Leaders and Influencers</a:t>
            </a:r>
            <a:r>
              <a:rPr lang="en-US" sz="1200" dirty="0"/>
              <a:t>: Collaborating with community leaders, religious leaders, and influential figures who can endorse the vaccine and encourage their communities to get vaccinated. Their support can enhance trust and acceptance of the vaccine among community members.</a:t>
            </a:r>
          </a:p>
          <a:p>
            <a:pPr indent="-228600" algn="just">
              <a:buFont typeface="Arial" panose="020B0604020202020204" pitchFamily="34" charset="0"/>
              <a:buChar char="•"/>
            </a:pPr>
            <a:r>
              <a:rPr lang="en-US" sz="1200" b="1" dirty="0"/>
              <a:t>Interactive Workshops and Dialogues</a:t>
            </a:r>
            <a:r>
              <a:rPr lang="en-US" sz="1200" dirty="0"/>
              <a:t>: Organizing interactive workshops, focus groups, and dialogues where healthcare workers can openly discuss their concerns, ask questions, and receive accurate information about the vaccine. This approach promotes two-way communication and addresses specific issues raised by participants.</a:t>
            </a:r>
          </a:p>
          <a:p>
            <a:pPr indent="-228600" algn="just">
              <a:buFont typeface="Arial" panose="020B0604020202020204" pitchFamily="34" charset="0"/>
              <a:buChar char="•"/>
            </a:pPr>
            <a:r>
              <a:rPr lang="en-US" sz="1200" b="1" dirty="0"/>
              <a:t>Peer-to-Peer Communication</a:t>
            </a:r>
            <a:r>
              <a:rPr lang="en-US" sz="1200" dirty="0"/>
              <a:t>: Implementing peer education programs where vaccinated healthcare workers share their experiences and advocate for vaccination among their colleagues. Peer-to-peer communication can be highly effective in influencing behavior and fostering a supportive vaccination culture.</a:t>
            </a:r>
          </a:p>
          <a:p>
            <a:pPr indent="-228600" algn="just">
              <a:buFont typeface="Arial" panose="020B0604020202020204" pitchFamily="34" charset="0"/>
              <a:buChar char="•"/>
            </a:pPr>
            <a:r>
              <a:rPr lang="en-US" sz="1200" b="1" dirty="0"/>
              <a:t>Cultural Sensitivity and Local Adaptation</a:t>
            </a:r>
            <a:r>
              <a:rPr lang="en-US" sz="1200" dirty="0"/>
              <a:t>: Adapting communication materials and messaging to align with local cultural beliefs, languages, and customs. This ensures that vaccine information is understood and accepted within the community context, enhancing overall engagement and uptake.</a:t>
            </a:r>
            <a:endParaRPr lang="en-US" sz="1200" b="1" dirty="0"/>
          </a:p>
          <a:p>
            <a:pPr indent="-228600" algn="just">
              <a:buFont typeface="Arial" panose="020B0604020202020204" pitchFamily="34" charset="0"/>
              <a:buChar char="•"/>
            </a:pPr>
            <a:r>
              <a:rPr lang="en-US" sz="1200" b="1" dirty="0"/>
              <a:t>Use of Media and Technology</a:t>
            </a:r>
            <a:r>
              <a:rPr lang="en-US" sz="1200" dirty="0"/>
              <a:t>: Leveraging local media (radio, television, social media) to disseminate accurate information about the vaccine, address myths and rumors, and promote vaccination campaigns. Using technology such as SMS reminders for vaccine appointments can also improve vaccine uptake among healthcare and frontline workers.</a:t>
            </a:r>
          </a:p>
          <a:p>
            <a:pPr indent="-228600" algn="just">
              <a:buFont typeface="Arial" panose="020B0604020202020204" pitchFamily="34" charset="0"/>
              <a:buChar char="•"/>
            </a:pPr>
            <a:r>
              <a:rPr lang="en-US" sz="1200" b="1" dirty="0"/>
              <a:t>Incentives and Recognition</a:t>
            </a:r>
            <a:r>
              <a:rPr lang="en-US" sz="1200" dirty="0"/>
              <a:t>: Providing incentives or recognition programs for healthcare workers who receive the vaccine or actively promote vaccination among their peers. This can encourage participation and reinforce positive behavior towards vaccination.</a:t>
            </a:r>
          </a:p>
          <a:p>
            <a:endParaRPr lang="en-US" dirty="0"/>
          </a:p>
        </p:txBody>
      </p:sp>
      <p:sp>
        <p:nvSpPr>
          <p:cNvPr id="4" name="Slide Number Placeholder 3"/>
          <p:cNvSpPr>
            <a:spLocks noGrp="1"/>
          </p:cNvSpPr>
          <p:nvPr>
            <p:ph type="sldNum" sz="quarter" idx="5"/>
          </p:nvPr>
        </p:nvSpPr>
        <p:spPr/>
        <p:txBody>
          <a:bodyPr/>
          <a:lstStyle/>
          <a:p>
            <a:fld id="{A675FE08-7B4E-4342-B24B-CBF42946D234}" type="slidenum">
              <a:rPr lang="en-US" smtClean="0"/>
              <a:t>9</a:t>
            </a:fld>
            <a:endParaRPr lang="en-US"/>
          </a:p>
        </p:txBody>
      </p:sp>
    </p:spTree>
    <p:extLst>
      <p:ext uri="{BB962C8B-B14F-4D97-AF65-F5344CB8AC3E}">
        <p14:creationId xmlns:p14="http://schemas.microsoft.com/office/powerpoint/2010/main" val="5319079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just">
              <a:spcBef>
                <a:spcPts val="0"/>
              </a:spcBef>
              <a:spcAft>
                <a:spcPts val="800"/>
              </a:spcAft>
              <a:buFont typeface="+mj-lt"/>
              <a:buAutoNum type="arabicPeriod"/>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Protection Against Ebola</a:t>
            </a: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 The Ebola vaccine is a critical tool to protect yourself and your patients from Ebola virus disease (EVD). Vaccination reduces your risk of contracting the virus while caring for patients who may be infected.</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Font typeface="+mj-lt"/>
              <a:buAutoNum type="arabicPeriod"/>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Proven Safety and Efficacy</a:t>
            </a: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 Extensive research and clinical trials have demonstrated that the Ebola vaccine is safe and effective. It has undergone rigorous testing to ensure it meets international standards for vaccine safety.</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Font typeface="+mj-lt"/>
              <a:buAutoNum type="arabicPeriod"/>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Preventive Measure</a:t>
            </a: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 Getting vaccinated is a proactive step to prevent the spread of Ebola within healthcare settings. It safeguards your health and the health of your colleagues, patients, and community members.</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Font typeface="+mj-lt"/>
              <a:buAutoNum type="arabicPeriod"/>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Support for Healthcare Continuity</a:t>
            </a: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 By receiving the vaccine, you contribute to maintaining healthcare services during Ebola outbreaks. Vaccinated healthcare workers are less likely to become ill, ensuring continuity of care for patients.</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Font typeface="+mj-lt"/>
              <a:buAutoNum type="arabicPeriod"/>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Leadership in Public Health</a:t>
            </a: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 Your decision to get vaccinated demonstrates leadership in public health and underscores your commitment to protecting the community you serve. It sets an example for patients and colleagues alike.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Font typeface="+mj-lt"/>
              <a:buAutoNum type="arabicPeriod"/>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Access and Availability</a:t>
            </a: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 The Ebola vaccine is readily available to healthcare workers involved in Ebola outbreak response. Accessing the vaccine is convenient and ensures you are prepared to respond effectively to potential outbreaks.</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Font typeface="+mj-lt"/>
              <a:buAutoNum type="arabicPeriod"/>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Trustworthy Information</a:t>
            </a: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 Seek information from credible sources such as health authorities, international organizations, and reputable medical journals. Address any concerns or questions you may have about the vaccine with healthcare providers or vaccination program coordinators.</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Font typeface="+mj-lt"/>
              <a:buAutoNum type="arabicPeriod"/>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Community Health Promotion</a:t>
            </a: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 Encourage your colleagues and fellow healthcare workers to also get vaccinated. Promoting vaccination within your professional network strengthens overall immunity and protects vulnerable populations.</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Font typeface="+mj-lt"/>
              <a:buAutoNum type="arabicPeriod"/>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Continued Vigilance</a:t>
            </a: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 Even after vaccination, continue practicing infection prevention and control measures recommended by health authorities. This includes wearing personal protective equipment (PPE), adhering to hand hygiene practices, and maintaining vigilance for Ebola symptoms in patients.</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Font typeface="+mj-lt"/>
              <a:buAutoNum type="arabicPeriod"/>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Stay Informed</a:t>
            </a: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 Stay updated on Ebola vaccine recommendations, guidelines, and any new developments in vaccine research and distribution. Your knowledge and preparedness are essential in effectively managing potential Ebola outbreaks.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675FE08-7B4E-4342-B24B-CBF42946D234}" type="slidenum">
              <a:rPr lang="en-US" smtClean="0"/>
              <a:t>10</a:t>
            </a:fld>
            <a:endParaRPr lang="en-US"/>
          </a:p>
        </p:txBody>
      </p:sp>
    </p:spTree>
    <p:extLst>
      <p:ext uri="{BB962C8B-B14F-4D97-AF65-F5344CB8AC3E}">
        <p14:creationId xmlns:p14="http://schemas.microsoft.com/office/powerpoint/2010/main" val="23876868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spcBef>
                <a:spcPts val="0"/>
              </a:spcBef>
              <a:spcAft>
                <a:spcPts val="800"/>
              </a:spcAft>
              <a:buFont typeface="+mj-lt"/>
              <a:buAutoNum type="arabicPeriod"/>
              <a:tabLst>
                <a:tab pos="457200" algn="l"/>
              </a:tabLst>
            </a:pPr>
            <a:r>
              <a:rPr lang="en-US" sz="800" b="1" kern="0" dirty="0">
                <a:effectLst/>
                <a:latin typeface="Times New Roman" panose="02020603050405020304" pitchFamily="18" charset="0"/>
                <a:ea typeface="Times New Roman" panose="02020603050405020304" pitchFamily="18" charset="0"/>
                <a:cs typeface="Times New Roman" panose="02020603050405020304" pitchFamily="18" charset="0"/>
              </a:rPr>
              <a:t>Tailored Communication</a:t>
            </a:r>
            <a:r>
              <a:rPr lang="en-US" sz="800" kern="0" dirty="0">
                <a:effectLst/>
                <a:latin typeface="Times New Roman" panose="02020603050405020304" pitchFamily="18" charset="0"/>
                <a:ea typeface="Times New Roman" panose="02020603050405020304" pitchFamily="18" charset="0"/>
                <a:cs typeface="Times New Roman" panose="02020603050405020304" pitchFamily="18" charset="0"/>
              </a:rPr>
              <a:t>: Develop tailored communication materials that are clear, concise, and culturally appropriate. Use simple language and visuals to convey key information about the Ebola vaccine, its benefits, and how to access it.</a:t>
            </a:r>
            <a:endParaRPr lang="en-US" sz="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Font typeface="+mj-lt"/>
              <a:buAutoNum type="arabicPeriod"/>
              <a:tabLst>
                <a:tab pos="457200" algn="l"/>
              </a:tabLst>
            </a:pPr>
            <a:r>
              <a:rPr lang="en-US" sz="800" b="1" kern="0" dirty="0">
                <a:effectLst/>
                <a:latin typeface="Times New Roman" panose="02020603050405020304" pitchFamily="18" charset="0"/>
                <a:ea typeface="Times New Roman" panose="02020603050405020304" pitchFamily="18" charset="0"/>
                <a:cs typeface="Times New Roman" panose="02020603050405020304" pitchFamily="18" charset="0"/>
              </a:rPr>
              <a:t>Engagement through Local Leaders</a:t>
            </a:r>
            <a:r>
              <a:rPr lang="en-US" sz="800" kern="0" dirty="0">
                <a:effectLst/>
                <a:latin typeface="Times New Roman" panose="02020603050405020304" pitchFamily="18" charset="0"/>
                <a:ea typeface="Times New Roman" panose="02020603050405020304" pitchFamily="18" charset="0"/>
                <a:cs typeface="Times New Roman" panose="02020603050405020304" pitchFamily="18" charset="0"/>
              </a:rPr>
              <a:t>: Utilize local leaders, community influencers, and respected figures to endorse the vaccine and encourage frontline workers to get vaccinated. Their support can enhance trust and acceptance within the community.</a:t>
            </a:r>
            <a:endParaRPr lang="en-US" sz="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Font typeface="+mj-lt"/>
              <a:buAutoNum type="arabicPeriod"/>
              <a:tabLst>
                <a:tab pos="457200" algn="l"/>
              </a:tabLst>
            </a:pPr>
            <a:r>
              <a:rPr lang="en-US" sz="800" b="1" kern="0" dirty="0">
                <a:effectLst/>
                <a:latin typeface="Times New Roman" panose="02020603050405020304" pitchFamily="18" charset="0"/>
                <a:ea typeface="Times New Roman" panose="02020603050405020304" pitchFamily="18" charset="0"/>
                <a:cs typeface="Times New Roman" panose="02020603050405020304" pitchFamily="18" charset="0"/>
              </a:rPr>
              <a:t>Training and Education Sessions</a:t>
            </a:r>
            <a:r>
              <a:rPr lang="en-US" sz="800" kern="0" dirty="0">
                <a:effectLst/>
                <a:latin typeface="Times New Roman" panose="02020603050405020304" pitchFamily="18" charset="0"/>
                <a:ea typeface="Times New Roman" panose="02020603050405020304" pitchFamily="18" charset="0"/>
                <a:cs typeface="Times New Roman" panose="02020603050405020304" pitchFamily="18" charset="0"/>
              </a:rPr>
              <a:t>: Conduct interactive training and education sessions specifically for frontline workers. Provide comprehensive information about the Ebola virus, vaccination benefits, safety, and efficacy. Address common concerns and questions directly.</a:t>
            </a:r>
            <a:endParaRPr lang="en-US" sz="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Font typeface="+mj-lt"/>
              <a:buAutoNum type="arabicPeriod"/>
              <a:tabLst>
                <a:tab pos="457200" algn="l"/>
              </a:tabLst>
            </a:pPr>
            <a:r>
              <a:rPr lang="en-US" sz="800" b="1" kern="0" dirty="0">
                <a:effectLst/>
                <a:latin typeface="Times New Roman" panose="02020603050405020304" pitchFamily="18" charset="0"/>
                <a:ea typeface="Times New Roman" panose="02020603050405020304" pitchFamily="18" charset="0"/>
                <a:cs typeface="Times New Roman" panose="02020603050405020304" pitchFamily="18" charset="0"/>
              </a:rPr>
              <a:t>Mobile Vaccination Clinics</a:t>
            </a:r>
            <a:r>
              <a:rPr lang="en-US" sz="800" kern="0" dirty="0">
                <a:effectLst/>
                <a:latin typeface="Times New Roman" panose="02020603050405020304" pitchFamily="18" charset="0"/>
                <a:ea typeface="Times New Roman" panose="02020603050405020304" pitchFamily="18" charset="0"/>
                <a:cs typeface="Times New Roman" panose="02020603050405020304" pitchFamily="18" charset="0"/>
              </a:rPr>
              <a:t>: Set up mobile vaccination clinics that can travel to remote or hard-to-reach areas where frontline workers are based. This approach ensures convenient access to vaccination services, overcoming logistical barriers.</a:t>
            </a:r>
            <a:endParaRPr lang="en-US" sz="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Font typeface="+mj-lt"/>
              <a:buAutoNum type="arabicPeriod"/>
              <a:tabLst>
                <a:tab pos="457200" algn="l"/>
              </a:tabLst>
            </a:pPr>
            <a:r>
              <a:rPr lang="en-US" sz="800" b="1" kern="0" dirty="0">
                <a:effectLst/>
                <a:latin typeface="Times New Roman" panose="02020603050405020304" pitchFamily="18" charset="0"/>
                <a:ea typeface="Times New Roman" panose="02020603050405020304" pitchFamily="18" charset="0"/>
                <a:cs typeface="Times New Roman" panose="02020603050405020304" pitchFamily="18" charset="0"/>
              </a:rPr>
              <a:t>Peer-to-Peer Engagement</a:t>
            </a:r>
            <a:r>
              <a:rPr lang="en-US" sz="800" kern="0" dirty="0">
                <a:effectLst/>
                <a:latin typeface="Times New Roman" panose="02020603050405020304" pitchFamily="18" charset="0"/>
                <a:ea typeface="Times New Roman" panose="02020603050405020304" pitchFamily="18" charset="0"/>
                <a:cs typeface="Times New Roman" panose="02020603050405020304" pitchFamily="18" charset="0"/>
              </a:rPr>
              <a:t>: Implement peer education programs where vaccinated frontline workers share their experiences and encourage their colleagues to get vaccinated. Peer influence can be a powerful motivator for behavior change.</a:t>
            </a:r>
            <a:endParaRPr lang="en-US" sz="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Font typeface="+mj-lt"/>
              <a:buAutoNum type="arabicPeriod"/>
              <a:tabLst>
                <a:tab pos="457200" algn="l"/>
              </a:tabLst>
            </a:pPr>
            <a:r>
              <a:rPr lang="en-US" sz="800" b="1" kern="0" dirty="0">
                <a:effectLst/>
                <a:latin typeface="Times New Roman" panose="02020603050405020304" pitchFamily="18" charset="0"/>
                <a:ea typeface="Times New Roman" panose="02020603050405020304" pitchFamily="18" charset="0"/>
                <a:cs typeface="Times New Roman" panose="02020603050405020304" pitchFamily="18" charset="0"/>
              </a:rPr>
              <a:t>Incentives and Recognition</a:t>
            </a:r>
            <a:r>
              <a:rPr lang="en-US" sz="800" kern="0" dirty="0">
                <a:effectLst/>
                <a:latin typeface="Times New Roman" panose="02020603050405020304" pitchFamily="18" charset="0"/>
                <a:ea typeface="Times New Roman" panose="02020603050405020304" pitchFamily="18" charset="0"/>
                <a:cs typeface="Times New Roman" panose="02020603050405020304" pitchFamily="18" charset="0"/>
              </a:rPr>
              <a:t>: Provide incentives or recognition programs for frontline workers who get vaccinated or actively promote vaccination within their communities. This can include certificates, badges, or public acknowledgments of their commitment to public health.</a:t>
            </a:r>
            <a:endParaRPr lang="en-US" sz="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Font typeface="+mj-lt"/>
              <a:buAutoNum type="arabicPeriod"/>
              <a:tabLst>
                <a:tab pos="457200" algn="l"/>
              </a:tabLst>
            </a:pPr>
            <a:r>
              <a:rPr lang="en-US" sz="800" b="1" kern="0" dirty="0">
                <a:effectLst/>
                <a:latin typeface="Times New Roman" panose="02020603050405020304" pitchFamily="18" charset="0"/>
                <a:ea typeface="Times New Roman" panose="02020603050405020304" pitchFamily="18" charset="0"/>
                <a:cs typeface="Times New Roman" panose="02020603050405020304" pitchFamily="18" charset="0"/>
              </a:rPr>
              <a:t>Collaboration with Employers and Organizations</a:t>
            </a:r>
            <a:r>
              <a:rPr lang="en-US" sz="800" kern="0" dirty="0">
                <a:effectLst/>
                <a:latin typeface="Times New Roman" panose="02020603050405020304" pitchFamily="18" charset="0"/>
                <a:ea typeface="Times New Roman" panose="02020603050405020304" pitchFamily="18" charset="0"/>
                <a:cs typeface="Times New Roman" panose="02020603050405020304" pitchFamily="18" charset="0"/>
              </a:rPr>
              <a:t>: Partner with employers, NGOs, and local organizations that employ frontline workers to facilitate vaccination campaigns. Work together to integrate vaccination into workplace health programs or routine health screenings.</a:t>
            </a:r>
            <a:endParaRPr lang="en-US" sz="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Font typeface="+mj-lt"/>
              <a:buAutoNum type="arabicPeriod"/>
              <a:tabLst>
                <a:tab pos="457200" algn="l"/>
              </a:tabLst>
            </a:pPr>
            <a:r>
              <a:rPr lang="en-US" sz="800" b="1" kern="0" dirty="0">
                <a:effectLst/>
                <a:latin typeface="Times New Roman" panose="02020603050405020304" pitchFamily="18" charset="0"/>
                <a:ea typeface="Times New Roman" panose="02020603050405020304" pitchFamily="18" charset="0"/>
                <a:cs typeface="Times New Roman" panose="02020603050405020304" pitchFamily="18" charset="0"/>
              </a:rPr>
              <a:t>Use of Technology and Social Media</a:t>
            </a:r>
            <a:r>
              <a:rPr lang="en-US" sz="800" kern="0" dirty="0">
                <a:effectLst/>
                <a:latin typeface="Times New Roman" panose="02020603050405020304" pitchFamily="18" charset="0"/>
                <a:ea typeface="Times New Roman" panose="02020603050405020304" pitchFamily="18" charset="0"/>
                <a:cs typeface="Times New Roman" panose="02020603050405020304" pitchFamily="18" charset="0"/>
              </a:rPr>
              <a:t>: Leverage technology such as SMS alerts, social media campaigns, and online platforms to disseminate information about the Ebola vaccine. Use these channels to reach a broader audience and facilitate appointment scheduling.</a:t>
            </a:r>
            <a:endParaRPr lang="en-US" sz="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Font typeface="+mj-lt"/>
              <a:buAutoNum type="arabicPeriod"/>
              <a:tabLst>
                <a:tab pos="457200" algn="l"/>
              </a:tabLst>
            </a:pPr>
            <a:r>
              <a:rPr lang="en-US" sz="800" b="1" kern="0" dirty="0">
                <a:effectLst/>
                <a:latin typeface="Times New Roman" panose="02020603050405020304" pitchFamily="18" charset="0"/>
                <a:ea typeface="Times New Roman" panose="02020603050405020304" pitchFamily="18" charset="0"/>
                <a:cs typeface="Times New Roman" panose="02020603050405020304" pitchFamily="18" charset="0"/>
              </a:rPr>
              <a:t>Community Engagement Events</a:t>
            </a:r>
            <a:r>
              <a:rPr lang="en-US" sz="800" kern="0" dirty="0">
                <a:effectLst/>
                <a:latin typeface="Times New Roman" panose="02020603050405020304" pitchFamily="18" charset="0"/>
                <a:ea typeface="Times New Roman" panose="02020603050405020304" pitchFamily="18" charset="0"/>
                <a:cs typeface="Times New Roman" panose="02020603050405020304" pitchFamily="18" charset="0"/>
              </a:rPr>
              <a:t>: Organize community engagement events or town hall meetings where frontline workers can learn more about the vaccine, ask questions, and receive information from healthcare providers. These events promote interactive dialogue and build trust.</a:t>
            </a:r>
            <a:endParaRPr lang="en-US" sz="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Font typeface="+mj-lt"/>
              <a:buAutoNum type="arabicPeriod"/>
              <a:tabLst>
                <a:tab pos="457200" algn="l"/>
              </a:tabLst>
            </a:pPr>
            <a:r>
              <a:rPr lang="en-US" sz="800" b="1" kern="0" dirty="0">
                <a:effectLst/>
                <a:latin typeface="Times New Roman" panose="02020603050405020304" pitchFamily="18" charset="0"/>
                <a:ea typeface="Times New Roman" panose="02020603050405020304" pitchFamily="18" charset="0"/>
                <a:cs typeface="Times New Roman" panose="02020603050405020304" pitchFamily="18" charset="0"/>
              </a:rPr>
              <a:t>Feedback Mechanisms</a:t>
            </a:r>
            <a:r>
              <a:rPr lang="en-US" sz="800" kern="0" dirty="0">
                <a:effectLst/>
                <a:latin typeface="Times New Roman" panose="02020603050405020304" pitchFamily="18" charset="0"/>
                <a:ea typeface="Times New Roman" panose="02020603050405020304" pitchFamily="18" charset="0"/>
                <a:cs typeface="Times New Roman" panose="02020603050405020304" pitchFamily="18" charset="0"/>
              </a:rPr>
              <a:t>: Establish feedback mechanisms to gather input from frontline workers about their perceptions, concerns, and experiences with the vaccination process. Use this feedback to improve communication strategies and address barriers effectively.</a:t>
            </a:r>
            <a:endParaRPr lang="en-US" sz="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Font typeface="+mj-lt"/>
              <a:buAutoNum type="arabicPeriod"/>
              <a:tabLst>
                <a:tab pos="457200" algn="l"/>
              </a:tabLst>
            </a:pPr>
            <a:r>
              <a:rPr lang="en-US" sz="800" b="1" kern="0" dirty="0">
                <a:effectLst/>
                <a:latin typeface="Times New Roman" panose="02020603050405020304" pitchFamily="18" charset="0"/>
                <a:ea typeface="Times New Roman" panose="02020603050405020304" pitchFamily="18" charset="0"/>
                <a:cs typeface="Times New Roman" panose="02020603050405020304" pitchFamily="18" charset="0"/>
              </a:rPr>
              <a:t>Continuous Support and Follow-up</a:t>
            </a:r>
            <a:r>
              <a:rPr lang="en-US" sz="800" kern="0" dirty="0">
                <a:effectLst/>
                <a:latin typeface="Times New Roman" panose="02020603050405020304" pitchFamily="18" charset="0"/>
                <a:ea typeface="Times New Roman" panose="02020603050405020304" pitchFamily="18" charset="0"/>
                <a:cs typeface="Times New Roman" panose="02020603050405020304" pitchFamily="18" charset="0"/>
              </a:rPr>
              <a:t>: Provide ongoing support and follow-up to ensure that frontline workers receive their complete vaccination series and understand the importance of follow-up doses or booster shots, if required.</a:t>
            </a:r>
            <a:endParaRPr lang="en-US" sz="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675FE08-7B4E-4342-B24B-CBF42946D234}" type="slidenum">
              <a:rPr lang="en-US" smtClean="0"/>
              <a:t>11</a:t>
            </a:fld>
            <a:endParaRPr lang="en-US"/>
          </a:p>
        </p:txBody>
      </p:sp>
    </p:spTree>
    <p:extLst>
      <p:ext uri="{BB962C8B-B14F-4D97-AF65-F5344CB8AC3E}">
        <p14:creationId xmlns:p14="http://schemas.microsoft.com/office/powerpoint/2010/main" val="2506644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7F0D6-6AAF-F0A7-E53A-CF9D32A42E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EF314E-8865-E0E1-A6C6-6A98E0E786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E634FC4-EB3E-2090-7CFB-262105D04293}"/>
              </a:ext>
            </a:extLst>
          </p:cNvPr>
          <p:cNvSpPr>
            <a:spLocks noGrp="1"/>
          </p:cNvSpPr>
          <p:nvPr>
            <p:ph type="dt" sz="half" idx="10"/>
          </p:nvPr>
        </p:nvSpPr>
        <p:spPr/>
        <p:txBody>
          <a:bodyPr/>
          <a:lstStyle/>
          <a:p>
            <a:fld id="{E95A6B52-7A3C-4E27-9969-9DC797966D42}" type="datetimeFigureOut">
              <a:rPr lang="en-US" smtClean="0"/>
              <a:t>9/10/2024</a:t>
            </a:fld>
            <a:endParaRPr lang="en-US"/>
          </a:p>
        </p:txBody>
      </p:sp>
      <p:sp>
        <p:nvSpPr>
          <p:cNvPr id="5" name="Footer Placeholder 4">
            <a:extLst>
              <a:ext uri="{FF2B5EF4-FFF2-40B4-BE49-F238E27FC236}">
                <a16:creationId xmlns:a16="http://schemas.microsoft.com/office/drawing/2014/main" id="{8FE90C04-7313-F1E1-84BF-6EB7D355F0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F5E614-FD88-210B-0FCE-A5B5C94D8108}"/>
              </a:ext>
            </a:extLst>
          </p:cNvPr>
          <p:cNvSpPr>
            <a:spLocks noGrp="1"/>
          </p:cNvSpPr>
          <p:nvPr>
            <p:ph type="sldNum" sz="quarter" idx="12"/>
          </p:nvPr>
        </p:nvSpPr>
        <p:spPr/>
        <p:txBody>
          <a:bodyPr/>
          <a:lstStyle/>
          <a:p>
            <a:fld id="{FDE460D8-6DCC-4DAB-9D65-EE00094021EC}" type="slidenum">
              <a:rPr lang="en-US" smtClean="0"/>
              <a:t>‹#›</a:t>
            </a:fld>
            <a:endParaRPr lang="en-US"/>
          </a:p>
        </p:txBody>
      </p:sp>
    </p:spTree>
    <p:extLst>
      <p:ext uri="{BB962C8B-B14F-4D97-AF65-F5344CB8AC3E}">
        <p14:creationId xmlns:p14="http://schemas.microsoft.com/office/powerpoint/2010/main" val="765289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6B550-493D-E751-7F22-B084FC0F57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5C9139-A31E-9B43-89DC-AD78662D05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F79E83-B4DF-B2F8-8A20-B4EFEFAE9824}"/>
              </a:ext>
            </a:extLst>
          </p:cNvPr>
          <p:cNvSpPr>
            <a:spLocks noGrp="1"/>
          </p:cNvSpPr>
          <p:nvPr>
            <p:ph type="dt" sz="half" idx="10"/>
          </p:nvPr>
        </p:nvSpPr>
        <p:spPr/>
        <p:txBody>
          <a:bodyPr/>
          <a:lstStyle/>
          <a:p>
            <a:fld id="{E95A6B52-7A3C-4E27-9969-9DC797966D42}" type="datetimeFigureOut">
              <a:rPr lang="en-US" smtClean="0"/>
              <a:t>9/10/2024</a:t>
            </a:fld>
            <a:endParaRPr lang="en-US"/>
          </a:p>
        </p:txBody>
      </p:sp>
      <p:sp>
        <p:nvSpPr>
          <p:cNvPr id="5" name="Footer Placeholder 4">
            <a:extLst>
              <a:ext uri="{FF2B5EF4-FFF2-40B4-BE49-F238E27FC236}">
                <a16:creationId xmlns:a16="http://schemas.microsoft.com/office/drawing/2014/main" id="{38B3AD51-B776-5D73-0957-EF38348024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D73E6A-E743-ACE3-5FD1-0D03C3340A0A}"/>
              </a:ext>
            </a:extLst>
          </p:cNvPr>
          <p:cNvSpPr>
            <a:spLocks noGrp="1"/>
          </p:cNvSpPr>
          <p:nvPr>
            <p:ph type="sldNum" sz="quarter" idx="12"/>
          </p:nvPr>
        </p:nvSpPr>
        <p:spPr/>
        <p:txBody>
          <a:bodyPr/>
          <a:lstStyle/>
          <a:p>
            <a:fld id="{FDE460D8-6DCC-4DAB-9D65-EE00094021EC}" type="slidenum">
              <a:rPr lang="en-US" smtClean="0"/>
              <a:t>‹#›</a:t>
            </a:fld>
            <a:endParaRPr lang="en-US"/>
          </a:p>
        </p:txBody>
      </p:sp>
    </p:spTree>
    <p:extLst>
      <p:ext uri="{BB962C8B-B14F-4D97-AF65-F5344CB8AC3E}">
        <p14:creationId xmlns:p14="http://schemas.microsoft.com/office/powerpoint/2010/main" val="121801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7935F-86EF-26A6-736E-846F7226B3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E25920B-2A50-6BFD-FF39-D9F012E164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32F698-E16A-9D07-5BD1-147615B04F35}"/>
              </a:ext>
            </a:extLst>
          </p:cNvPr>
          <p:cNvSpPr>
            <a:spLocks noGrp="1"/>
          </p:cNvSpPr>
          <p:nvPr>
            <p:ph type="dt" sz="half" idx="10"/>
          </p:nvPr>
        </p:nvSpPr>
        <p:spPr/>
        <p:txBody>
          <a:bodyPr/>
          <a:lstStyle/>
          <a:p>
            <a:fld id="{E95A6B52-7A3C-4E27-9969-9DC797966D42}" type="datetimeFigureOut">
              <a:rPr lang="en-US" smtClean="0"/>
              <a:t>9/10/2024</a:t>
            </a:fld>
            <a:endParaRPr lang="en-US"/>
          </a:p>
        </p:txBody>
      </p:sp>
      <p:sp>
        <p:nvSpPr>
          <p:cNvPr id="5" name="Footer Placeholder 4">
            <a:extLst>
              <a:ext uri="{FF2B5EF4-FFF2-40B4-BE49-F238E27FC236}">
                <a16:creationId xmlns:a16="http://schemas.microsoft.com/office/drawing/2014/main" id="{0CB47BA3-9D16-2048-0FAA-9BDC591FF5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4864DF-9724-EEAB-BFC0-78D41125612F}"/>
              </a:ext>
            </a:extLst>
          </p:cNvPr>
          <p:cNvSpPr>
            <a:spLocks noGrp="1"/>
          </p:cNvSpPr>
          <p:nvPr>
            <p:ph type="sldNum" sz="quarter" idx="12"/>
          </p:nvPr>
        </p:nvSpPr>
        <p:spPr/>
        <p:txBody>
          <a:bodyPr/>
          <a:lstStyle/>
          <a:p>
            <a:fld id="{FDE460D8-6DCC-4DAB-9D65-EE00094021EC}" type="slidenum">
              <a:rPr lang="en-US" smtClean="0"/>
              <a:t>‹#›</a:t>
            </a:fld>
            <a:endParaRPr lang="en-US"/>
          </a:p>
        </p:txBody>
      </p:sp>
    </p:spTree>
    <p:extLst>
      <p:ext uri="{BB962C8B-B14F-4D97-AF65-F5344CB8AC3E}">
        <p14:creationId xmlns:p14="http://schemas.microsoft.com/office/powerpoint/2010/main" val="3603883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A8BD0-44AA-3207-0376-927EBE9C46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ECA7E7-85AC-B9FD-0EC0-391A02D412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3924FC-758F-8C3C-8376-ED65F81C816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D70BCED-D300-3A5C-085A-96909B6BD883}"/>
              </a:ext>
            </a:extLst>
          </p:cNvPr>
          <p:cNvSpPr>
            <a:spLocks noGrp="1"/>
          </p:cNvSpPr>
          <p:nvPr>
            <p:ph type="dt" sz="half" idx="10"/>
          </p:nvPr>
        </p:nvSpPr>
        <p:spPr/>
        <p:txBody>
          <a:bodyPr/>
          <a:lstStyle/>
          <a:p>
            <a:fld id="{E95A6B52-7A3C-4E27-9969-9DC797966D42}" type="datetimeFigureOut">
              <a:rPr lang="en-US" smtClean="0"/>
              <a:t>9/10/2024</a:t>
            </a:fld>
            <a:endParaRPr lang="en-US"/>
          </a:p>
        </p:txBody>
      </p:sp>
      <p:sp>
        <p:nvSpPr>
          <p:cNvPr id="6" name="Footer Placeholder 5">
            <a:extLst>
              <a:ext uri="{FF2B5EF4-FFF2-40B4-BE49-F238E27FC236}">
                <a16:creationId xmlns:a16="http://schemas.microsoft.com/office/drawing/2014/main" id="{C39AB162-08D5-2BE3-965A-47C9AF13B2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A035F9-1D16-1907-B83F-7CAE5EB216DA}"/>
              </a:ext>
            </a:extLst>
          </p:cNvPr>
          <p:cNvSpPr>
            <a:spLocks noGrp="1"/>
          </p:cNvSpPr>
          <p:nvPr>
            <p:ph type="sldNum" sz="quarter" idx="12"/>
          </p:nvPr>
        </p:nvSpPr>
        <p:spPr/>
        <p:txBody>
          <a:bodyPr/>
          <a:lstStyle/>
          <a:p>
            <a:fld id="{FDE460D8-6DCC-4DAB-9D65-EE00094021EC}" type="slidenum">
              <a:rPr lang="en-US" smtClean="0"/>
              <a:t>‹#›</a:t>
            </a:fld>
            <a:endParaRPr lang="en-US"/>
          </a:p>
        </p:txBody>
      </p:sp>
    </p:spTree>
    <p:extLst>
      <p:ext uri="{BB962C8B-B14F-4D97-AF65-F5344CB8AC3E}">
        <p14:creationId xmlns:p14="http://schemas.microsoft.com/office/powerpoint/2010/main" val="329527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68C69-DAF3-9F89-A58E-B25E6C5D87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042E874-102C-5A78-0CBA-CFB6F3B487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BCBCDF-C6A1-BF15-20EE-7EE0A6D784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8BAD61-A58E-AE53-141B-9B9D489DD6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BD5C8A-D6DE-06B4-E2C4-2CF26B8B9E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68B622-486D-55CC-0A58-777D53AAF181}"/>
              </a:ext>
            </a:extLst>
          </p:cNvPr>
          <p:cNvSpPr>
            <a:spLocks noGrp="1"/>
          </p:cNvSpPr>
          <p:nvPr>
            <p:ph type="dt" sz="half" idx="10"/>
          </p:nvPr>
        </p:nvSpPr>
        <p:spPr/>
        <p:txBody>
          <a:bodyPr/>
          <a:lstStyle/>
          <a:p>
            <a:fld id="{E95A6B52-7A3C-4E27-9969-9DC797966D42}" type="datetimeFigureOut">
              <a:rPr lang="en-US" smtClean="0"/>
              <a:t>9/10/2024</a:t>
            </a:fld>
            <a:endParaRPr lang="en-US"/>
          </a:p>
        </p:txBody>
      </p:sp>
      <p:sp>
        <p:nvSpPr>
          <p:cNvPr id="8" name="Footer Placeholder 7">
            <a:extLst>
              <a:ext uri="{FF2B5EF4-FFF2-40B4-BE49-F238E27FC236}">
                <a16:creationId xmlns:a16="http://schemas.microsoft.com/office/drawing/2014/main" id="{BAFEC14C-2D1D-E52C-A8A0-07EC16591C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7B30A4A-0ED5-1467-11A6-01F8725A4DA8}"/>
              </a:ext>
            </a:extLst>
          </p:cNvPr>
          <p:cNvSpPr>
            <a:spLocks noGrp="1"/>
          </p:cNvSpPr>
          <p:nvPr>
            <p:ph type="sldNum" sz="quarter" idx="12"/>
          </p:nvPr>
        </p:nvSpPr>
        <p:spPr/>
        <p:txBody>
          <a:bodyPr/>
          <a:lstStyle/>
          <a:p>
            <a:fld id="{FDE460D8-6DCC-4DAB-9D65-EE00094021EC}" type="slidenum">
              <a:rPr lang="en-US" smtClean="0"/>
              <a:t>‹#›</a:t>
            </a:fld>
            <a:endParaRPr lang="en-US"/>
          </a:p>
        </p:txBody>
      </p:sp>
    </p:spTree>
    <p:extLst>
      <p:ext uri="{BB962C8B-B14F-4D97-AF65-F5344CB8AC3E}">
        <p14:creationId xmlns:p14="http://schemas.microsoft.com/office/powerpoint/2010/main" val="176587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61C77-6C55-B963-C3CC-5C09111AD6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2C281E-FED9-550D-9F19-E88EEBB8246E}"/>
              </a:ext>
            </a:extLst>
          </p:cNvPr>
          <p:cNvSpPr>
            <a:spLocks noGrp="1"/>
          </p:cNvSpPr>
          <p:nvPr>
            <p:ph type="dt" sz="half" idx="10"/>
          </p:nvPr>
        </p:nvSpPr>
        <p:spPr/>
        <p:txBody>
          <a:bodyPr/>
          <a:lstStyle/>
          <a:p>
            <a:fld id="{E95A6B52-7A3C-4E27-9969-9DC797966D42}" type="datetimeFigureOut">
              <a:rPr lang="en-US" smtClean="0"/>
              <a:t>9/10/2024</a:t>
            </a:fld>
            <a:endParaRPr lang="en-US"/>
          </a:p>
        </p:txBody>
      </p:sp>
      <p:sp>
        <p:nvSpPr>
          <p:cNvPr id="4" name="Footer Placeholder 3">
            <a:extLst>
              <a:ext uri="{FF2B5EF4-FFF2-40B4-BE49-F238E27FC236}">
                <a16:creationId xmlns:a16="http://schemas.microsoft.com/office/drawing/2014/main" id="{C3634B08-A5BB-3747-B4C2-8AC9AB99849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B86F06-5ADD-BB4F-6E77-6BA983AECE95}"/>
              </a:ext>
            </a:extLst>
          </p:cNvPr>
          <p:cNvSpPr>
            <a:spLocks noGrp="1"/>
          </p:cNvSpPr>
          <p:nvPr>
            <p:ph type="sldNum" sz="quarter" idx="12"/>
          </p:nvPr>
        </p:nvSpPr>
        <p:spPr/>
        <p:txBody>
          <a:bodyPr/>
          <a:lstStyle/>
          <a:p>
            <a:fld id="{FDE460D8-6DCC-4DAB-9D65-EE00094021EC}" type="slidenum">
              <a:rPr lang="en-US" smtClean="0"/>
              <a:t>‹#›</a:t>
            </a:fld>
            <a:endParaRPr lang="en-US"/>
          </a:p>
        </p:txBody>
      </p:sp>
    </p:spTree>
    <p:extLst>
      <p:ext uri="{BB962C8B-B14F-4D97-AF65-F5344CB8AC3E}">
        <p14:creationId xmlns:p14="http://schemas.microsoft.com/office/powerpoint/2010/main" val="2499929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A855CF-AD73-46D3-FB75-192CCA5EA2A4}"/>
              </a:ext>
            </a:extLst>
          </p:cNvPr>
          <p:cNvSpPr>
            <a:spLocks noGrp="1"/>
          </p:cNvSpPr>
          <p:nvPr>
            <p:ph type="dt" sz="half" idx="10"/>
          </p:nvPr>
        </p:nvSpPr>
        <p:spPr/>
        <p:txBody>
          <a:bodyPr/>
          <a:lstStyle/>
          <a:p>
            <a:fld id="{E95A6B52-7A3C-4E27-9969-9DC797966D42}" type="datetimeFigureOut">
              <a:rPr lang="en-US" smtClean="0"/>
              <a:t>9/10/2024</a:t>
            </a:fld>
            <a:endParaRPr lang="en-US"/>
          </a:p>
        </p:txBody>
      </p:sp>
      <p:sp>
        <p:nvSpPr>
          <p:cNvPr id="3" name="Footer Placeholder 2">
            <a:extLst>
              <a:ext uri="{FF2B5EF4-FFF2-40B4-BE49-F238E27FC236}">
                <a16:creationId xmlns:a16="http://schemas.microsoft.com/office/drawing/2014/main" id="{5F6C65B0-808A-54D4-BCD3-0EAABAEA1D9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116F1E-D6B8-1EC6-2EA1-C72B6FD62804}"/>
              </a:ext>
            </a:extLst>
          </p:cNvPr>
          <p:cNvSpPr>
            <a:spLocks noGrp="1"/>
          </p:cNvSpPr>
          <p:nvPr>
            <p:ph type="sldNum" sz="quarter" idx="12"/>
          </p:nvPr>
        </p:nvSpPr>
        <p:spPr/>
        <p:txBody>
          <a:bodyPr/>
          <a:lstStyle/>
          <a:p>
            <a:fld id="{FDE460D8-6DCC-4DAB-9D65-EE00094021EC}" type="slidenum">
              <a:rPr lang="en-US" smtClean="0"/>
              <a:t>‹#›</a:t>
            </a:fld>
            <a:endParaRPr lang="en-US"/>
          </a:p>
        </p:txBody>
      </p:sp>
    </p:spTree>
    <p:extLst>
      <p:ext uri="{BB962C8B-B14F-4D97-AF65-F5344CB8AC3E}">
        <p14:creationId xmlns:p14="http://schemas.microsoft.com/office/powerpoint/2010/main" val="2059823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CCBD7-AD99-7A14-C8AC-E95F4CF02A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C58D219-CFE8-6DCE-6D56-B60EA10C26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00E01C-33B4-189A-3D96-D952E30F61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9A450A-AB24-285C-5D56-22A9205093DC}"/>
              </a:ext>
            </a:extLst>
          </p:cNvPr>
          <p:cNvSpPr>
            <a:spLocks noGrp="1"/>
          </p:cNvSpPr>
          <p:nvPr>
            <p:ph type="dt" sz="half" idx="10"/>
          </p:nvPr>
        </p:nvSpPr>
        <p:spPr/>
        <p:txBody>
          <a:bodyPr/>
          <a:lstStyle/>
          <a:p>
            <a:fld id="{E95A6B52-7A3C-4E27-9969-9DC797966D42}" type="datetimeFigureOut">
              <a:rPr lang="en-US" smtClean="0"/>
              <a:t>9/10/2024</a:t>
            </a:fld>
            <a:endParaRPr lang="en-US"/>
          </a:p>
        </p:txBody>
      </p:sp>
      <p:sp>
        <p:nvSpPr>
          <p:cNvPr id="6" name="Footer Placeholder 5">
            <a:extLst>
              <a:ext uri="{FF2B5EF4-FFF2-40B4-BE49-F238E27FC236}">
                <a16:creationId xmlns:a16="http://schemas.microsoft.com/office/drawing/2014/main" id="{5096401E-4E96-19BA-A81E-4B6D92D6B4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FF084E-5435-F54B-C332-BE89C687641B}"/>
              </a:ext>
            </a:extLst>
          </p:cNvPr>
          <p:cNvSpPr>
            <a:spLocks noGrp="1"/>
          </p:cNvSpPr>
          <p:nvPr>
            <p:ph type="sldNum" sz="quarter" idx="12"/>
          </p:nvPr>
        </p:nvSpPr>
        <p:spPr/>
        <p:txBody>
          <a:bodyPr/>
          <a:lstStyle/>
          <a:p>
            <a:fld id="{FDE460D8-6DCC-4DAB-9D65-EE00094021EC}" type="slidenum">
              <a:rPr lang="en-US" smtClean="0"/>
              <a:t>‹#›</a:t>
            </a:fld>
            <a:endParaRPr lang="en-US"/>
          </a:p>
        </p:txBody>
      </p:sp>
    </p:spTree>
    <p:extLst>
      <p:ext uri="{BB962C8B-B14F-4D97-AF65-F5344CB8AC3E}">
        <p14:creationId xmlns:p14="http://schemas.microsoft.com/office/powerpoint/2010/main" val="3273638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63C43-DF0B-6F78-6AE8-9FE5DAC683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ED4D75C-9A31-F714-0594-C185EEA903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C9B2E1-F11F-6232-A139-36E84F199A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FD4E9D-612B-EC48-9474-A1A400635EAF}"/>
              </a:ext>
            </a:extLst>
          </p:cNvPr>
          <p:cNvSpPr>
            <a:spLocks noGrp="1"/>
          </p:cNvSpPr>
          <p:nvPr>
            <p:ph type="dt" sz="half" idx="10"/>
          </p:nvPr>
        </p:nvSpPr>
        <p:spPr/>
        <p:txBody>
          <a:bodyPr/>
          <a:lstStyle/>
          <a:p>
            <a:fld id="{E95A6B52-7A3C-4E27-9969-9DC797966D42}" type="datetimeFigureOut">
              <a:rPr lang="en-US" smtClean="0"/>
              <a:t>9/10/2024</a:t>
            </a:fld>
            <a:endParaRPr lang="en-US"/>
          </a:p>
        </p:txBody>
      </p:sp>
      <p:sp>
        <p:nvSpPr>
          <p:cNvPr id="6" name="Footer Placeholder 5">
            <a:extLst>
              <a:ext uri="{FF2B5EF4-FFF2-40B4-BE49-F238E27FC236}">
                <a16:creationId xmlns:a16="http://schemas.microsoft.com/office/drawing/2014/main" id="{335E9A51-7835-BB10-FB10-FD3619462A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06D87E-E98C-16D6-1C02-65B9652AE2DD}"/>
              </a:ext>
            </a:extLst>
          </p:cNvPr>
          <p:cNvSpPr>
            <a:spLocks noGrp="1"/>
          </p:cNvSpPr>
          <p:nvPr>
            <p:ph type="sldNum" sz="quarter" idx="12"/>
          </p:nvPr>
        </p:nvSpPr>
        <p:spPr/>
        <p:txBody>
          <a:bodyPr/>
          <a:lstStyle/>
          <a:p>
            <a:fld id="{FDE460D8-6DCC-4DAB-9D65-EE00094021EC}" type="slidenum">
              <a:rPr lang="en-US" smtClean="0"/>
              <a:t>‹#›</a:t>
            </a:fld>
            <a:endParaRPr lang="en-US"/>
          </a:p>
        </p:txBody>
      </p:sp>
    </p:spTree>
    <p:extLst>
      <p:ext uri="{BB962C8B-B14F-4D97-AF65-F5344CB8AC3E}">
        <p14:creationId xmlns:p14="http://schemas.microsoft.com/office/powerpoint/2010/main" val="1937952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C3593-2F74-E3C5-60A0-4C94E44BAF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2890DC3-9EC9-998D-519B-2ADA7CE4A8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04107B-84AF-CF4B-A9FF-9BA026A41299}"/>
              </a:ext>
            </a:extLst>
          </p:cNvPr>
          <p:cNvSpPr>
            <a:spLocks noGrp="1"/>
          </p:cNvSpPr>
          <p:nvPr>
            <p:ph type="dt" sz="half" idx="10"/>
          </p:nvPr>
        </p:nvSpPr>
        <p:spPr/>
        <p:txBody>
          <a:bodyPr/>
          <a:lstStyle/>
          <a:p>
            <a:fld id="{E95A6B52-7A3C-4E27-9969-9DC797966D42}" type="datetimeFigureOut">
              <a:rPr lang="en-US" smtClean="0"/>
              <a:t>9/10/2024</a:t>
            </a:fld>
            <a:endParaRPr lang="en-US"/>
          </a:p>
        </p:txBody>
      </p:sp>
      <p:sp>
        <p:nvSpPr>
          <p:cNvPr id="5" name="Footer Placeholder 4">
            <a:extLst>
              <a:ext uri="{FF2B5EF4-FFF2-40B4-BE49-F238E27FC236}">
                <a16:creationId xmlns:a16="http://schemas.microsoft.com/office/drawing/2014/main" id="{3A3BDC32-DB5B-BF60-9CAD-7676DED921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02A38A-47FC-E290-7CA2-6E2AC3D3F7A0}"/>
              </a:ext>
            </a:extLst>
          </p:cNvPr>
          <p:cNvSpPr>
            <a:spLocks noGrp="1"/>
          </p:cNvSpPr>
          <p:nvPr>
            <p:ph type="sldNum" sz="quarter" idx="12"/>
          </p:nvPr>
        </p:nvSpPr>
        <p:spPr/>
        <p:txBody>
          <a:bodyPr/>
          <a:lstStyle/>
          <a:p>
            <a:fld id="{FDE460D8-6DCC-4DAB-9D65-EE00094021EC}" type="slidenum">
              <a:rPr lang="en-US" smtClean="0"/>
              <a:t>‹#›</a:t>
            </a:fld>
            <a:endParaRPr lang="en-US"/>
          </a:p>
        </p:txBody>
      </p:sp>
    </p:spTree>
    <p:extLst>
      <p:ext uri="{BB962C8B-B14F-4D97-AF65-F5344CB8AC3E}">
        <p14:creationId xmlns:p14="http://schemas.microsoft.com/office/powerpoint/2010/main" val="705947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0D9490-6691-2029-9AFC-A161CF11DC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6AF095A-AAAD-C1C4-0983-C55654F104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03E4C5-AF40-CEF9-8B85-DAD8F8EFCB5C}"/>
              </a:ext>
            </a:extLst>
          </p:cNvPr>
          <p:cNvSpPr>
            <a:spLocks noGrp="1"/>
          </p:cNvSpPr>
          <p:nvPr>
            <p:ph type="dt" sz="half" idx="10"/>
          </p:nvPr>
        </p:nvSpPr>
        <p:spPr/>
        <p:txBody>
          <a:bodyPr/>
          <a:lstStyle/>
          <a:p>
            <a:fld id="{E95A6B52-7A3C-4E27-9969-9DC797966D42}" type="datetimeFigureOut">
              <a:rPr lang="en-US" smtClean="0"/>
              <a:t>9/10/2024</a:t>
            </a:fld>
            <a:endParaRPr lang="en-US"/>
          </a:p>
        </p:txBody>
      </p:sp>
      <p:sp>
        <p:nvSpPr>
          <p:cNvPr id="5" name="Footer Placeholder 4">
            <a:extLst>
              <a:ext uri="{FF2B5EF4-FFF2-40B4-BE49-F238E27FC236}">
                <a16:creationId xmlns:a16="http://schemas.microsoft.com/office/drawing/2014/main" id="{35B330D8-7734-E3E0-6540-B2C24D8AD8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8776F5-B8CC-F16B-0971-F0847CD26DC7}"/>
              </a:ext>
            </a:extLst>
          </p:cNvPr>
          <p:cNvSpPr>
            <a:spLocks noGrp="1"/>
          </p:cNvSpPr>
          <p:nvPr>
            <p:ph type="sldNum" sz="quarter" idx="12"/>
          </p:nvPr>
        </p:nvSpPr>
        <p:spPr/>
        <p:txBody>
          <a:bodyPr/>
          <a:lstStyle/>
          <a:p>
            <a:fld id="{FDE460D8-6DCC-4DAB-9D65-EE00094021EC}" type="slidenum">
              <a:rPr lang="en-US" smtClean="0"/>
              <a:t>‹#›</a:t>
            </a:fld>
            <a:endParaRPr lang="en-US"/>
          </a:p>
        </p:txBody>
      </p:sp>
    </p:spTree>
    <p:extLst>
      <p:ext uri="{BB962C8B-B14F-4D97-AF65-F5344CB8AC3E}">
        <p14:creationId xmlns:p14="http://schemas.microsoft.com/office/powerpoint/2010/main" val="822030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5CDC7A-2B5C-8656-DAE5-881B8E1872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816423-211B-FE66-6007-36DC0B9F50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ED0E9D-58B3-371D-FCCD-D723324219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5A6B52-7A3C-4E27-9969-9DC797966D42}" type="datetimeFigureOut">
              <a:rPr lang="en-US" smtClean="0"/>
              <a:t>9/10/2024</a:t>
            </a:fld>
            <a:endParaRPr lang="en-US"/>
          </a:p>
        </p:txBody>
      </p:sp>
      <p:sp>
        <p:nvSpPr>
          <p:cNvPr id="5" name="Footer Placeholder 4">
            <a:extLst>
              <a:ext uri="{FF2B5EF4-FFF2-40B4-BE49-F238E27FC236}">
                <a16:creationId xmlns:a16="http://schemas.microsoft.com/office/drawing/2014/main" id="{08296B99-B3FF-3144-8EB1-1E9CB7D394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A2AAC74-87B7-33C1-8A2E-0DD48C7350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E460D8-6DCC-4DAB-9D65-EE00094021EC}" type="slidenum">
              <a:rPr lang="en-US" smtClean="0"/>
              <a:t>‹#›</a:t>
            </a:fld>
            <a:endParaRPr lang="en-US"/>
          </a:p>
        </p:txBody>
      </p:sp>
    </p:spTree>
    <p:extLst>
      <p:ext uri="{BB962C8B-B14F-4D97-AF65-F5344CB8AC3E}">
        <p14:creationId xmlns:p14="http://schemas.microsoft.com/office/powerpoint/2010/main" val="12663616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1.png"/><Relationship Id="rId7" Type="http://schemas.openxmlformats.org/officeDocument/2006/relationships/diagramQuickStyle" Target="../diagrams/quickStyle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9.png"/><Relationship Id="rId9" Type="http://schemas.microsoft.com/office/2007/relationships/diagramDrawing" Target="../diagrams/drawing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who.int/publications/i/item/who-outbreak-communication-guidelines"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www.socialscienceinaction.org/" TargetMode="External"/><Relationship Id="rId5" Type="http://schemas.openxmlformats.org/officeDocument/2006/relationships/hyperlink" Target="https://openwho.org/courses/social-net" TargetMode="External"/><Relationship Id="rId4" Type="http://schemas.openxmlformats.org/officeDocument/2006/relationships/hyperlink" Target="https://www.who.int/emergencies/risk-communicatio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1" name="Rectangle 1040">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C71CC749-6FED-2CFE-CBFB-7D135A98F1DB}"/>
              </a:ext>
            </a:extLst>
          </p:cNvPr>
          <p:cNvSpPr>
            <a:spLocks noGrp="1" noChangeArrowheads="1"/>
          </p:cNvSpPr>
          <p:nvPr>
            <p:ph type="ctrTitle"/>
          </p:nvPr>
        </p:nvSpPr>
        <p:spPr bwMode="auto">
          <a:xfrm>
            <a:off x="638881" y="670218"/>
            <a:ext cx="10909640" cy="10658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fontScale="90000"/>
          </a:bodyPr>
          <a:lstStyle/>
          <a:p>
            <a:pPr eaLnBrk="0" fontAlgn="base" hangingPunct="0">
              <a:spcAft>
                <a:spcPct val="0"/>
              </a:spcAft>
            </a:pPr>
            <a:br>
              <a:rPr kumimoji="0" lang="en-US" altLang="en-US" sz="1700" b="1" i="0" u="none" strike="noStrike" cap="none" normalizeH="0" baseline="0" dirty="0">
                <a:ln>
                  <a:noFill/>
                </a:ln>
                <a:effectLst/>
                <a:latin typeface="Arial" panose="020B0604020202020204" pitchFamily="34" charset="0"/>
              </a:rPr>
            </a:br>
            <a:r>
              <a:rPr kumimoji="0" lang="fr-FR" altLang="en-US" sz="1700" b="1" i="0" u="none" strike="noStrike" cap="none" normalizeH="0" baseline="0" dirty="0">
                <a:ln>
                  <a:noFill/>
                </a:ln>
                <a:effectLst/>
                <a:latin typeface="Arial" panose="020B0604020202020204" pitchFamily="34" charset="0"/>
              </a:rPr>
              <a:t>Engagement communautaire pour améliorer la demande a la vaccination des professionnels de santé &amp; des travailleurs de 1ere ligne.</a:t>
            </a:r>
            <a:br>
              <a:rPr kumimoji="0" lang="en-US" altLang="en-US" sz="1700" b="0" i="0" u="none" strike="noStrike" cap="none" normalizeH="0" baseline="0" dirty="0">
                <a:ln>
                  <a:noFill/>
                </a:ln>
                <a:effectLst/>
                <a:latin typeface="Arial" panose="020B0604020202020204" pitchFamily="34" charset="0"/>
              </a:rPr>
            </a:br>
            <a:br>
              <a:rPr kumimoji="0" lang="en-US" altLang="en-US" sz="1700" b="0" i="0" u="none" strike="noStrike" cap="none" normalizeH="0" baseline="0" dirty="0">
                <a:ln>
                  <a:noFill/>
                </a:ln>
                <a:effectLst/>
                <a:latin typeface="Arial" panose="020B0604020202020204" pitchFamily="34" charset="0"/>
              </a:rPr>
            </a:br>
            <a:r>
              <a:rPr kumimoji="0" lang="en-US" altLang="en-US" sz="1700" b="0" i="0" u="none" strike="noStrike" cap="none" normalizeH="0" baseline="0" dirty="0">
                <a:ln>
                  <a:noFill/>
                </a:ln>
                <a:effectLst/>
                <a:latin typeface="Arial" panose="020B0604020202020204" pitchFamily="34" charset="0"/>
              </a:rPr>
              <a:t>Reunion des </a:t>
            </a:r>
            <a:r>
              <a:rPr kumimoji="0" lang="en-US" altLang="en-US" sz="1700" b="0" i="0" u="none" strike="noStrike" cap="none" normalizeH="0" baseline="0" dirty="0" err="1">
                <a:ln>
                  <a:noFill/>
                </a:ln>
                <a:effectLst/>
                <a:latin typeface="Arial" panose="020B0604020202020204" pitchFamily="34" charset="0"/>
              </a:rPr>
              <a:t>directeurs</a:t>
            </a:r>
            <a:r>
              <a:rPr kumimoji="0" lang="en-US" altLang="en-US" sz="1700" b="0" i="0" u="none" strike="noStrike" cap="none" normalizeH="0" baseline="0" dirty="0">
                <a:ln>
                  <a:noFill/>
                </a:ln>
                <a:effectLst/>
                <a:latin typeface="Arial" panose="020B0604020202020204" pitchFamily="34" charset="0"/>
              </a:rPr>
              <a:t> du PEV, 9 - 12 </a:t>
            </a:r>
            <a:r>
              <a:rPr kumimoji="0" lang="en-US" altLang="en-US" sz="1700" b="0" i="0" u="none" strike="noStrike" cap="none" normalizeH="0" baseline="0" dirty="0" err="1">
                <a:ln>
                  <a:noFill/>
                </a:ln>
                <a:effectLst/>
                <a:latin typeface="Arial" panose="020B0604020202020204" pitchFamily="34" charset="0"/>
              </a:rPr>
              <a:t>Septembre</a:t>
            </a:r>
            <a:r>
              <a:rPr kumimoji="0" lang="en-US" altLang="en-US" sz="1700" b="0" i="0" u="none" strike="noStrike" cap="none" normalizeH="0" baseline="0" dirty="0">
                <a:ln>
                  <a:noFill/>
                </a:ln>
                <a:effectLst/>
                <a:latin typeface="Arial" panose="020B0604020202020204" pitchFamily="34" charset="0"/>
              </a:rPr>
              <a:t> 2024, </a:t>
            </a:r>
            <a:r>
              <a:rPr lang="en-US" altLang="en-US" sz="1700" dirty="0">
                <a:latin typeface="Arial" panose="020B0604020202020204" pitchFamily="34" charset="0"/>
              </a:rPr>
              <a:t>Kinshasa</a:t>
            </a:r>
            <a:br>
              <a:rPr lang="en-US" sz="1700" dirty="0"/>
            </a:br>
            <a:endParaRPr kumimoji="0" lang="en-US" altLang="en-US" sz="1700" b="0" i="0" u="none" strike="noStrike" cap="none" normalizeH="0" baseline="0" dirty="0">
              <a:ln>
                <a:noFill/>
              </a:ln>
              <a:effectLst/>
              <a:latin typeface="Arial" panose="020B0604020202020204" pitchFamily="34" charset="0"/>
            </a:endParaRPr>
          </a:p>
        </p:txBody>
      </p:sp>
      <p:sp>
        <p:nvSpPr>
          <p:cNvPr id="3" name="Subtitle 2">
            <a:extLst>
              <a:ext uri="{FF2B5EF4-FFF2-40B4-BE49-F238E27FC236}">
                <a16:creationId xmlns:a16="http://schemas.microsoft.com/office/drawing/2014/main" id="{DDAF497D-DF0A-3464-36DF-630742C9AF73}"/>
              </a:ext>
            </a:extLst>
          </p:cNvPr>
          <p:cNvSpPr>
            <a:spLocks noGrp="1"/>
          </p:cNvSpPr>
          <p:nvPr>
            <p:ph type="subTitle" idx="1"/>
          </p:nvPr>
        </p:nvSpPr>
        <p:spPr>
          <a:xfrm>
            <a:off x="638881" y="1851381"/>
            <a:ext cx="10909643" cy="552659"/>
          </a:xfrm>
        </p:spPr>
        <p:txBody>
          <a:bodyPr anchor="ctr">
            <a:normAutofit fontScale="70000" lnSpcReduction="20000"/>
          </a:bodyPr>
          <a:lstStyle/>
          <a:p>
            <a:pPr marL="0" marR="0">
              <a:spcBef>
                <a:spcPts val="0"/>
              </a:spcBef>
              <a:spcAft>
                <a:spcPts val="600"/>
              </a:spcAft>
            </a:pPr>
            <a:r>
              <a:rPr lang="en-US" sz="2300" b="1" kern="0" dirty="0">
                <a:effectLst/>
                <a:latin typeface="Calibri" panose="020F0502020204030204" pitchFamily="34" charset="0"/>
                <a:ea typeface="Calibri" panose="020F0502020204030204" pitchFamily="34" charset="0"/>
                <a:cs typeface="Calibri" panose="020F0502020204030204" pitchFamily="34" charset="0"/>
              </a:rPr>
              <a:t>Social and Behavior Change (SBC) - Immunization Demand</a:t>
            </a:r>
            <a:endParaRPr lang="en-US" sz="2300" kern="0" dirty="0">
              <a:effectLst/>
              <a:latin typeface="Calibri" panose="020F0502020204030204" pitchFamily="34" charset="0"/>
              <a:ea typeface="Calibri" panose="020F0502020204030204" pitchFamily="34" charset="0"/>
              <a:cs typeface="Calibri" panose="020F0502020204030204" pitchFamily="34" charset="0"/>
            </a:endParaRPr>
          </a:p>
          <a:p>
            <a:pPr marL="0" marR="0">
              <a:spcBef>
                <a:spcPts val="0"/>
              </a:spcBef>
              <a:spcAft>
                <a:spcPts val="600"/>
              </a:spcAft>
            </a:pPr>
            <a:r>
              <a:rPr lang="en-US" sz="2300" b="1" kern="0" dirty="0">
                <a:latin typeface="Calibri" panose="020F0502020204030204" pitchFamily="34" charset="0"/>
                <a:ea typeface="Calibri" panose="020F0502020204030204" pitchFamily="34" charset="0"/>
                <a:cs typeface="Calibri" panose="020F0502020204030204" pitchFamily="34" charset="0"/>
              </a:rPr>
              <a:t>UNICEF </a:t>
            </a:r>
            <a:r>
              <a:rPr lang="en-US" sz="2300" b="1" kern="0" dirty="0">
                <a:effectLst/>
                <a:latin typeface="Calibri" panose="020F0502020204030204" pitchFamily="34" charset="0"/>
                <a:ea typeface="Calibri" panose="020F0502020204030204" pitchFamily="34" charset="0"/>
                <a:cs typeface="Calibri" panose="020F0502020204030204" pitchFamily="34" charset="0"/>
              </a:rPr>
              <a:t>Regional Office,  WCAR,  Dakar </a:t>
            </a:r>
            <a:endParaRPr lang="en-US" sz="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43"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1800088"/>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65874C1B-2B77-7757-6D84-1DC4403D3BD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71679" y="2619784"/>
            <a:ext cx="3600041" cy="3600041"/>
          </a:xfrm>
          <a:prstGeom prst="rect">
            <a:avLst/>
          </a:prstGeom>
        </p:spPr>
      </p:pic>
      <p:pic>
        <p:nvPicPr>
          <p:cNvPr id="8" name="Picture 7">
            <a:extLst>
              <a:ext uri="{FF2B5EF4-FFF2-40B4-BE49-F238E27FC236}">
                <a16:creationId xmlns:a16="http://schemas.microsoft.com/office/drawing/2014/main" id="{74DFB303-2E4C-CF17-B949-5F803AD50A98}"/>
              </a:ext>
            </a:extLst>
          </p:cNvPr>
          <p:cNvPicPr>
            <a:picLocks noChangeAspect="1"/>
          </p:cNvPicPr>
          <p:nvPr/>
        </p:nvPicPr>
        <p:blipFill rotWithShape="1">
          <a:blip r:embed="rId3"/>
          <a:srcRect r="-1" b="14043"/>
          <a:stretch/>
        </p:blipFill>
        <p:spPr>
          <a:xfrm>
            <a:off x="4216908" y="2814489"/>
            <a:ext cx="3758184" cy="3210631"/>
          </a:xfrm>
          <a:prstGeom prst="rect">
            <a:avLst/>
          </a:prstGeom>
        </p:spPr>
      </p:pic>
      <p:pic>
        <p:nvPicPr>
          <p:cNvPr id="1031" name="Picture 7" descr="Ebola Attacked Congo Again. But Now Congo Seems to Be Winning - The New ...">
            <a:extLst>
              <a:ext uri="{FF2B5EF4-FFF2-40B4-BE49-F238E27FC236}">
                <a16:creationId xmlns:a16="http://schemas.microsoft.com/office/drawing/2014/main" id="{17FCCBF3-3206-05D6-E930-04ED8A016BB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1768" r="11763" b="1"/>
          <a:stretch/>
        </p:blipFill>
        <p:spPr bwMode="auto">
          <a:xfrm>
            <a:off x="8141208" y="2709475"/>
            <a:ext cx="3758184" cy="34206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8466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5" name="Arc 34">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9EBEF22-96A5-5BCB-C1A0-601372B2F49E}"/>
              </a:ext>
            </a:extLst>
          </p:cNvPr>
          <p:cNvSpPr>
            <a:spLocks noGrp="1"/>
          </p:cNvSpPr>
          <p:nvPr>
            <p:ph type="title"/>
          </p:nvPr>
        </p:nvSpPr>
        <p:spPr>
          <a:xfrm>
            <a:off x="5894962" y="479493"/>
            <a:ext cx="5458838" cy="465387"/>
          </a:xfrm>
        </p:spPr>
        <p:txBody>
          <a:bodyPr>
            <a:normAutofit fontScale="90000"/>
          </a:bodyPr>
          <a:lstStyle/>
          <a:p>
            <a:r>
              <a:rPr lang="en-US" b="1" dirty="0"/>
              <a:t>Plan</a:t>
            </a:r>
          </a:p>
        </p:txBody>
      </p:sp>
      <p:sp>
        <p:nvSpPr>
          <p:cNvPr id="37" name="Freeform: Shape 36">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a:extLst>
              <a:ext uri="{FF2B5EF4-FFF2-40B4-BE49-F238E27FC236}">
                <a16:creationId xmlns:a16="http://schemas.microsoft.com/office/drawing/2014/main" id="{00A76D8E-5EFF-AEE0-94F3-137CBE0FEE7A}"/>
              </a:ext>
            </a:extLst>
          </p:cNvPr>
          <p:cNvPicPr>
            <a:picLocks noChangeAspect="1"/>
          </p:cNvPicPr>
          <p:nvPr/>
        </p:nvPicPr>
        <p:blipFill>
          <a:blip r:embed="rId3" cstate="screen">
            <a:extLst>
              <a:ext uri="{28A0092B-C50C-407E-A947-70E740481C1C}">
                <a14:useLocalDpi xmlns:a14="http://schemas.microsoft.com/office/drawing/2010/main"/>
              </a:ext>
            </a:extLst>
          </a:blip>
          <a:srcRect l="3795" r="-2" b="-2"/>
          <a:stretch/>
        </p:blipFill>
        <p:spPr>
          <a:xfrm>
            <a:off x="703182" y="861213"/>
            <a:ext cx="3941691" cy="4965829"/>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482D25F3-1D2C-0EC5-3CEC-280B26B9726F}"/>
              </a:ext>
            </a:extLst>
          </p:cNvPr>
          <p:cNvSpPr>
            <a:spLocks noGrp="1"/>
          </p:cNvSpPr>
          <p:nvPr>
            <p:ph idx="1"/>
          </p:nvPr>
        </p:nvSpPr>
        <p:spPr>
          <a:xfrm>
            <a:off x="4815281" y="1107440"/>
            <a:ext cx="6538519" cy="5069523"/>
          </a:xfrm>
        </p:spPr>
        <p:txBody>
          <a:bodyPr>
            <a:normAutofit/>
          </a:bodyPr>
          <a:lstStyle/>
          <a:p>
            <a:pPr algn="just"/>
            <a:r>
              <a:rPr lang="fr-FR" sz="1400" kern="100" dirty="0">
                <a:effectLst/>
                <a:latin typeface="Calibri" panose="020F0502020204030204" pitchFamily="34" charset="0"/>
                <a:ea typeface="Calibri" panose="020F0502020204030204" pitchFamily="34" charset="0"/>
                <a:cs typeface="Times New Roman" panose="02020603050405020304" pitchFamily="18" charset="0"/>
              </a:rPr>
              <a:t>Introduction/Contexte</a:t>
            </a:r>
          </a:p>
          <a:p>
            <a:pPr algn="just"/>
            <a:r>
              <a:rPr lang="fr-FR" sz="1400" kern="100" dirty="0">
                <a:effectLst/>
                <a:latin typeface="Calibri" panose="020F0502020204030204" pitchFamily="34" charset="0"/>
                <a:ea typeface="Calibri" panose="020F0502020204030204" pitchFamily="34" charset="0"/>
                <a:cs typeface="Times New Roman" panose="02020603050405020304" pitchFamily="18" charset="0"/>
              </a:rPr>
              <a:t>Importance de la vaccination pour les professionnels de santé et de première ligne</a:t>
            </a:r>
          </a:p>
          <a:p>
            <a:pPr algn="just"/>
            <a:r>
              <a:rPr lang="fr-FR" sz="1400" kern="100" dirty="0">
                <a:effectLst/>
                <a:latin typeface="Calibri" panose="020F0502020204030204" pitchFamily="34" charset="0"/>
                <a:ea typeface="Calibri" panose="020F0502020204030204" pitchFamily="34" charset="0"/>
                <a:cs typeface="Times New Roman" panose="02020603050405020304" pitchFamily="18" charset="0"/>
              </a:rPr>
              <a:t>Défis actuels</a:t>
            </a:r>
          </a:p>
          <a:p>
            <a:pPr algn="just"/>
            <a:r>
              <a:rPr lang="fr-FR" altLang="en-US" sz="1400" kern="100" dirty="0">
                <a:latin typeface="Calibri" panose="020F0502020204030204" pitchFamily="34" charset="0"/>
                <a:ea typeface="Calibri" panose="020F0502020204030204" pitchFamily="34" charset="0"/>
                <a:cs typeface="Times New Roman" panose="02020603050405020304" pitchFamily="18" charset="0"/>
              </a:rPr>
              <a:t>L</a:t>
            </a:r>
            <a:r>
              <a:rPr lang="fr-FR" sz="1400" kern="100" dirty="0">
                <a:latin typeface="Calibri" panose="020F0502020204030204" pitchFamily="34" charset="0"/>
                <a:ea typeface="Calibri" panose="020F0502020204030204" pitchFamily="34" charset="0"/>
                <a:cs typeface="Times New Roman" panose="02020603050405020304" pitchFamily="18" charset="0"/>
              </a:rPr>
              <a:t>es raisons courantes de l'hésitation à se faire vacciner contre le virus Ebola chez les travailleurs de première ligne et les professionnels de la santé</a:t>
            </a:r>
            <a:endParaRPr lang="en-US" sz="1400" kern="100" dirty="0">
              <a:latin typeface="Calibri" panose="020F0502020204030204" pitchFamily="34" charset="0"/>
              <a:ea typeface="Calibri" panose="020F0502020204030204" pitchFamily="34" charset="0"/>
              <a:cs typeface="Times New Roman" panose="02020603050405020304" pitchFamily="18" charset="0"/>
            </a:endParaRPr>
          </a:p>
          <a:p>
            <a:pPr algn="just"/>
            <a:r>
              <a:rPr lang="en-US" sz="1400" kern="100" dirty="0" err="1">
                <a:latin typeface="Calibri" panose="020F0502020204030204" pitchFamily="34" charset="0"/>
                <a:ea typeface="Calibri" panose="020F0502020204030204" pitchFamily="34" charset="0"/>
                <a:cs typeface="Times New Roman" panose="02020603050405020304" pitchFamily="18" charset="0"/>
              </a:rPr>
              <a:t>Quelques</a:t>
            </a:r>
            <a:r>
              <a:rPr lang="en-US" sz="1400" kern="100" dirty="0">
                <a:latin typeface="Calibri" panose="020F0502020204030204" pitchFamily="34" charset="0"/>
                <a:ea typeface="Calibri" panose="020F0502020204030204" pitchFamily="34" charset="0"/>
                <a:cs typeface="Times New Roman" panose="02020603050405020304" pitchFamily="18" charset="0"/>
              </a:rPr>
              <a:t> </a:t>
            </a:r>
            <a:r>
              <a:rPr lang="en-US" sz="1400" kern="100" dirty="0" err="1">
                <a:latin typeface="Calibri" panose="020F0502020204030204" pitchFamily="34" charset="0"/>
                <a:ea typeface="Calibri" panose="020F0502020204030204" pitchFamily="34" charset="0"/>
                <a:cs typeface="Times New Roman" panose="02020603050405020304" pitchFamily="18" charset="0"/>
              </a:rPr>
              <a:t>stratégies</a:t>
            </a:r>
            <a:r>
              <a:rPr lang="en-US" sz="1400" kern="100" dirty="0">
                <a:latin typeface="Calibri" panose="020F0502020204030204" pitchFamily="34" charset="0"/>
                <a:ea typeface="Calibri" panose="020F0502020204030204" pitchFamily="34" charset="0"/>
                <a:cs typeface="Times New Roman" panose="02020603050405020304" pitchFamily="18" charset="0"/>
              </a:rPr>
              <a:t> pour </a:t>
            </a:r>
            <a:r>
              <a:rPr lang="en-US" sz="1400" kern="100" dirty="0" err="1">
                <a:latin typeface="Calibri" panose="020F0502020204030204" pitchFamily="34" charset="0"/>
                <a:ea typeface="Calibri" panose="020F0502020204030204" pitchFamily="34" charset="0"/>
                <a:cs typeface="Times New Roman" panose="02020603050405020304" pitchFamily="18" charset="0"/>
              </a:rPr>
              <a:t>réduire</a:t>
            </a:r>
            <a:r>
              <a:rPr lang="en-US" sz="1400" kern="100" dirty="0">
                <a:latin typeface="Calibri" panose="020F0502020204030204" pitchFamily="34" charset="0"/>
                <a:ea typeface="Calibri" panose="020F0502020204030204" pitchFamily="34" charset="0"/>
                <a:cs typeface="Times New Roman" panose="02020603050405020304" pitchFamily="18" charset="0"/>
              </a:rPr>
              <a:t> </a:t>
            </a:r>
            <a:r>
              <a:rPr lang="en-US" sz="1400" kern="100" dirty="0" err="1">
                <a:latin typeface="Calibri" panose="020F0502020204030204" pitchFamily="34" charset="0"/>
                <a:ea typeface="Calibri" panose="020F0502020204030204" pitchFamily="34" charset="0"/>
                <a:cs typeface="Times New Roman" panose="02020603050405020304" pitchFamily="18" charset="0"/>
              </a:rPr>
              <a:t>l’hesitation</a:t>
            </a:r>
            <a:endParaRPr lang="en-US" sz="1400" kern="100" dirty="0">
              <a:latin typeface="Calibri" panose="020F0502020204030204" pitchFamily="34" charset="0"/>
              <a:ea typeface="Calibri" panose="020F0502020204030204" pitchFamily="34" charset="0"/>
              <a:cs typeface="Times New Roman" panose="02020603050405020304" pitchFamily="18" charset="0"/>
            </a:endParaRPr>
          </a:p>
          <a:p>
            <a:pPr algn="just"/>
            <a:r>
              <a:rPr lang="fr-FR" sz="1400" kern="100" dirty="0">
                <a:latin typeface="Calibri" panose="020F0502020204030204" pitchFamily="34" charset="0"/>
                <a:ea typeface="Calibri" panose="020F0502020204030204" pitchFamily="34" charset="0"/>
                <a:cs typeface="Times New Roman" panose="02020603050405020304" pitchFamily="18" charset="0"/>
              </a:rPr>
              <a:t>La vaccination des professionnels de santé renforce la confiance au sein de la communauté </a:t>
            </a:r>
          </a:p>
          <a:p>
            <a:pPr algn="just"/>
            <a:r>
              <a:rPr lang="fr-FR" sz="1400" kern="100" dirty="0">
                <a:effectLst/>
                <a:latin typeface="Calibri" panose="020F0502020204030204" pitchFamily="34" charset="0"/>
                <a:ea typeface="Calibri" panose="020F0502020204030204" pitchFamily="34" charset="0"/>
                <a:cs typeface="Times New Roman" panose="02020603050405020304" pitchFamily="18" charset="0"/>
              </a:rPr>
              <a:t>Exemples de stratégies d'engagement communautaire réussies pour le vaccin contre Ebola parmi les professionnels de santé ou les travailleurs de première ligne</a:t>
            </a:r>
          </a:p>
          <a:p>
            <a:pPr algn="just"/>
            <a:r>
              <a:rPr lang="fr-FR" sz="1400" kern="100" dirty="0">
                <a:effectLst/>
                <a:latin typeface="Calibri" panose="020F0502020204030204" pitchFamily="34" charset="0"/>
                <a:ea typeface="Calibri" panose="020F0502020204030204" pitchFamily="34" charset="0"/>
                <a:cs typeface="Times New Roman" panose="02020603050405020304" pitchFamily="18" charset="0"/>
              </a:rPr>
              <a:t>Domaine de messages clés pour les professionnels de santé concernant le vaccin</a:t>
            </a:r>
          </a:p>
          <a:p>
            <a:pPr algn="just"/>
            <a:r>
              <a:rPr lang="fr-FR" sz="1400" kern="100" dirty="0">
                <a:effectLst/>
                <a:latin typeface="Calibri" panose="020F0502020204030204" pitchFamily="34" charset="0"/>
                <a:ea typeface="Calibri" panose="020F0502020204030204" pitchFamily="34" charset="0"/>
                <a:cs typeface="Times New Roman" panose="02020603050405020304" pitchFamily="18" charset="0"/>
              </a:rPr>
              <a:t>Stratégies pour atteindre et impliquer efficacement les travailleurs de première ligne</a:t>
            </a:r>
          </a:p>
          <a:p>
            <a:pPr algn="just"/>
            <a:r>
              <a:rPr lang="fr-FR" sz="1400" kern="100" dirty="0">
                <a:effectLst/>
                <a:latin typeface="Calibri" panose="020F0502020204030204" pitchFamily="34" charset="0"/>
                <a:ea typeface="Calibri" panose="020F0502020204030204" pitchFamily="34" charset="0"/>
                <a:cs typeface="Times New Roman" panose="02020603050405020304" pitchFamily="18" charset="0"/>
              </a:rPr>
              <a:t>Appel à l'action : Importance des efforts soutenus et de la communication continue</a:t>
            </a:r>
          </a:p>
          <a:p>
            <a:pPr algn="just"/>
            <a:r>
              <a:rPr lang="fr-FR" sz="1400" kern="100" dirty="0">
                <a:latin typeface="Calibri" panose="020F0502020204030204" pitchFamily="34" charset="0"/>
                <a:ea typeface="Calibri" panose="020F0502020204030204" pitchFamily="34" charset="0"/>
                <a:cs typeface="Times New Roman" panose="02020603050405020304" pitchFamily="18" charset="0"/>
              </a:rPr>
              <a:t>Exemples de </a:t>
            </a:r>
            <a:r>
              <a:rPr lang="fr-FR" sz="1400" kern="100" dirty="0" err="1">
                <a:latin typeface="Calibri" panose="020F0502020204030204" pitchFamily="34" charset="0"/>
                <a:ea typeface="Calibri" panose="020F0502020204030204" pitchFamily="34" charset="0"/>
                <a:cs typeface="Times New Roman" panose="02020603050405020304" pitchFamily="18" charset="0"/>
              </a:rPr>
              <a:t>materiels</a:t>
            </a:r>
            <a:r>
              <a:rPr lang="fr-FR" sz="1400" kern="100" dirty="0">
                <a:latin typeface="Calibri" panose="020F0502020204030204" pitchFamily="34" charset="0"/>
                <a:ea typeface="Calibri" panose="020F0502020204030204" pitchFamily="34" charset="0"/>
                <a:cs typeface="Times New Roman" panose="02020603050405020304" pitchFamily="18" charset="0"/>
              </a:rPr>
              <a:t> de communication pour sensibiliser les professionnels de sante</a:t>
            </a:r>
          </a:p>
          <a:p>
            <a:pPr algn="just"/>
            <a:r>
              <a:rPr lang="fr-FR" sz="1400" kern="100" dirty="0">
                <a:latin typeface="Calibri" panose="020F0502020204030204" pitchFamily="34" charset="0"/>
                <a:ea typeface="Calibri" panose="020F0502020204030204" pitchFamily="34" charset="0"/>
                <a:cs typeface="Times New Roman" panose="02020603050405020304" pitchFamily="18" charset="0"/>
              </a:rPr>
              <a:t>Conclusion &amp; quelques ressources </a:t>
            </a:r>
            <a:br>
              <a:rPr lang="en-US" altLang="en-US" sz="1300" kern="100" dirty="0">
                <a:latin typeface="Calibri" panose="020F0502020204030204" pitchFamily="34" charset="0"/>
                <a:ea typeface="Calibri" panose="020F0502020204030204" pitchFamily="34" charset="0"/>
                <a:cs typeface="Times New Roman" panose="02020603050405020304" pitchFamily="18" charset="0"/>
              </a:rPr>
            </a:br>
            <a:endParaRPr lang="en-US" sz="1300" kern="100" dirty="0">
              <a:latin typeface="Calibri" panose="020F0502020204030204" pitchFamily="34" charset="0"/>
              <a:ea typeface="Calibri" panose="020F0502020204030204" pitchFamily="34" charset="0"/>
              <a:cs typeface="Times New Roman" panose="02020603050405020304" pitchFamily="18" charset="0"/>
            </a:endParaRPr>
          </a:p>
          <a:p>
            <a:endParaRPr lang="en-US" sz="1300" dirty="0"/>
          </a:p>
        </p:txBody>
      </p:sp>
    </p:spTree>
    <p:extLst>
      <p:ext uri="{BB962C8B-B14F-4D97-AF65-F5344CB8AC3E}">
        <p14:creationId xmlns:p14="http://schemas.microsoft.com/office/powerpoint/2010/main" val="3447012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3A39B5-4835-D3FB-3A12-343CFBA7A3F0}"/>
              </a:ext>
            </a:extLst>
          </p:cNvPr>
          <p:cNvSpPr>
            <a:spLocks noGrp="1"/>
          </p:cNvSpPr>
          <p:nvPr>
            <p:ph type="title"/>
          </p:nvPr>
        </p:nvSpPr>
        <p:spPr>
          <a:xfrm>
            <a:off x="638881" y="457200"/>
            <a:ext cx="10909640" cy="841248"/>
          </a:xfrm>
        </p:spPr>
        <p:txBody>
          <a:bodyPr vert="horz" lIns="91440" tIns="45720" rIns="91440" bIns="45720" rtlCol="0" anchor="ctr">
            <a:normAutofit fontScale="90000"/>
          </a:bodyPr>
          <a:lstStyle/>
          <a:p>
            <a:pPr algn="ctr"/>
            <a:r>
              <a:rPr lang="en-US" sz="6600" dirty="0"/>
              <a:t>La perception </a:t>
            </a:r>
            <a:r>
              <a:rPr lang="en-US" sz="6600" dirty="0" err="1"/>
              <a:t>en</a:t>
            </a:r>
            <a:r>
              <a:rPr lang="en-US" sz="6600" dirty="0"/>
              <a:t> communication</a:t>
            </a:r>
          </a:p>
        </p:txBody>
      </p:sp>
      <p:sp>
        <p:nvSpPr>
          <p:cNvPr id="29"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DFD0CA1F-93DB-5FDA-A799-C9826DB1C4E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24356" y="2286000"/>
            <a:ext cx="3605784" cy="3962400"/>
          </a:xfrm>
          <a:prstGeom prst="rect">
            <a:avLst/>
          </a:prstGeom>
        </p:spPr>
      </p:pic>
      <p:pic>
        <p:nvPicPr>
          <p:cNvPr id="20" name="Content Placeholder 19" descr="Cartoon of two men pointing at a few sticks&#10;&#10;Description automatically generated">
            <a:extLst>
              <a:ext uri="{FF2B5EF4-FFF2-40B4-BE49-F238E27FC236}">
                <a16:creationId xmlns:a16="http://schemas.microsoft.com/office/drawing/2014/main" id="{051EA5F6-EE45-0B61-B9E4-C3CAC61FF51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217871" y="2286000"/>
            <a:ext cx="5809793" cy="3962400"/>
          </a:xfrm>
          <a:prstGeom prst="rect">
            <a:avLst/>
          </a:prstGeom>
        </p:spPr>
      </p:pic>
    </p:spTree>
    <p:extLst>
      <p:ext uri="{BB962C8B-B14F-4D97-AF65-F5344CB8AC3E}">
        <p14:creationId xmlns:p14="http://schemas.microsoft.com/office/powerpoint/2010/main" val="2634939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2BF7C-D691-CDBD-97D7-346B17663874}"/>
              </a:ext>
            </a:extLst>
          </p:cNvPr>
          <p:cNvSpPr>
            <a:spLocks noGrp="1"/>
          </p:cNvSpPr>
          <p:nvPr>
            <p:ph type="title"/>
          </p:nvPr>
        </p:nvSpPr>
        <p:spPr>
          <a:xfrm>
            <a:off x="798796" y="156528"/>
            <a:ext cx="10594407" cy="725329"/>
          </a:xfrm>
        </p:spPr>
        <p:txBody>
          <a:bodyPr>
            <a:normAutofit fontScale="90000"/>
          </a:bodyPr>
          <a:lstStyle/>
          <a:p>
            <a:pPr algn="ctr"/>
            <a:br>
              <a:rPr lang="en-US" sz="3200" b="1" i="0" baseline="0" dirty="0"/>
            </a:br>
            <a:br>
              <a:rPr lang="en-US" sz="3200" b="1" i="0" baseline="0" dirty="0"/>
            </a:br>
            <a:br>
              <a:rPr lang="en-US" sz="3200" b="1" i="0" baseline="0" dirty="0"/>
            </a:br>
            <a:br>
              <a:rPr lang="en-US" sz="3200" b="1" i="0" baseline="0" dirty="0"/>
            </a:br>
            <a:br>
              <a:rPr lang="en-US" sz="3200" b="1" i="0" baseline="0" dirty="0"/>
            </a:br>
            <a:br>
              <a:rPr lang="en-US" sz="3200" b="1" i="0" baseline="0" dirty="0"/>
            </a:br>
            <a:r>
              <a:rPr lang="en-US" sz="3200" b="1" i="0" baseline="0" dirty="0"/>
              <a:t>                         Importance </a:t>
            </a:r>
            <a:r>
              <a:rPr lang="en-US" b="1" dirty="0"/>
              <a:t>de la </a:t>
            </a:r>
            <a:r>
              <a:rPr lang="en-US" sz="3200" b="1" i="0" baseline="0" dirty="0"/>
              <a:t>vaccination pour le personnel de </a:t>
            </a:r>
            <a:r>
              <a:rPr lang="en-US" sz="3200" b="1" i="0" baseline="0" dirty="0" err="1"/>
              <a:t>sante</a:t>
            </a:r>
            <a:r>
              <a:rPr lang="en-US" sz="3200" b="1" i="0" baseline="0" dirty="0"/>
              <a:t> et les </a:t>
            </a:r>
            <a:r>
              <a:rPr lang="en-US" sz="3200" b="1" i="0" baseline="0" dirty="0" err="1"/>
              <a:t>travailleurs</a:t>
            </a:r>
            <a:r>
              <a:rPr lang="en-US" sz="3200" b="1" i="0" baseline="0" dirty="0"/>
              <a:t> de 1ere </a:t>
            </a:r>
            <a:r>
              <a:rPr lang="en-US" sz="3200" b="1" i="0" baseline="0" dirty="0" err="1"/>
              <a:t>ligne</a:t>
            </a:r>
            <a:endParaRPr lang="en-US" b="1" dirty="0"/>
          </a:p>
        </p:txBody>
      </p:sp>
      <p:sp>
        <p:nvSpPr>
          <p:cNvPr id="3" name="Content Placeholder 2">
            <a:extLst>
              <a:ext uri="{FF2B5EF4-FFF2-40B4-BE49-F238E27FC236}">
                <a16:creationId xmlns:a16="http://schemas.microsoft.com/office/drawing/2014/main" id="{89A69E08-0FCD-2C48-AAA8-3A3799929445}"/>
              </a:ext>
            </a:extLst>
          </p:cNvPr>
          <p:cNvSpPr>
            <a:spLocks noGrp="1"/>
          </p:cNvSpPr>
          <p:nvPr>
            <p:ph idx="1"/>
          </p:nvPr>
        </p:nvSpPr>
        <p:spPr>
          <a:xfrm>
            <a:off x="5402510" y="979489"/>
            <a:ext cx="5952878" cy="4881561"/>
          </a:xfrm>
        </p:spPr>
        <p:txBody>
          <a:bodyPr/>
          <a:lstStyle/>
          <a:p>
            <a:pPr marL="0" indent="0">
              <a:buNone/>
            </a:pPr>
            <a:r>
              <a:rPr kumimoji="0" lang="en-US" altLang="en-US" sz="1800" b="0" i="0" u="none" strike="noStrike" cap="none" normalizeH="0" baseline="0" dirty="0">
                <a:ln>
                  <a:noFill/>
                </a:ln>
                <a:solidFill>
                  <a:schemeClr val="tx1"/>
                </a:solidFill>
                <a:effectLst/>
                <a:latin typeface="Arial" panose="020B0604020202020204" pitchFamily="34" charset="0"/>
              </a:rPr>
              <a:t>Brief overview of the Ebola </a:t>
            </a:r>
            <a:r>
              <a:rPr lang="en-US" altLang="en-US" sz="1800" dirty="0">
                <a:latin typeface="Arial" panose="020B0604020202020204" pitchFamily="34" charset="0"/>
              </a:rPr>
              <a:t>virus disease (EVD)</a:t>
            </a:r>
          </a:p>
          <a:p>
            <a:endParaRPr lang="en-US" dirty="0"/>
          </a:p>
        </p:txBody>
      </p:sp>
      <p:grpSp>
        <p:nvGrpSpPr>
          <p:cNvPr id="5" name="Group 4">
            <a:extLst>
              <a:ext uri="{FF2B5EF4-FFF2-40B4-BE49-F238E27FC236}">
                <a16:creationId xmlns:a16="http://schemas.microsoft.com/office/drawing/2014/main" id="{4D6F96F3-8C40-A34B-217D-7464C08471F0}"/>
              </a:ext>
            </a:extLst>
          </p:cNvPr>
          <p:cNvGrpSpPr/>
          <p:nvPr/>
        </p:nvGrpSpPr>
        <p:grpSpPr>
          <a:xfrm>
            <a:off x="5537687" y="1508760"/>
            <a:ext cx="5855516" cy="4708303"/>
            <a:chOff x="0" y="-123826"/>
            <a:chExt cx="11553825" cy="6519864"/>
          </a:xfrm>
        </p:grpSpPr>
        <p:pic>
          <p:nvPicPr>
            <p:cNvPr id="6" name="Picture 2">
              <a:extLst>
                <a:ext uri="{FF2B5EF4-FFF2-40B4-BE49-F238E27FC236}">
                  <a16:creationId xmlns:a16="http://schemas.microsoft.com/office/drawing/2014/main" id="{DE4E6FD9-7AB6-2017-46DB-2980AE57670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84" t="27726" r="10078" b="2690"/>
            <a:stretch/>
          </p:blipFill>
          <p:spPr bwMode="auto">
            <a:xfrm>
              <a:off x="0" y="590549"/>
              <a:ext cx="10072089" cy="580548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AD6BC412-9ED9-86CF-A0C9-085874215A7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6094" t="24862" b="3836"/>
            <a:stretch/>
          </p:blipFill>
          <p:spPr bwMode="auto">
            <a:xfrm>
              <a:off x="9858375" y="-123826"/>
              <a:ext cx="1695450" cy="6519863"/>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9" name="Text Placeholder 3">
            <a:extLst>
              <a:ext uri="{FF2B5EF4-FFF2-40B4-BE49-F238E27FC236}">
                <a16:creationId xmlns:a16="http://schemas.microsoft.com/office/drawing/2014/main" id="{F7C9843D-32A6-0DA3-3479-DC3100923ED5}"/>
              </a:ext>
            </a:extLst>
          </p:cNvPr>
          <p:cNvGraphicFramePr/>
          <p:nvPr>
            <p:extLst>
              <p:ext uri="{D42A27DB-BD31-4B8C-83A1-F6EECF244321}">
                <p14:modId xmlns:p14="http://schemas.microsoft.com/office/powerpoint/2010/main" val="453843277"/>
              </p:ext>
            </p:extLst>
          </p:nvPr>
        </p:nvGraphicFramePr>
        <p:xfrm>
          <a:off x="836612" y="1618489"/>
          <a:ext cx="4562722" cy="495458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a:extLst>
              <a:ext uri="{FF2B5EF4-FFF2-40B4-BE49-F238E27FC236}">
                <a16:creationId xmlns:a16="http://schemas.microsoft.com/office/drawing/2014/main" id="{BDF42630-6526-150A-EF87-917D8B1FE44A}"/>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1258462" y="156529"/>
            <a:ext cx="1645920" cy="1645920"/>
          </a:xfrm>
          <a:prstGeom prst="rect">
            <a:avLst/>
          </a:prstGeom>
        </p:spPr>
      </p:pic>
    </p:spTree>
    <p:extLst>
      <p:ext uri="{BB962C8B-B14F-4D97-AF65-F5344CB8AC3E}">
        <p14:creationId xmlns:p14="http://schemas.microsoft.com/office/powerpoint/2010/main" val="1739405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62" name="Rectangle 18461">
            <a:extLst>
              <a:ext uri="{FF2B5EF4-FFF2-40B4-BE49-F238E27FC236}">
                <a16:creationId xmlns:a16="http://schemas.microsoft.com/office/drawing/2014/main" id="{72D05657-94EE-4B2D-BC1B-A1D0650636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64" name="Arc 18463">
            <a:extLst>
              <a:ext uri="{FF2B5EF4-FFF2-40B4-BE49-F238E27FC236}">
                <a16:creationId xmlns:a16="http://schemas.microsoft.com/office/drawing/2014/main" id="{7586665A-47B3-4AEE-BC94-15D89FF70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65099" y="486184"/>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itle 1">
            <a:extLst>
              <a:ext uri="{FF2B5EF4-FFF2-40B4-BE49-F238E27FC236}">
                <a16:creationId xmlns:a16="http://schemas.microsoft.com/office/drawing/2014/main" id="{EEA64E2A-4EBE-D18D-703D-BE011E7C872A}"/>
              </a:ext>
            </a:extLst>
          </p:cNvPr>
          <p:cNvSpPr>
            <a:spLocks noGrp="1"/>
          </p:cNvSpPr>
          <p:nvPr>
            <p:ph type="title"/>
          </p:nvPr>
        </p:nvSpPr>
        <p:spPr>
          <a:xfrm>
            <a:off x="4184542" y="486184"/>
            <a:ext cx="7363990" cy="721831"/>
          </a:xfrm>
        </p:spPr>
        <p:txBody>
          <a:bodyPr>
            <a:normAutofit/>
          </a:bodyPr>
          <a:lstStyle/>
          <a:p>
            <a:pPr algn="ctr"/>
            <a:r>
              <a:rPr lang="en-US" b="1" dirty="0"/>
              <a:t>Current Challenges</a:t>
            </a:r>
          </a:p>
        </p:txBody>
      </p:sp>
      <p:pic>
        <p:nvPicPr>
          <p:cNvPr id="18434" name="Picture 2" descr="See related image detail. Ebola vaccinations in DRC as tests confirm outbreak is Zaire strain">
            <a:extLst>
              <a:ext uri="{FF2B5EF4-FFF2-40B4-BE49-F238E27FC236}">
                <a16:creationId xmlns:a16="http://schemas.microsoft.com/office/drawing/2014/main" id="{E562271B-7AC3-9C14-0CD7-55D094761FE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478" r="27020" b="-3"/>
          <a:stretch/>
        </p:blipFill>
        <p:spPr bwMode="auto">
          <a:xfrm>
            <a:off x="581526" y="258142"/>
            <a:ext cx="3118718" cy="3118718"/>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FEA17584-AD07-7492-5263-D35E742758D9}"/>
              </a:ext>
            </a:extLst>
          </p:cNvPr>
          <p:cNvPicPr>
            <a:picLocks noChangeAspect="1"/>
          </p:cNvPicPr>
          <p:nvPr/>
        </p:nvPicPr>
        <p:blipFill>
          <a:blip r:embed="rId3" cstate="screen">
            <a:extLst>
              <a:ext uri="{28A0092B-C50C-407E-A947-70E740481C1C}">
                <a14:useLocalDpi xmlns:a14="http://schemas.microsoft.com/office/drawing/2010/main"/>
              </a:ext>
            </a:extLst>
          </a:blip>
          <a:srcRect r="2" b="2"/>
          <a:stretch/>
        </p:blipFill>
        <p:spPr>
          <a:xfrm>
            <a:off x="581526" y="3486449"/>
            <a:ext cx="3118718" cy="3118718"/>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sp>
        <p:nvSpPr>
          <p:cNvPr id="3" name="Content Placeholder 2">
            <a:extLst>
              <a:ext uri="{FF2B5EF4-FFF2-40B4-BE49-F238E27FC236}">
                <a16:creationId xmlns:a16="http://schemas.microsoft.com/office/drawing/2014/main" id="{47CAAE58-079D-F24E-D03F-E0F7DA2C45D8}"/>
              </a:ext>
            </a:extLst>
          </p:cNvPr>
          <p:cNvSpPr>
            <a:spLocks noGrp="1"/>
          </p:cNvSpPr>
          <p:nvPr>
            <p:ph idx="1"/>
          </p:nvPr>
        </p:nvSpPr>
        <p:spPr>
          <a:xfrm>
            <a:off x="4184542" y="1283516"/>
            <a:ext cx="7363990" cy="5014506"/>
          </a:xfrm>
        </p:spPr>
        <p:txBody>
          <a:bodyPr>
            <a:normAutofit/>
          </a:bodyPr>
          <a:lstStyle/>
          <a:p>
            <a:pPr marL="0" indent="0" algn="just">
              <a:buNone/>
            </a:pPr>
            <a:r>
              <a:rPr lang="fr-FR" sz="1800" dirty="0"/>
              <a:t>Les défis rencontrés dans la vaccination des professionnels de santé et des travailleurs de première ligne</a:t>
            </a:r>
          </a:p>
          <a:p>
            <a:pPr algn="just"/>
            <a:r>
              <a:rPr lang="fr-FR" sz="1800" dirty="0"/>
              <a:t>L'hésitation à la vaccination, ou l'état d'indécision et d'incertitude concernant la vaccination, est devenue une menace croissante pour la santé publique à l'échelle mondiale.</a:t>
            </a:r>
          </a:p>
          <a:p>
            <a:pPr algn="just"/>
            <a:r>
              <a:rPr lang="fr-FR" sz="1800" dirty="0"/>
              <a:t>L'hésitation à la vaccination est complexe, spécifique au contexte et varie selon le moment, le lieu et le type de vaccin. </a:t>
            </a:r>
          </a:p>
          <a:p>
            <a:pPr algn="just"/>
            <a:r>
              <a:rPr lang="fr-FR" sz="1800" dirty="0"/>
              <a:t>Influencée par de nombreux facteurs: la confiance dans la sécurité et l'efficacité du vaccin, les connaissances et la sensibilisation du public,</a:t>
            </a:r>
          </a:p>
          <a:p>
            <a:pPr algn="just"/>
            <a:r>
              <a:rPr lang="fr-FR" sz="1800" dirty="0"/>
              <a:t>Les facteurs religieux, culturels, sexistes ou socioéconomiques,</a:t>
            </a:r>
          </a:p>
          <a:p>
            <a:pPr algn="just"/>
            <a:r>
              <a:rPr lang="fr-FR" sz="1800" dirty="0"/>
              <a:t>En outre, les déterminants sociaux, tels que la capacité à s'absenter du travail et à se rendre sur les sites de vaccination, et la capacité à s'absenter du travail en raison d'effets secondaires, imposent des contraintes supplémentaires aux personnes qui pourraient autrement accepter la vaccination</a:t>
            </a:r>
            <a:endParaRPr lang="en-US" sz="1800" dirty="0"/>
          </a:p>
        </p:txBody>
      </p:sp>
    </p:spTree>
    <p:extLst>
      <p:ext uri="{BB962C8B-B14F-4D97-AF65-F5344CB8AC3E}">
        <p14:creationId xmlns:p14="http://schemas.microsoft.com/office/powerpoint/2010/main" val="3499173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4" name="Arc 43">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AA42154-ED83-4230-300F-0E0747C1C09A}"/>
              </a:ext>
            </a:extLst>
          </p:cNvPr>
          <p:cNvSpPr>
            <a:spLocks noGrp="1"/>
          </p:cNvSpPr>
          <p:nvPr>
            <p:ph type="title"/>
          </p:nvPr>
        </p:nvSpPr>
        <p:spPr>
          <a:xfrm>
            <a:off x="5894962" y="479493"/>
            <a:ext cx="5458838" cy="1122803"/>
          </a:xfrm>
        </p:spPr>
        <p:txBody>
          <a:bodyPr>
            <a:normAutofit fontScale="90000"/>
          </a:bodyPr>
          <a:lstStyle/>
          <a:p>
            <a:br>
              <a:rPr kumimoji="0" lang="en-US" altLang="en-US" sz="1100" b="0" i="0" u="none" strike="noStrike" cap="none" normalizeH="0" baseline="0" dirty="0">
                <a:ln>
                  <a:noFill/>
                </a:ln>
                <a:effectLst/>
                <a:latin typeface="Arial" panose="020B0604020202020204" pitchFamily="34" charset="0"/>
              </a:rPr>
            </a:br>
            <a:br>
              <a:rPr kumimoji="0" lang="en-US" altLang="en-US" sz="1100" b="0" i="0" u="none" strike="noStrike" cap="none" normalizeH="0" baseline="0" dirty="0">
                <a:ln>
                  <a:noFill/>
                </a:ln>
                <a:effectLst/>
                <a:latin typeface="Arial" panose="020B0604020202020204" pitchFamily="34" charset="0"/>
              </a:rPr>
            </a:br>
            <a:br>
              <a:rPr kumimoji="0" lang="en-US" altLang="en-US" sz="1100" b="0" i="0" u="none" strike="noStrike" cap="none" normalizeH="0" baseline="0" dirty="0">
                <a:ln>
                  <a:noFill/>
                </a:ln>
                <a:effectLst/>
                <a:latin typeface="Arial" panose="020B0604020202020204" pitchFamily="34" charset="0"/>
              </a:rPr>
            </a:br>
            <a:r>
              <a:rPr kumimoji="0" lang="fr-FR" altLang="en-US" sz="2200" b="1" u="none" strike="noStrike" kern="0" cap="none" normalizeH="0" baseline="0" dirty="0">
                <a:ln>
                  <a:noFill/>
                </a:ln>
                <a:latin typeface="Times New Roman" panose="02020603050405020304" pitchFamily="18" charset="0"/>
                <a:cs typeface="Times New Roman" panose="02020603050405020304" pitchFamily="18" charset="0"/>
              </a:rPr>
              <a:t>L</a:t>
            </a:r>
            <a:r>
              <a:rPr lang="fr-FR" sz="2200" b="1" kern="0" dirty="0">
                <a:effectLst/>
                <a:latin typeface="Times New Roman" panose="02020603050405020304" pitchFamily="18" charset="0"/>
                <a:ea typeface="Times New Roman" panose="02020603050405020304" pitchFamily="18" charset="0"/>
                <a:cs typeface="Times New Roman" panose="02020603050405020304" pitchFamily="18" charset="0"/>
              </a:rPr>
              <a:t>es raisons courantes de l'hésitation à se faire vacciner chez les travailleurs de première ligne et les professionnels de la santé</a:t>
            </a:r>
            <a:br>
              <a:rPr lang="en-US" sz="1100" kern="100" dirty="0">
                <a:effectLst/>
                <a:latin typeface="Calibri" panose="020F0502020204030204" pitchFamily="34" charset="0"/>
                <a:ea typeface="Calibri" panose="020F0502020204030204" pitchFamily="34" charset="0"/>
                <a:cs typeface="Times New Roman" panose="02020603050405020304" pitchFamily="18" charset="0"/>
              </a:rPr>
            </a:br>
            <a:br>
              <a:rPr kumimoji="0" lang="en-US" altLang="en-US" sz="1100" b="0" i="0" u="none" strike="noStrike" cap="none" normalizeH="0" baseline="0" dirty="0">
                <a:ln>
                  <a:noFill/>
                </a:ln>
                <a:effectLst/>
                <a:latin typeface="Arial" panose="020B0604020202020204" pitchFamily="34" charset="0"/>
              </a:rPr>
            </a:br>
            <a:endParaRPr lang="en-US" sz="1100" dirty="0"/>
          </a:p>
        </p:txBody>
      </p:sp>
      <p:sp>
        <p:nvSpPr>
          <p:cNvPr id="46" name="Freeform: Shape 45">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a:extLst>
              <a:ext uri="{FF2B5EF4-FFF2-40B4-BE49-F238E27FC236}">
                <a16:creationId xmlns:a16="http://schemas.microsoft.com/office/drawing/2014/main" id="{3DB59D82-8415-6DD6-3B48-590745B5206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03182" y="955437"/>
            <a:ext cx="4777381"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7FE8F667-F486-5842-6DE1-701932777DA0}"/>
              </a:ext>
            </a:extLst>
          </p:cNvPr>
          <p:cNvSpPr>
            <a:spLocks noGrp="1"/>
          </p:cNvSpPr>
          <p:nvPr>
            <p:ph idx="1"/>
          </p:nvPr>
        </p:nvSpPr>
        <p:spPr>
          <a:xfrm>
            <a:off x="5894962" y="1984443"/>
            <a:ext cx="5458838" cy="4192520"/>
          </a:xfrm>
        </p:spPr>
        <p:txBody>
          <a:bodyPr>
            <a:normAutofit/>
          </a:bodyPr>
          <a:lstStyle/>
          <a:p>
            <a:pPr marL="342900" marR="0" lvl="0" indent="-342900">
              <a:spcBef>
                <a:spcPts val="0"/>
              </a:spcBef>
              <a:spcAft>
                <a:spcPts val="800"/>
              </a:spcAft>
              <a:buFont typeface="+mj-lt"/>
              <a:buAutoNum type="arabicPeriod"/>
              <a:tabLst>
                <a:tab pos="457200" algn="l"/>
              </a:tabLst>
            </a:pPr>
            <a:r>
              <a:rPr lang="fr-FR" sz="1800" kern="0" dirty="0">
                <a:effectLst/>
                <a:latin typeface="Times New Roman" panose="02020603050405020304" pitchFamily="18" charset="0"/>
                <a:ea typeface="Times New Roman" panose="02020603050405020304" pitchFamily="18" charset="0"/>
                <a:cs typeface="Times New Roman" panose="02020603050405020304" pitchFamily="18" charset="0"/>
              </a:rPr>
              <a:t>Préoccupations en matière de sécurité </a:t>
            </a:r>
          </a:p>
          <a:p>
            <a:pPr marL="342900" marR="0" lvl="0" indent="-342900">
              <a:spcBef>
                <a:spcPts val="0"/>
              </a:spcBef>
              <a:spcAft>
                <a:spcPts val="800"/>
              </a:spcAft>
              <a:buFont typeface="+mj-lt"/>
              <a:buAutoNum type="arabicPeriod"/>
              <a:tabLst>
                <a:tab pos="457200" algn="l"/>
              </a:tabLst>
            </a:pPr>
            <a:r>
              <a:rPr lang="fr-FR" sz="1800" kern="0" dirty="0">
                <a:effectLst/>
                <a:latin typeface="Times New Roman" panose="02020603050405020304" pitchFamily="18" charset="0"/>
                <a:ea typeface="Times New Roman" panose="02020603050405020304" pitchFamily="18" charset="0"/>
                <a:cs typeface="Times New Roman" panose="02020603050405020304" pitchFamily="18" charset="0"/>
              </a:rPr>
              <a:t>Effets secondaires perçus </a:t>
            </a:r>
          </a:p>
          <a:p>
            <a:pPr marL="342900" marR="0" lvl="0" indent="-342900">
              <a:spcBef>
                <a:spcPts val="0"/>
              </a:spcBef>
              <a:spcAft>
                <a:spcPts val="800"/>
              </a:spcAft>
              <a:buFont typeface="+mj-lt"/>
              <a:buAutoNum type="arabicPeriod"/>
              <a:tabLst>
                <a:tab pos="457200" algn="l"/>
              </a:tabLst>
            </a:pPr>
            <a:r>
              <a:rPr lang="fr-FR" sz="1800" kern="0" dirty="0">
                <a:effectLst/>
                <a:latin typeface="Times New Roman" panose="02020603050405020304" pitchFamily="18" charset="0"/>
                <a:ea typeface="Times New Roman" panose="02020603050405020304" pitchFamily="18" charset="0"/>
                <a:cs typeface="Times New Roman" panose="02020603050405020304" pitchFamily="18" charset="0"/>
              </a:rPr>
              <a:t>Manque de confiance dans le processus de développement du vaccin </a:t>
            </a:r>
          </a:p>
          <a:p>
            <a:pPr marL="342900" marR="0" lvl="0" indent="-342900">
              <a:spcBef>
                <a:spcPts val="0"/>
              </a:spcBef>
              <a:spcAft>
                <a:spcPts val="800"/>
              </a:spcAft>
              <a:buFont typeface="+mj-lt"/>
              <a:buAutoNum type="arabicPeriod"/>
              <a:tabLst>
                <a:tab pos="457200" algn="l"/>
              </a:tabLst>
            </a:pPr>
            <a:r>
              <a:rPr lang="fr-FR" sz="1800" kern="0" dirty="0">
                <a:effectLst/>
                <a:latin typeface="Times New Roman" panose="02020603050405020304" pitchFamily="18" charset="0"/>
                <a:ea typeface="Times New Roman" panose="02020603050405020304" pitchFamily="18" charset="0"/>
                <a:cs typeface="Times New Roman" panose="02020603050405020304" pitchFamily="18" charset="0"/>
              </a:rPr>
              <a:t>Peur de l'inconnu ou d'une nouvelle technologie vaccinale </a:t>
            </a:r>
          </a:p>
          <a:p>
            <a:pPr marL="342900" marR="0" lvl="0" indent="-342900">
              <a:spcBef>
                <a:spcPts val="0"/>
              </a:spcBef>
              <a:spcAft>
                <a:spcPts val="800"/>
              </a:spcAft>
              <a:buFont typeface="+mj-lt"/>
              <a:buAutoNum type="arabicPeriod"/>
              <a:tabLst>
                <a:tab pos="457200" algn="l"/>
              </a:tabLst>
            </a:pPr>
            <a:r>
              <a:rPr lang="fr-FR" sz="1800" kern="0" dirty="0">
                <a:effectLst/>
                <a:latin typeface="Times New Roman" panose="02020603050405020304" pitchFamily="18" charset="0"/>
                <a:ea typeface="Times New Roman" panose="02020603050405020304" pitchFamily="18" charset="0"/>
                <a:cs typeface="Times New Roman" panose="02020603050405020304" pitchFamily="18" charset="0"/>
              </a:rPr>
              <a:t>Désinformation et rumeurs </a:t>
            </a:r>
          </a:p>
          <a:p>
            <a:pPr marL="342900" marR="0" lvl="0" indent="-342900">
              <a:spcBef>
                <a:spcPts val="0"/>
              </a:spcBef>
              <a:spcAft>
                <a:spcPts val="800"/>
              </a:spcAft>
              <a:buFont typeface="+mj-lt"/>
              <a:buAutoNum type="arabicPeriod"/>
              <a:tabLst>
                <a:tab pos="457200" algn="l"/>
              </a:tabLst>
            </a:pPr>
            <a:r>
              <a:rPr lang="fr-FR" sz="1800" kern="0" dirty="0">
                <a:effectLst/>
                <a:latin typeface="Times New Roman" panose="02020603050405020304" pitchFamily="18" charset="0"/>
                <a:ea typeface="Times New Roman" panose="02020603050405020304" pitchFamily="18" charset="0"/>
                <a:cs typeface="Times New Roman" panose="02020603050405020304" pitchFamily="18" charset="0"/>
              </a:rPr>
              <a:t>Préoccupations concernant l'efficacité du vaccin </a:t>
            </a:r>
          </a:p>
          <a:p>
            <a:pPr marL="342900" marR="0" lvl="0" indent="-342900">
              <a:spcBef>
                <a:spcPts val="0"/>
              </a:spcBef>
              <a:spcAft>
                <a:spcPts val="800"/>
              </a:spcAft>
              <a:buFont typeface="+mj-lt"/>
              <a:buAutoNum type="arabicPeriod"/>
              <a:tabLst>
                <a:tab pos="457200" algn="l"/>
              </a:tabLst>
            </a:pPr>
            <a:r>
              <a:rPr lang="fr-FR" sz="1800" kern="0" dirty="0">
                <a:effectLst/>
                <a:latin typeface="Times New Roman" panose="02020603050405020304" pitchFamily="18" charset="0"/>
                <a:ea typeface="Times New Roman" panose="02020603050405020304" pitchFamily="18" charset="0"/>
                <a:cs typeface="Times New Roman" panose="02020603050405020304" pitchFamily="18" charset="0"/>
              </a:rPr>
              <a:t>Obstacles logistiques ou problèmes d'accès </a:t>
            </a:r>
          </a:p>
          <a:p>
            <a:pPr marL="342900" marR="0" lvl="0" indent="-342900">
              <a:spcBef>
                <a:spcPts val="0"/>
              </a:spcBef>
              <a:spcAft>
                <a:spcPts val="800"/>
              </a:spcAft>
              <a:buFont typeface="+mj-lt"/>
              <a:buAutoNum type="arabicPeriod"/>
              <a:tabLst>
                <a:tab pos="457200" algn="l"/>
              </a:tabLst>
            </a:pPr>
            <a:r>
              <a:rPr lang="fr-FR" sz="1800" kern="0" dirty="0">
                <a:effectLst/>
                <a:latin typeface="Times New Roman" panose="02020603050405020304" pitchFamily="18" charset="0"/>
                <a:ea typeface="Times New Roman" panose="02020603050405020304" pitchFamily="18" charset="0"/>
                <a:cs typeface="Times New Roman" panose="02020603050405020304" pitchFamily="18" charset="0"/>
              </a:rPr>
              <a:t>Croyances personnelles ou religieuses </a:t>
            </a:r>
          </a:p>
          <a:p>
            <a:pPr marL="342900" marR="0" lvl="0" indent="-342900">
              <a:spcBef>
                <a:spcPts val="0"/>
              </a:spcBef>
              <a:spcAft>
                <a:spcPts val="800"/>
              </a:spcAft>
              <a:buFont typeface="+mj-lt"/>
              <a:buAutoNum type="arabicPeriod"/>
              <a:tabLst>
                <a:tab pos="457200" algn="l"/>
              </a:tabLst>
            </a:pPr>
            <a:r>
              <a:rPr lang="fr-FR" sz="1800" kern="0" dirty="0">
                <a:latin typeface="Times New Roman" panose="02020603050405020304" pitchFamily="18" charset="0"/>
                <a:cs typeface="Times New Roman" panose="02020603050405020304" pitchFamily="18" charset="0"/>
              </a:rPr>
              <a:t>Facteurs Psychologiques </a:t>
            </a:r>
          </a:p>
          <a:p>
            <a:pPr marL="342900" marR="0" lvl="0" indent="-342900">
              <a:spcBef>
                <a:spcPts val="0"/>
              </a:spcBef>
              <a:spcAft>
                <a:spcPts val="800"/>
              </a:spcAft>
              <a:buFont typeface="+mj-lt"/>
              <a:buAutoNum type="arabicPeriod"/>
              <a:tabLst>
                <a:tab pos="457200" algn="l"/>
              </a:tabLst>
            </a:pPr>
            <a:r>
              <a:rPr lang="fr-FR" sz="1800" kern="0" dirty="0">
                <a:effectLst/>
                <a:latin typeface="Times New Roman" panose="02020603050405020304" pitchFamily="18" charset="0"/>
                <a:ea typeface="Times New Roman" panose="02020603050405020304" pitchFamily="18" charset="0"/>
                <a:cs typeface="Times New Roman" panose="02020603050405020304" pitchFamily="18" charset="0"/>
              </a:rPr>
              <a:t>Communication et soutien continus </a:t>
            </a:r>
            <a:endParaRPr lang="en-US" sz="1800" dirty="0"/>
          </a:p>
        </p:txBody>
      </p:sp>
    </p:spTree>
    <p:extLst>
      <p:ext uri="{BB962C8B-B14F-4D97-AF65-F5344CB8AC3E}">
        <p14:creationId xmlns:p14="http://schemas.microsoft.com/office/powerpoint/2010/main" val="395370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9" name="Arc 18">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FD8FE3A-4973-5673-3B32-8869C443B3E7}"/>
              </a:ext>
            </a:extLst>
          </p:cNvPr>
          <p:cNvSpPr>
            <a:spLocks noGrp="1"/>
          </p:cNvSpPr>
          <p:nvPr>
            <p:ph type="title"/>
          </p:nvPr>
        </p:nvSpPr>
        <p:spPr>
          <a:xfrm>
            <a:off x="5829974" y="195013"/>
            <a:ext cx="5458838" cy="1325563"/>
          </a:xfrm>
        </p:spPr>
        <p:txBody>
          <a:bodyPr>
            <a:normAutofit/>
          </a:bodyPr>
          <a:lstStyle/>
          <a:p>
            <a:r>
              <a:rPr lang="en-US" sz="2400" b="1" dirty="0" err="1"/>
              <a:t>Quelques</a:t>
            </a:r>
            <a:r>
              <a:rPr lang="en-US" sz="2400" b="1" dirty="0"/>
              <a:t> </a:t>
            </a:r>
            <a:r>
              <a:rPr lang="en-US" sz="2400" b="1" dirty="0" err="1"/>
              <a:t>stratégies</a:t>
            </a:r>
            <a:r>
              <a:rPr lang="en-US" sz="2400" b="1" dirty="0"/>
              <a:t> pour </a:t>
            </a:r>
            <a:r>
              <a:rPr lang="en-US" sz="2400" b="1" dirty="0" err="1"/>
              <a:t>réduire</a:t>
            </a:r>
            <a:r>
              <a:rPr lang="en-US" sz="2400" b="1" dirty="0"/>
              <a:t> </a:t>
            </a:r>
            <a:r>
              <a:rPr lang="en-US" sz="2400" b="1" dirty="0" err="1"/>
              <a:t>l’hesitation</a:t>
            </a:r>
            <a:r>
              <a:rPr lang="en-US" sz="2400" b="1" dirty="0"/>
              <a:t> au sein du personnel de </a:t>
            </a:r>
            <a:r>
              <a:rPr lang="en-US" sz="2400" b="1" dirty="0" err="1"/>
              <a:t>sante</a:t>
            </a:r>
            <a:endParaRPr lang="en-US" sz="2400" b="1" dirty="0"/>
          </a:p>
        </p:txBody>
      </p:sp>
      <p:sp>
        <p:nvSpPr>
          <p:cNvPr id="21" name="Freeform: Shape 20">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a:extLst>
              <a:ext uri="{FF2B5EF4-FFF2-40B4-BE49-F238E27FC236}">
                <a16:creationId xmlns:a16="http://schemas.microsoft.com/office/drawing/2014/main" id="{1FD14D88-1AB2-E76B-06B0-D73FEE0F0DC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03182" y="955437"/>
            <a:ext cx="4777381"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F9C8DD03-24BA-3762-BA02-60DB301F5F47}"/>
              </a:ext>
            </a:extLst>
          </p:cNvPr>
          <p:cNvSpPr>
            <a:spLocks noGrp="1"/>
          </p:cNvSpPr>
          <p:nvPr>
            <p:ph idx="1"/>
          </p:nvPr>
        </p:nvSpPr>
        <p:spPr>
          <a:xfrm>
            <a:off x="5588000" y="1291906"/>
            <a:ext cx="5765800" cy="4885058"/>
          </a:xfrm>
        </p:spPr>
        <p:txBody>
          <a:bodyPr>
            <a:normAutofit lnSpcReduction="10000"/>
          </a:bodyPr>
          <a:lstStyle/>
          <a:p>
            <a:pPr marL="0" marR="0" algn="just"/>
            <a:r>
              <a:rPr lang="fr-FR" sz="1600" b="1" dirty="0">
                <a:latin typeface="Times New Roman" panose="02020603050405020304" pitchFamily="18" charset="0"/>
                <a:ea typeface="Times New Roman" panose="02020603050405020304" pitchFamily="18" charset="0"/>
              </a:rPr>
              <a:t>Communication</a:t>
            </a:r>
            <a:r>
              <a:rPr lang="fr-FR" sz="1600" b="1" dirty="0">
                <a:effectLst/>
                <a:latin typeface="Times New Roman" panose="02020603050405020304" pitchFamily="18" charset="0"/>
                <a:ea typeface="Times New Roman" panose="02020603050405020304" pitchFamily="18" charset="0"/>
              </a:rPr>
              <a:t> et Sensibilisation :</a:t>
            </a:r>
            <a:r>
              <a:rPr lang="fr-FR" sz="1600" dirty="0">
                <a:effectLst/>
                <a:latin typeface="Times New Roman" panose="02020603050405020304" pitchFamily="18" charset="0"/>
                <a:ea typeface="Times New Roman" panose="02020603050405020304" pitchFamily="18" charset="0"/>
              </a:rPr>
              <a:t> </a:t>
            </a:r>
            <a:r>
              <a:rPr lang="fr-FR" sz="1600" dirty="0"/>
              <a:t>Offrir des sessions de formation régulières (données scientifiques, preuves d’efficacité, procédures de vaccination).</a:t>
            </a:r>
            <a:r>
              <a:rPr lang="fr-FR" sz="1600" dirty="0">
                <a:latin typeface="Times New Roman" panose="02020603050405020304" pitchFamily="18" charset="0"/>
              </a:rPr>
              <a:t> </a:t>
            </a:r>
            <a:endParaRPr lang="en-US" sz="1600" dirty="0"/>
          </a:p>
          <a:p>
            <a:pPr marL="0" marR="0" algn="just"/>
            <a:r>
              <a:rPr lang="en-US" sz="1600" b="1" dirty="0">
                <a:latin typeface="Times New Roman" panose="02020603050405020304" pitchFamily="18" charset="0"/>
              </a:rPr>
              <a:t>Engagement Direct des Experts</a:t>
            </a:r>
            <a:r>
              <a:rPr lang="fr-FR" sz="1600" b="1" dirty="0">
                <a:latin typeface="Times New Roman" panose="02020603050405020304" pitchFamily="18" charset="0"/>
              </a:rPr>
              <a:t> Professionnels de Santé </a:t>
            </a:r>
            <a:r>
              <a:rPr lang="fr-FR" sz="1600" b="1" dirty="0">
                <a:effectLst/>
                <a:latin typeface="Times New Roman" panose="02020603050405020304" pitchFamily="18" charset="0"/>
                <a:ea typeface="Times New Roman" panose="02020603050405020304" pitchFamily="18" charset="0"/>
              </a:rPr>
              <a:t>:</a:t>
            </a:r>
            <a:r>
              <a:rPr lang="fr-FR" sz="1600" b="1" dirty="0">
                <a:latin typeface="Times New Roman" panose="02020603050405020304" pitchFamily="18" charset="0"/>
                <a:ea typeface="Times New Roman" panose="02020603050405020304" pitchFamily="18" charset="0"/>
              </a:rPr>
              <a:t> </a:t>
            </a:r>
            <a:r>
              <a:rPr lang="fr-FR" sz="1600" dirty="0"/>
              <a:t>rencontres avec des experts en épidémiologie et en vaccinologie pour répondre directement aux questions du personnel de santé et clarifier les doutes.</a:t>
            </a:r>
            <a:endParaRPr lang="en-US" sz="1600" dirty="0"/>
          </a:p>
          <a:p>
            <a:pPr marL="0" marR="0" algn="just"/>
            <a:r>
              <a:rPr lang="en-US" sz="1600" b="1" dirty="0">
                <a:latin typeface="Times New Roman" panose="02020603050405020304" pitchFamily="18" charset="0"/>
              </a:rPr>
              <a:t>Communication Claire et </a:t>
            </a:r>
            <a:r>
              <a:rPr lang="en-US" sz="1600" b="1" dirty="0" err="1">
                <a:latin typeface="Times New Roman" panose="02020603050405020304" pitchFamily="18" charset="0"/>
              </a:rPr>
              <a:t>Transparente</a:t>
            </a:r>
            <a:r>
              <a:rPr lang="fr-FR" sz="1600" b="1" dirty="0">
                <a:effectLst/>
                <a:latin typeface="Times New Roman" panose="02020603050405020304" pitchFamily="18" charset="0"/>
                <a:ea typeface="Times New Roman" panose="02020603050405020304" pitchFamily="18" charset="0"/>
              </a:rPr>
              <a:t>:</a:t>
            </a:r>
            <a:r>
              <a:rPr lang="fr-FR" sz="1600" dirty="0">
                <a:effectLst/>
                <a:latin typeface="Times New Roman" panose="02020603050405020304" pitchFamily="18" charset="0"/>
                <a:ea typeface="Times New Roman" panose="02020603050405020304" pitchFamily="18" charset="0"/>
              </a:rPr>
              <a:t> </a:t>
            </a:r>
            <a:r>
              <a:rPr lang="fr-FR" sz="1600" dirty="0"/>
              <a:t>Diffuser des Informations Basées sur des Preuves </a:t>
            </a:r>
          </a:p>
          <a:p>
            <a:pPr marL="0" marR="0" algn="just"/>
            <a:r>
              <a:rPr lang="fr-FR" sz="1600" b="1" dirty="0">
                <a:latin typeface="Times New Roman" panose="02020603050405020304" pitchFamily="18" charset="0"/>
              </a:rPr>
              <a:t>Renforcement de la Confiance </a:t>
            </a:r>
            <a:r>
              <a:rPr lang="fr-FR" sz="1600" b="1" dirty="0">
                <a:effectLst/>
                <a:latin typeface="Times New Roman" panose="02020603050405020304" pitchFamily="18" charset="0"/>
                <a:ea typeface="Times New Roman" panose="02020603050405020304" pitchFamily="18" charset="0"/>
              </a:rPr>
              <a:t>:</a:t>
            </a:r>
            <a:r>
              <a:rPr lang="fr-FR" sz="1600" dirty="0">
                <a:effectLst/>
                <a:latin typeface="Times New Roman" panose="02020603050405020304" pitchFamily="18" charset="0"/>
                <a:ea typeface="Times New Roman" panose="02020603050405020304" pitchFamily="18" charset="0"/>
              </a:rPr>
              <a:t> </a:t>
            </a:r>
            <a:r>
              <a:rPr lang="fr-FR" sz="1600" dirty="0"/>
              <a:t>Construire la confiance dans les systèmes de santé et les autorités sanitaires est essentiel. </a:t>
            </a:r>
          </a:p>
          <a:p>
            <a:pPr marL="0" marR="0" algn="just"/>
            <a:r>
              <a:rPr lang="fr-FR" sz="1600" b="1" dirty="0">
                <a:latin typeface="Times New Roman" panose="02020603050405020304" pitchFamily="18" charset="0"/>
              </a:rPr>
              <a:t>Encouragement par des Modèles de Comportement</a:t>
            </a:r>
            <a:r>
              <a:rPr lang="fr-FR" sz="1600" b="1" dirty="0">
                <a:effectLst/>
                <a:latin typeface="Times New Roman" panose="02020603050405020304" pitchFamily="18" charset="0"/>
                <a:ea typeface="Times New Roman" panose="02020603050405020304" pitchFamily="18" charset="0"/>
              </a:rPr>
              <a:t>:</a:t>
            </a:r>
            <a:r>
              <a:rPr lang="fr-FR" sz="1600" dirty="0">
                <a:effectLst/>
                <a:latin typeface="Times New Roman" panose="02020603050405020304" pitchFamily="18" charset="0"/>
                <a:ea typeface="Times New Roman" panose="02020603050405020304" pitchFamily="18" charset="0"/>
              </a:rPr>
              <a:t> </a:t>
            </a:r>
            <a:r>
              <a:rPr lang="fr-FR" sz="1600" b="1" dirty="0"/>
              <a:t>Promouvoir des Leaders d’Opinion </a:t>
            </a:r>
            <a:r>
              <a:rPr lang="fr-FR" sz="1600" dirty="0"/>
              <a:t>au sein du personnel de santé à se faire vacciner publiquement pour servir de modèle et influencer positivement leurs pairs.</a:t>
            </a:r>
          </a:p>
          <a:p>
            <a:pPr marL="0" marR="0" algn="just"/>
            <a:r>
              <a:rPr lang="fr-FR" sz="1600" b="1" dirty="0">
                <a:latin typeface="Times New Roman" panose="02020603050405020304" pitchFamily="18" charset="0"/>
              </a:rPr>
              <a:t>Création de Groupes de Support</a:t>
            </a:r>
            <a:r>
              <a:rPr lang="fr-FR" sz="1600" dirty="0"/>
              <a:t>: </a:t>
            </a:r>
            <a:r>
              <a:rPr lang="fr-FR" sz="1600" b="1" dirty="0"/>
              <a:t>Former des Groupes de Discussion :</a:t>
            </a:r>
            <a:r>
              <a:rPr lang="fr-FR" sz="1600" dirty="0"/>
              <a:t> Établir des groupes de discussion ou de soutien où le personnel de santé peut discuter de leurs préoccupations, poser des questions, et recevoir des réponses en groupe.</a:t>
            </a:r>
            <a:endParaRPr lang="fr-FR" sz="1600" dirty="0">
              <a:effectLst/>
              <a:latin typeface="Times New Roman" panose="02020603050405020304" pitchFamily="18" charset="0"/>
              <a:ea typeface="Times New Roman" panose="02020603050405020304" pitchFamily="18" charset="0"/>
            </a:endParaRPr>
          </a:p>
          <a:p>
            <a:endParaRPr lang="en-US" sz="1100" dirty="0"/>
          </a:p>
        </p:txBody>
      </p:sp>
    </p:spTree>
    <p:extLst>
      <p:ext uri="{BB962C8B-B14F-4D97-AF65-F5344CB8AC3E}">
        <p14:creationId xmlns:p14="http://schemas.microsoft.com/office/powerpoint/2010/main" val="2890580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Arc 28">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194CB54-6C62-4C9F-6F5A-0836DFE1FCBE}"/>
              </a:ext>
            </a:extLst>
          </p:cNvPr>
          <p:cNvSpPr>
            <a:spLocks noGrp="1"/>
          </p:cNvSpPr>
          <p:nvPr>
            <p:ph type="title"/>
          </p:nvPr>
        </p:nvSpPr>
        <p:spPr>
          <a:xfrm>
            <a:off x="5894962" y="479493"/>
            <a:ext cx="5458838" cy="823913"/>
          </a:xfrm>
        </p:spPr>
        <p:txBody>
          <a:bodyPr>
            <a:normAutofit fontScale="90000"/>
          </a:bodyPr>
          <a:lstStyle/>
          <a:p>
            <a:pPr algn="ctr"/>
            <a:br>
              <a:rPr lang="fr-FR" sz="2100" b="1" dirty="0"/>
            </a:br>
            <a:r>
              <a:rPr lang="fr-FR" sz="2100" b="1" dirty="0"/>
              <a:t>La vaccination des professionnels de santé renforce la confiance au sein de la communauté </a:t>
            </a:r>
            <a:br>
              <a:rPr lang="fr-FR" sz="2100" b="1" kern="100" dirty="0">
                <a:latin typeface="Calibri" panose="020F0502020204030204" pitchFamily="34" charset="0"/>
                <a:ea typeface="Calibri" panose="020F0502020204030204" pitchFamily="34" charset="0"/>
                <a:cs typeface="Times New Roman" panose="02020603050405020304" pitchFamily="18" charset="0"/>
              </a:rPr>
            </a:br>
            <a:endParaRPr lang="en-US" sz="2100" b="1" dirty="0"/>
          </a:p>
        </p:txBody>
      </p:sp>
      <p:sp>
        <p:nvSpPr>
          <p:cNvPr id="31" name="Freeform: Shape 30">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a:extLst>
              <a:ext uri="{FF2B5EF4-FFF2-40B4-BE49-F238E27FC236}">
                <a16:creationId xmlns:a16="http://schemas.microsoft.com/office/drawing/2014/main" id="{ED490EB8-16A2-44A8-F920-00BDF62B0A5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03183" y="955437"/>
            <a:ext cx="4045686"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22" name="Content Placeholder 2">
            <a:extLst>
              <a:ext uri="{FF2B5EF4-FFF2-40B4-BE49-F238E27FC236}">
                <a16:creationId xmlns:a16="http://schemas.microsoft.com/office/drawing/2014/main" id="{208E1DBB-DCB7-E3C8-07B5-149D75B77A8E}"/>
              </a:ext>
            </a:extLst>
          </p:cNvPr>
          <p:cNvSpPr>
            <a:spLocks noGrp="1"/>
          </p:cNvSpPr>
          <p:nvPr>
            <p:ph idx="1"/>
          </p:nvPr>
        </p:nvSpPr>
        <p:spPr>
          <a:xfrm>
            <a:off x="4815281" y="1303406"/>
            <a:ext cx="6538519" cy="4873557"/>
          </a:xfrm>
        </p:spPr>
        <p:txBody>
          <a:bodyPr>
            <a:normAutofit lnSpcReduction="10000"/>
          </a:bodyPr>
          <a:lstStyle/>
          <a:p>
            <a:pPr marL="342900" marR="0" lvl="0" indent="-342900" algn="just">
              <a:buSzPts val="1000"/>
              <a:buFont typeface="Symbol" panose="05050102010706020507" pitchFamily="18" charset="2"/>
              <a:buChar char=""/>
              <a:tabLst>
                <a:tab pos="457200" algn="l"/>
              </a:tabLst>
            </a:pPr>
            <a:r>
              <a:rPr lang="fr-FR" sz="1300" b="1" dirty="0">
                <a:effectLst/>
                <a:latin typeface="Times New Roman" panose="02020603050405020304" pitchFamily="18" charset="0"/>
                <a:ea typeface="Times New Roman" panose="02020603050405020304" pitchFamily="18" charset="0"/>
              </a:rPr>
              <a:t>Modèle de Comportement Positif :</a:t>
            </a:r>
            <a:r>
              <a:rPr lang="fr-FR" sz="1300" dirty="0">
                <a:effectLst/>
                <a:latin typeface="Times New Roman" panose="02020603050405020304" pitchFamily="18" charset="0"/>
                <a:ea typeface="Times New Roman" panose="02020603050405020304" pitchFamily="18" charset="0"/>
              </a:rPr>
              <a:t> Les professionnels de santé vaccinés montrent l'exemple en se faisant eux-mêmes vacciner, ce qui peut influencer positivement les comportements des patients et du public en montrant que la vaccination est sûre et recommandée.</a:t>
            </a:r>
            <a:endParaRPr lang="en-US" sz="1300" dirty="0">
              <a:effectLst/>
              <a:latin typeface="Times New Roman" panose="02020603050405020304" pitchFamily="18" charset="0"/>
              <a:ea typeface="Times New Roman" panose="02020603050405020304" pitchFamily="18" charset="0"/>
            </a:endParaRPr>
          </a:p>
          <a:p>
            <a:pPr marL="342900" marR="0" lvl="0" indent="-342900" algn="just">
              <a:buSzPts val="1000"/>
              <a:buFont typeface="Symbol" panose="05050102010706020507" pitchFamily="18" charset="2"/>
              <a:buChar char=""/>
              <a:tabLst>
                <a:tab pos="457200" algn="l"/>
              </a:tabLst>
            </a:pPr>
            <a:r>
              <a:rPr lang="fr-FR" sz="1300" b="1" dirty="0">
                <a:latin typeface="Times New Roman" panose="02020603050405020304" pitchFamily="18" charset="0"/>
                <a:ea typeface="Times New Roman" panose="02020603050405020304" pitchFamily="18" charset="0"/>
              </a:rPr>
              <a:t>Communication</a:t>
            </a:r>
            <a:r>
              <a:rPr lang="fr-FR" sz="1300" b="1" dirty="0">
                <a:effectLst/>
                <a:latin typeface="Times New Roman" panose="02020603050405020304" pitchFamily="18" charset="0"/>
                <a:ea typeface="Times New Roman" panose="02020603050405020304" pitchFamily="18" charset="0"/>
              </a:rPr>
              <a:t> et Sensibilisation :</a:t>
            </a:r>
            <a:r>
              <a:rPr lang="fr-FR" sz="1300" dirty="0">
                <a:effectLst/>
                <a:latin typeface="Times New Roman" panose="02020603050405020304" pitchFamily="18" charset="0"/>
                <a:ea typeface="Times New Roman" panose="02020603050405020304" pitchFamily="18" charset="0"/>
              </a:rPr>
              <a:t> </a:t>
            </a:r>
          </a:p>
          <a:p>
            <a:pPr marL="342900" marR="0" lvl="0" indent="-342900" algn="just">
              <a:buSzPts val="1000"/>
              <a:buFont typeface="Symbol" panose="05050102010706020507" pitchFamily="18" charset="2"/>
              <a:buChar char=""/>
              <a:tabLst>
                <a:tab pos="457200" algn="l"/>
              </a:tabLst>
            </a:pPr>
            <a:r>
              <a:rPr lang="fr-FR" sz="1300" b="1" dirty="0">
                <a:effectLst/>
                <a:latin typeface="Times New Roman" panose="02020603050405020304" pitchFamily="18" charset="0"/>
                <a:ea typeface="Times New Roman" panose="02020603050405020304" pitchFamily="18" charset="0"/>
              </a:rPr>
              <a:t>Renforcement de la Crédibilité </a:t>
            </a:r>
            <a:r>
              <a:rPr lang="fr-FR" sz="1300" dirty="0">
                <a:effectLst/>
                <a:latin typeface="Times New Roman" panose="02020603050405020304" pitchFamily="18" charset="0"/>
                <a:ea typeface="Times New Roman" panose="02020603050405020304" pitchFamily="18" charset="0"/>
              </a:rPr>
              <a:t>Les actions et l’engagement du personnel envers la vaccination renforce la crédibilité des messages de santé publique.</a:t>
            </a:r>
            <a:endParaRPr lang="en-US" sz="1300" dirty="0">
              <a:effectLst/>
              <a:latin typeface="Times New Roman" panose="02020603050405020304" pitchFamily="18" charset="0"/>
              <a:ea typeface="Times New Roman" panose="02020603050405020304" pitchFamily="18" charset="0"/>
            </a:endParaRPr>
          </a:p>
          <a:p>
            <a:pPr marL="342900" marR="0" lvl="0" indent="-342900" algn="just">
              <a:buSzPts val="1000"/>
              <a:buFont typeface="Symbol" panose="05050102010706020507" pitchFamily="18" charset="2"/>
              <a:buChar char=""/>
              <a:tabLst>
                <a:tab pos="457200" algn="l"/>
              </a:tabLst>
            </a:pPr>
            <a:r>
              <a:rPr lang="fr-FR" sz="1300" b="1" dirty="0">
                <a:effectLst/>
                <a:latin typeface="Times New Roman" panose="02020603050405020304" pitchFamily="18" charset="0"/>
                <a:ea typeface="Times New Roman" panose="02020603050405020304" pitchFamily="18" charset="0"/>
              </a:rPr>
              <a:t>Réduction de la Stigmatisation :</a:t>
            </a:r>
            <a:r>
              <a:rPr lang="fr-FR" sz="1300" dirty="0">
                <a:effectLst/>
                <a:latin typeface="Times New Roman" panose="02020603050405020304" pitchFamily="18" charset="0"/>
                <a:ea typeface="Times New Roman" panose="02020603050405020304" pitchFamily="18" charset="0"/>
              </a:rPr>
              <a:t> figures respectées dans la communauté, se vaccinent, cela peut aider à réduire la stigmatisation associée à la vaccination et encourager d'autres membres de la communauté à suivre leur exemple.</a:t>
            </a:r>
            <a:endParaRPr lang="en-US" sz="1300" dirty="0">
              <a:effectLst/>
              <a:latin typeface="Times New Roman" panose="02020603050405020304" pitchFamily="18" charset="0"/>
              <a:ea typeface="Times New Roman" panose="02020603050405020304" pitchFamily="18" charset="0"/>
            </a:endParaRPr>
          </a:p>
          <a:p>
            <a:pPr marL="342900" marR="0" lvl="0" indent="-342900" algn="just">
              <a:buSzPts val="1000"/>
              <a:buFont typeface="Symbol" panose="05050102010706020507" pitchFamily="18" charset="2"/>
              <a:buChar char=""/>
              <a:tabLst>
                <a:tab pos="457200" algn="l"/>
              </a:tabLst>
            </a:pPr>
            <a:r>
              <a:rPr lang="fr-FR" sz="1300" b="1" dirty="0">
                <a:effectLst/>
                <a:latin typeface="Times New Roman" panose="02020603050405020304" pitchFamily="18" charset="0"/>
                <a:ea typeface="Times New Roman" panose="02020603050405020304" pitchFamily="18" charset="0"/>
              </a:rPr>
              <a:t>Engagement Communautaire :</a:t>
            </a:r>
            <a:r>
              <a:rPr lang="fr-FR" sz="1300" dirty="0">
                <a:effectLst/>
                <a:latin typeface="Times New Roman" panose="02020603050405020304" pitchFamily="18" charset="0"/>
                <a:ea typeface="Times New Roman" panose="02020603050405020304" pitchFamily="18" charset="0"/>
              </a:rPr>
              <a:t> participer à des forums communautaires, des discussions publiques, ou des campagnes de sensibilisation, en partageant leurs propres expériences et en encourageant la vaccination à travers des témoignages personnels.</a:t>
            </a:r>
            <a:endParaRPr lang="en-US" sz="1300" dirty="0">
              <a:effectLst/>
              <a:latin typeface="Times New Roman" panose="02020603050405020304" pitchFamily="18" charset="0"/>
              <a:ea typeface="Times New Roman" panose="02020603050405020304" pitchFamily="18" charset="0"/>
            </a:endParaRPr>
          </a:p>
          <a:p>
            <a:pPr marL="342900" marR="0" lvl="0" indent="-342900" algn="just">
              <a:buSzPts val="1000"/>
              <a:buFont typeface="Symbol" panose="05050102010706020507" pitchFamily="18" charset="2"/>
              <a:buChar char=""/>
              <a:tabLst>
                <a:tab pos="457200" algn="l"/>
              </a:tabLst>
            </a:pPr>
            <a:r>
              <a:rPr lang="fr-FR" sz="1300" b="1" dirty="0">
                <a:effectLst/>
                <a:latin typeface="Times New Roman" panose="02020603050405020304" pitchFamily="18" charset="0"/>
                <a:ea typeface="Times New Roman" panose="02020603050405020304" pitchFamily="18" charset="0"/>
              </a:rPr>
              <a:t>Gestion des Crises :</a:t>
            </a:r>
            <a:r>
              <a:rPr lang="fr-FR" sz="1300" dirty="0">
                <a:effectLst/>
                <a:latin typeface="Times New Roman" panose="02020603050405020304" pitchFamily="18" charset="0"/>
                <a:ea typeface="Times New Roman" panose="02020603050405020304" pitchFamily="18" charset="0"/>
              </a:rPr>
              <a:t> En période d’épidémie, les professionnels de santé vaccinés peuvent jouer un rôle clé dans la gestion de la crise en fournissant des informations fiables et en travaillant à apaiser les inquiétudes de la communauté, ce qui contribue à maintenir la confiance dans les recommandations sanitaires.</a:t>
            </a:r>
            <a:endParaRPr lang="en-US" sz="1300" dirty="0">
              <a:effectLst/>
              <a:latin typeface="Times New Roman" panose="02020603050405020304" pitchFamily="18" charset="0"/>
              <a:ea typeface="Times New Roman" panose="02020603050405020304" pitchFamily="18" charset="0"/>
            </a:endParaRPr>
          </a:p>
          <a:p>
            <a:pPr marL="342900" marR="0" lvl="0" indent="-342900" algn="just">
              <a:buSzPts val="1000"/>
              <a:buFont typeface="Symbol" panose="05050102010706020507" pitchFamily="18" charset="2"/>
              <a:buChar char=""/>
              <a:tabLst>
                <a:tab pos="457200" algn="l"/>
              </a:tabLst>
            </a:pPr>
            <a:r>
              <a:rPr lang="fr-FR" sz="1300" b="1" dirty="0">
                <a:effectLst/>
                <a:latin typeface="Times New Roman" panose="02020603050405020304" pitchFamily="18" charset="0"/>
                <a:ea typeface="Times New Roman" panose="02020603050405020304" pitchFamily="18" charset="0"/>
              </a:rPr>
              <a:t>Création de Réseaux de Soutien :</a:t>
            </a:r>
            <a:r>
              <a:rPr lang="fr-FR" sz="1300" dirty="0">
                <a:effectLst/>
                <a:latin typeface="Times New Roman" panose="02020603050405020304" pitchFamily="18" charset="0"/>
                <a:ea typeface="Times New Roman" panose="02020603050405020304" pitchFamily="18" charset="0"/>
              </a:rPr>
              <a:t> collaboration avec d’autres leaders communautaires, groupes religieux ou organisations locales pour promouvoir la vaccination</a:t>
            </a:r>
            <a:r>
              <a:rPr lang="fr-FR" sz="1300" dirty="0">
                <a:latin typeface="Times New Roman" panose="02020603050405020304" pitchFamily="18" charset="0"/>
                <a:ea typeface="Times New Roman" panose="02020603050405020304" pitchFamily="18" charset="0"/>
              </a:rPr>
              <a:t>.</a:t>
            </a:r>
            <a:endParaRPr lang="en-US" sz="1300" dirty="0">
              <a:effectLst/>
              <a:latin typeface="Times New Roman" panose="02020603050405020304" pitchFamily="18" charset="0"/>
              <a:ea typeface="Times New Roman" panose="02020603050405020304" pitchFamily="18" charset="0"/>
            </a:endParaRPr>
          </a:p>
          <a:p>
            <a:pPr marL="342900" marR="0" lvl="0" indent="-342900" algn="just">
              <a:buSzPts val="1000"/>
              <a:buFont typeface="Symbol" panose="05050102010706020507" pitchFamily="18" charset="2"/>
              <a:buChar char=""/>
              <a:tabLst>
                <a:tab pos="457200" algn="l"/>
              </a:tabLst>
            </a:pPr>
            <a:r>
              <a:rPr lang="fr-FR" sz="1300" b="1" dirty="0">
                <a:effectLst/>
                <a:latin typeface="Times New Roman" panose="02020603050405020304" pitchFamily="18" charset="0"/>
                <a:ea typeface="Times New Roman" panose="02020603050405020304" pitchFamily="18" charset="0"/>
              </a:rPr>
              <a:t>Transparence et Ouverture :</a:t>
            </a:r>
            <a:r>
              <a:rPr lang="fr-FR" sz="1300" b="1" dirty="0">
                <a:latin typeface="Times New Roman" panose="02020603050405020304" pitchFamily="18" charset="0"/>
                <a:ea typeface="Times New Roman" panose="02020603050405020304" pitchFamily="18" charset="0"/>
              </a:rPr>
              <a:t> P</a:t>
            </a:r>
            <a:r>
              <a:rPr lang="fr-FR" sz="1300" dirty="0">
                <a:effectLst/>
                <a:latin typeface="Times New Roman" panose="02020603050405020304" pitchFamily="18" charset="0"/>
                <a:ea typeface="Times New Roman" panose="02020603050405020304" pitchFamily="18" charset="0"/>
              </a:rPr>
              <a:t>artager les résultats de la recherche et les données sur la sécurité et l’efficacité des vaccins</a:t>
            </a:r>
            <a:r>
              <a:rPr lang="fr-FR" sz="1300" dirty="0">
                <a:latin typeface="Times New Roman" panose="02020603050405020304" pitchFamily="18" charset="0"/>
                <a:ea typeface="Times New Roman" panose="02020603050405020304" pitchFamily="18" charset="0"/>
              </a:rPr>
              <a:t> </a:t>
            </a:r>
            <a:r>
              <a:rPr lang="fr-FR" sz="1300" dirty="0">
                <a:latin typeface="Times New Roman" panose="02020603050405020304" pitchFamily="18" charset="0"/>
                <a:ea typeface="Times New Roman" panose="02020603050405020304" pitchFamily="18" charset="0"/>
                <a:sym typeface="Wingdings" panose="05000000000000000000" pitchFamily="2" charset="2"/>
              </a:rPr>
              <a:t></a:t>
            </a:r>
            <a:r>
              <a:rPr lang="fr-FR" sz="1300" dirty="0">
                <a:effectLst/>
                <a:latin typeface="Times New Roman" panose="02020603050405020304" pitchFamily="18" charset="0"/>
                <a:ea typeface="Times New Roman" panose="02020603050405020304" pitchFamily="18" charset="0"/>
              </a:rPr>
              <a:t>contribue à bâtir une relation de confiance avec la communauté.</a:t>
            </a:r>
            <a:endParaRPr lang="en-US" sz="1300" dirty="0">
              <a:effectLst/>
              <a:latin typeface="Times New Roman" panose="02020603050405020304" pitchFamily="18" charset="0"/>
              <a:ea typeface="Times New Roman" panose="02020603050405020304" pitchFamily="18" charset="0"/>
            </a:endParaRPr>
          </a:p>
          <a:p>
            <a:endParaRPr lang="en-US" sz="900" dirty="0"/>
          </a:p>
        </p:txBody>
      </p:sp>
    </p:spTree>
    <p:extLst>
      <p:ext uri="{BB962C8B-B14F-4D97-AF65-F5344CB8AC3E}">
        <p14:creationId xmlns:p14="http://schemas.microsoft.com/office/powerpoint/2010/main" val="2697239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496" name="Rectangle 20495">
            <a:extLst>
              <a:ext uri="{FF2B5EF4-FFF2-40B4-BE49-F238E27FC236}">
                <a16:creationId xmlns:a16="http://schemas.microsoft.com/office/drawing/2014/main" id="{72D05657-94EE-4B2D-BC1B-A1D0650636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98" name="Arc 20497">
            <a:extLst>
              <a:ext uri="{FF2B5EF4-FFF2-40B4-BE49-F238E27FC236}">
                <a16:creationId xmlns:a16="http://schemas.microsoft.com/office/drawing/2014/main" id="{7586665A-47B3-4AEE-BC94-15D89FF70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65099" y="486184"/>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itle 1">
            <a:extLst>
              <a:ext uri="{FF2B5EF4-FFF2-40B4-BE49-F238E27FC236}">
                <a16:creationId xmlns:a16="http://schemas.microsoft.com/office/drawing/2014/main" id="{0D538864-FFFC-B880-FBF6-5CE35DC36B36}"/>
              </a:ext>
            </a:extLst>
          </p:cNvPr>
          <p:cNvSpPr>
            <a:spLocks noGrp="1"/>
          </p:cNvSpPr>
          <p:nvPr>
            <p:ph type="title"/>
          </p:nvPr>
        </p:nvSpPr>
        <p:spPr>
          <a:xfrm>
            <a:off x="4184542" y="258142"/>
            <a:ext cx="7363990" cy="1325563"/>
          </a:xfrm>
        </p:spPr>
        <p:txBody>
          <a:bodyPr vert="horz" lIns="91440" tIns="45720" rIns="91440" bIns="45720" rtlCol="0" anchor="ctr">
            <a:normAutofit/>
          </a:bodyPr>
          <a:lstStyle/>
          <a:p>
            <a:pPr algn="ctr"/>
            <a:r>
              <a:rPr lang="en-US" sz="2400" b="1" kern="1200" dirty="0" err="1">
                <a:solidFill>
                  <a:schemeClr val="tx1"/>
                </a:solidFill>
                <a:latin typeface="+mn-lt"/>
                <a:ea typeface="+mj-ea"/>
                <a:cs typeface="+mj-cs"/>
              </a:rPr>
              <a:t>Exemples</a:t>
            </a:r>
            <a:r>
              <a:rPr lang="en-US" sz="2400" b="1" kern="1200" dirty="0">
                <a:solidFill>
                  <a:schemeClr val="tx1"/>
                </a:solidFill>
                <a:latin typeface="+mn-lt"/>
                <a:ea typeface="+mj-ea"/>
                <a:cs typeface="+mj-cs"/>
              </a:rPr>
              <a:t> de </a:t>
            </a:r>
            <a:r>
              <a:rPr lang="en-US" sz="2400" b="1" kern="1200" dirty="0" err="1">
                <a:solidFill>
                  <a:schemeClr val="tx1"/>
                </a:solidFill>
                <a:latin typeface="+mn-lt"/>
                <a:ea typeface="+mj-ea"/>
                <a:cs typeface="+mj-cs"/>
              </a:rPr>
              <a:t>stratégies</a:t>
            </a:r>
            <a:r>
              <a:rPr lang="en-US" sz="2400" b="1" kern="1200" dirty="0">
                <a:solidFill>
                  <a:schemeClr val="tx1"/>
                </a:solidFill>
                <a:latin typeface="+mn-lt"/>
                <a:ea typeface="+mj-ea"/>
                <a:cs typeface="+mj-cs"/>
              </a:rPr>
              <a:t> </a:t>
            </a:r>
            <a:r>
              <a:rPr lang="en-US" sz="2400" b="1" kern="1200" dirty="0" err="1">
                <a:solidFill>
                  <a:schemeClr val="tx1"/>
                </a:solidFill>
                <a:latin typeface="+mn-lt"/>
                <a:ea typeface="+mj-ea"/>
                <a:cs typeface="+mj-cs"/>
              </a:rPr>
              <a:t>d’engagement</a:t>
            </a:r>
            <a:r>
              <a:rPr lang="en-US" sz="2400" b="1" kern="1200" dirty="0">
                <a:solidFill>
                  <a:schemeClr val="tx1"/>
                </a:solidFill>
                <a:latin typeface="+mn-lt"/>
                <a:ea typeface="+mj-ea"/>
                <a:cs typeface="+mj-cs"/>
              </a:rPr>
              <a:t> </a:t>
            </a:r>
            <a:r>
              <a:rPr lang="en-US" sz="2400" b="1" kern="1200" dirty="0" err="1">
                <a:solidFill>
                  <a:schemeClr val="tx1"/>
                </a:solidFill>
                <a:latin typeface="+mn-lt"/>
                <a:ea typeface="+mj-ea"/>
                <a:cs typeface="+mj-cs"/>
              </a:rPr>
              <a:t>communautaire</a:t>
            </a:r>
            <a:r>
              <a:rPr lang="en-US" sz="2400" b="1" kern="1200" dirty="0">
                <a:solidFill>
                  <a:schemeClr val="tx1"/>
                </a:solidFill>
                <a:latin typeface="+mn-lt"/>
                <a:ea typeface="+mj-ea"/>
                <a:cs typeface="+mj-cs"/>
              </a:rPr>
              <a:t> </a:t>
            </a:r>
            <a:r>
              <a:rPr lang="en-US" sz="2400" b="1" kern="1200" dirty="0" err="1">
                <a:solidFill>
                  <a:schemeClr val="tx1"/>
                </a:solidFill>
                <a:latin typeface="+mn-lt"/>
                <a:ea typeface="+mj-ea"/>
                <a:cs typeface="+mj-cs"/>
              </a:rPr>
              <a:t>réussies</a:t>
            </a:r>
            <a:r>
              <a:rPr lang="en-US" sz="2400" b="1" kern="1200" dirty="0">
                <a:solidFill>
                  <a:schemeClr val="tx1"/>
                </a:solidFill>
                <a:latin typeface="+mn-lt"/>
                <a:ea typeface="+mj-ea"/>
                <a:cs typeface="+mj-cs"/>
              </a:rPr>
              <a:t> </a:t>
            </a:r>
            <a:r>
              <a:rPr lang="en-US" sz="2400" b="1" kern="1200" dirty="0" err="1">
                <a:solidFill>
                  <a:schemeClr val="tx1"/>
                </a:solidFill>
                <a:latin typeface="+mn-lt"/>
                <a:ea typeface="+mj-ea"/>
                <a:cs typeface="+mj-cs"/>
              </a:rPr>
              <a:t>parmi</a:t>
            </a:r>
            <a:r>
              <a:rPr lang="en-US" sz="2400" b="1" kern="1200" dirty="0">
                <a:solidFill>
                  <a:schemeClr val="tx1"/>
                </a:solidFill>
                <a:latin typeface="+mn-lt"/>
                <a:ea typeface="+mj-ea"/>
                <a:cs typeface="+mj-cs"/>
              </a:rPr>
              <a:t> les </a:t>
            </a:r>
            <a:r>
              <a:rPr lang="en-US" sz="2400" b="1" kern="1200" dirty="0" err="1">
                <a:solidFill>
                  <a:schemeClr val="tx1"/>
                </a:solidFill>
                <a:latin typeface="+mn-lt"/>
                <a:ea typeface="+mj-ea"/>
                <a:cs typeface="+mj-cs"/>
              </a:rPr>
              <a:t>professionnels</a:t>
            </a:r>
            <a:r>
              <a:rPr lang="en-US" sz="2400" b="1" kern="1200" dirty="0">
                <a:solidFill>
                  <a:schemeClr val="tx1"/>
                </a:solidFill>
                <a:latin typeface="+mn-lt"/>
                <a:ea typeface="+mj-ea"/>
                <a:cs typeface="+mj-cs"/>
              </a:rPr>
              <a:t> de </a:t>
            </a:r>
            <a:r>
              <a:rPr lang="en-US" sz="2400" b="1" kern="1200" dirty="0" err="1">
                <a:solidFill>
                  <a:schemeClr val="tx1"/>
                </a:solidFill>
                <a:latin typeface="+mn-lt"/>
                <a:ea typeface="+mj-ea"/>
                <a:cs typeface="+mj-cs"/>
              </a:rPr>
              <a:t>santé</a:t>
            </a:r>
            <a:r>
              <a:rPr lang="en-US" sz="2400" b="1" kern="1200" dirty="0">
                <a:solidFill>
                  <a:schemeClr val="tx1"/>
                </a:solidFill>
                <a:latin typeface="+mn-lt"/>
                <a:ea typeface="+mj-ea"/>
                <a:cs typeface="+mj-cs"/>
              </a:rPr>
              <a:t>/les </a:t>
            </a:r>
            <a:r>
              <a:rPr lang="en-US" sz="2400" b="1" kern="1200" dirty="0" err="1">
                <a:solidFill>
                  <a:schemeClr val="tx1"/>
                </a:solidFill>
                <a:latin typeface="+mn-lt"/>
                <a:ea typeface="+mj-ea"/>
                <a:cs typeface="+mj-cs"/>
              </a:rPr>
              <a:t>travailleurs</a:t>
            </a:r>
            <a:r>
              <a:rPr lang="en-US" sz="2400" b="1" kern="1200" dirty="0">
                <a:solidFill>
                  <a:schemeClr val="tx1"/>
                </a:solidFill>
                <a:latin typeface="+mn-lt"/>
                <a:ea typeface="+mj-ea"/>
                <a:cs typeface="+mj-cs"/>
              </a:rPr>
              <a:t> de première </a:t>
            </a:r>
            <a:r>
              <a:rPr lang="en-US" sz="2400" b="1" kern="1200" dirty="0" err="1">
                <a:solidFill>
                  <a:schemeClr val="tx1"/>
                </a:solidFill>
                <a:latin typeface="+mn-lt"/>
                <a:ea typeface="+mj-ea"/>
                <a:cs typeface="+mj-cs"/>
              </a:rPr>
              <a:t>ligne</a:t>
            </a:r>
            <a:endParaRPr lang="en-US" sz="2400" b="1" kern="1200" dirty="0">
              <a:solidFill>
                <a:schemeClr val="tx1"/>
              </a:solidFill>
              <a:latin typeface="+mn-lt"/>
              <a:ea typeface="+mj-ea"/>
              <a:cs typeface="+mj-cs"/>
            </a:endParaRPr>
          </a:p>
        </p:txBody>
      </p:sp>
      <p:pic>
        <p:nvPicPr>
          <p:cNvPr id="20482" name="Picture 2" descr="Image result for image of  health care worker sensiziting in ebola  Training">
            <a:extLst>
              <a:ext uri="{FF2B5EF4-FFF2-40B4-BE49-F238E27FC236}">
                <a16:creationId xmlns:a16="http://schemas.microsoft.com/office/drawing/2014/main" id="{E3527DC6-BA45-8157-E922-D7EFE043CEC4}"/>
              </a:ext>
            </a:extLst>
          </p:cNvPr>
          <p:cNvPicPr>
            <a:picLocks noGrp="1" noChangeAspect="1" noChangeArrowheads="1"/>
          </p:cNvPicPr>
          <p:nvPr>
            <p:ph type="pic" idx="1"/>
          </p:nvPr>
        </p:nvPicPr>
        <p:blipFill rotWithShape="1">
          <a:blip r:embed="rId3">
            <a:extLst>
              <a:ext uri="{28A0092B-C50C-407E-A947-70E740481C1C}">
                <a14:useLocalDpi xmlns:a14="http://schemas.microsoft.com/office/drawing/2010/main" val="0"/>
              </a:ext>
            </a:extLst>
          </a:blip>
          <a:srcRect l="20703" r="12800" b="4"/>
          <a:stretch/>
        </p:blipFill>
        <p:spPr bwMode="auto">
          <a:xfrm>
            <a:off x="581526" y="258142"/>
            <a:ext cx="3118718" cy="3118718"/>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a:noFill/>
          <a:extLst>
            <a:ext uri="{909E8E84-426E-40DD-AFC4-6F175D3DCCD1}">
              <a14:hiddenFill xmlns:a14="http://schemas.microsoft.com/office/drawing/2010/main">
                <a:solidFill>
                  <a:srgbClr val="FFFFFF"/>
                </a:solidFill>
              </a14:hiddenFill>
            </a:ext>
          </a:extLst>
        </p:spPr>
      </p:pic>
      <p:pic>
        <p:nvPicPr>
          <p:cNvPr id="3" name="Picture 2" descr="A blue square with white text&#10;&#10;Description automatically generated">
            <a:extLst>
              <a:ext uri="{FF2B5EF4-FFF2-40B4-BE49-F238E27FC236}">
                <a16:creationId xmlns:a16="http://schemas.microsoft.com/office/drawing/2014/main" id="{E12E3B4A-D9DC-CF9C-FED3-5331A7EF702C}"/>
              </a:ext>
            </a:extLst>
          </p:cNvPr>
          <p:cNvPicPr>
            <a:picLocks noChangeAspect="1"/>
          </p:cNvPicPr>
          <p:nvPr/>
        </p:nvPicPr>
        <p:blipFill>
          <a:blip r:embed="rId4" cstate="screen">
            <a:extLst>
              <a:ext uri="{28A0092B-C50C-407E-A947-70E740481C1C}">
                <a14:useLocalDpi xmlns:a14="http://schemas.microsoft.com/office/drawing/2010/main"/>
              </a:ext>
            </a:extLst>
          </a:blip>
          <a:srcRect r="2" b="2"/>
          <a:stretch/>
        </p:blipFill>
        <p:spPr>
          <a:xfrm>
            <a:off x="581526" y="3486449"/>
            <a:ext cx="3118718" cy="3118718"/>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sp>
        <p:nvSpPr>
          <p:cNvPr id="4" name="Text Placeholder 3">
            <a:extLst>
              <a:ext uri="{FF2B5EF4-FFF2-40B4-BE49-F238E27FC236}">
                <a16:creationId xmlns:a16="http://schemas.microsoft.com/office/drawing/2014/main" id="{3FF57C3F-64B0-F449-6BAA-AC84847D162F}"/>
              </a:ext>
            </a:extLst>
          </p:cNvPr>
          <p:cNvSpPr>
            <a:spLocks noGrp="1"/>
          </p:cNvSpPr>
          <p:nvPr>
            <p:ph type="body" sz="half" idx="2"/>
          </p:nvPr>
        </p:nvSpPr>
        <p:spPr>
          <a:xfrm>
            <a:off x="4074814" y="1993392"/>
            <a:ext cx="7363990" cy="4780118"/>
          </a:xfrm>
        </p:spPr>
        <p:txBody>
          <a:bodyPr vert="horz" lIns="91440" tIns="45720" rIns="91440" bIns="45720" rtlCol="0">
            <a:normAutofit/>
          </a:bodyPr>
          <a:lstStyle/>
          <a:p>
            <a:pPr indent="-228600" algn="just">
              <a:buFont typeface="Arial" panose="020B0604020202020204" pitchFamily="34" charset="0"/>
              <a:buChar char="•"/>
            </a:pPr>
            <a:r>
              <a:rPr lang="en-US" sz="2800" dirty="0" err="1"/>
              <a:t>Programmes</a:t>
            </a:r>
            <a:r>
              <a:rPr lang="en-US" sz="2800" dirty="0"/>
              <a:t> de formation et de </a:t>
            </a:r>
            <a:r>
              <a:rPr lang="en-US" sz="2800" dirty="0" err="1"/>
              <a:t>sensibilisation</a:t>
            </a:r>
            <a:r>
              <a:rPr lang="en-US" sz="2800" dirty="0"/>
              <a:t> </a:t>
            </a:r>
          </a:p>
          <a:p>
            <a:pPr indent="-228600" algn="just">
              <a:buFont typeface="Arial" panose="020B0604020202020204" pitchFamily="34" charset="0"/>
              <a:buChar char="•"/>
            </a:pPr>
            <a:r>
              <a:rPr lang="en-US" sz="2800" dirty="0"/>
              <a:t>Engagement avec les </a:t>
            </a:r>
            <a:r>
              <a:rPr lang="en-US" sz="2800" dirty="0" err="1"/>
              <a:t>dirigeants</a:t>
            </a:r>
            <a:r>
              <a:rPr lang="en-US" sz="2800" dirty="0"/>
              <a:t> et les </a:t>
            </a:r>
            <a:r>
              <a:rPr lang="en-US" sz="2800" dirty="0" err="1"/>
              <a:t>influenceurs</a:t>
            </a:r>
            <a:r>
              <a:rPr lang="en-US" sz="2800" dirty="0"/>
              <a:t> </a:t>
            </a:r>
            <a:r>
              <a:rPr lang="en-US" sz="2800" dirty="0" err="1"/>
              <a:t>locaux</a:t>
            </a:r>
            <a:r>
              <a:rPr lang="en-US" sz="2800" dirty="0"/>
              <a:t> </a:t>
            </a:r>
          </a:p>
          <a:p>
            <a:pPr indent="-228600" algn="just">
              <a:buFont typeface="Arial" panose="020B0604020202020204" pitchFamily="34" charset="0"/>
              <a:buChar char="•"/>
            </a:pPr>
            <a:r>
              <a:rPr lang="en-US" sz="2800" dirty="0"/>
              <a:t>Ateliers et dialogues </a:t>
            </a:r>
            <a:r>
              <a:rPr lang="en-US" sz="2800" dirty="0" err="1"/>
              <a:t>interactifs</a:t>
            </a:r>
            <a:endParaRPr lang="en-US" sz="2800" dirty="0"/>
          </a:p>
          <a:p>
            <a:pPr indent="-228600" algn="just">
              <a:buFont typeface="Arial" panose="020B0604020202020204" pitchFamily="34" charset="0"/>
              <a:buChar char="•"/>
            </a:pPr>
            <a:r>
              <a:rPr lang="en-US" sz="2800" dirty="0"/>
              <a:t>Communication entre pairs </a:t>
            </a:r>
          </a:p>
          <a:p>
            <a:pPr indent="-228600" algn="just">
              <a:buFont typeface="Arial" panose="020B0604020202020204" pitchFamily="34" charset="0"/>
              <a:buChar char="•"/>
            </a:pPr>
            <a:r>
              <a:rPr lang="en-US" sz="2800" dirty="0" err="1"/>
              <a:t>Sensibilité</a:t>
            </a:r>
            <a:r>
              <a:rPr lang="en-US" sz="2800" dirty="0"/>
              <a:t> </a:t>
            </a:r>
            <a:r>
              <a:rPr lang="en-US" sz="2800" dirty="0" err="1"/>
              <a:t>culturelle</a:t>
            </a:r>
            <a:r>
              <a:rPr lang="en-US" sz="2800" dirty="0"/>
              <a:t> et adaptation locale: HCD</a:t>
            </a:r>
          </a:p>
          <a:p>
            <a:pPr indent="-228600" algn="just">
              <a:buFont typeface="Arial" panose="020B0604020202020204" pitchFamily="34" charset="0"/>
              <a:buChar char="•"/>
            </a:pPr>
            <a:r>
              <a:rPr lang="en-US" sz="2800" dirty="0" err="1"/>
              <a:t>Utilisation</a:t>
            </a:r>
            <a:r>
              <a:rPr lang="en-US" sz="2800" dirty="0"/>
              <a:t> des </a:t>
            </a:r>
            <a:r>
              <a:rPr lang="en-US" sz="2800" dirty="0" err="1"/>
              <a:t>médias</a:t>
            </a:r>
            <a:r>
              <a:rPr lang="en-US" sz="2800" dirty="0"/>
              <a:t> et de la </a:t>
            </a:r>
            <a:r>
              <a:rPr lang="en-US" sz="2800" dirty="0" err="1"/>
              <a:t>technologie</a:t>
            </a:r>
            <a:endParaRPr lang="en-US" sz="2800" dirty="0"/>
          </a:p>
          <a:p>
            <a:pPr indent="-228600" algn="just">
              <a:buFont typeface="Arial" panose="020B0604020202020204" pitchFamily="34" charset="0"/>
              <a:buChar char="•"/>
            </a:pPr>
            <a:r>
              <a:rPr lang="en-US" sz="2800" dirty="0" err="1"/>
              <a:t>Incitations</a:t>
            </a:r>
            <a:r>
              <a:rPr lang="en-US" sz="2800" dirty="0"/>
              <a:t> et reconnaissance</a:t>
            </a:r>
          </a:p>
        </p:txBody>
      </p:sp>
    </p:spTree>
    <p:extLst>
      <p:ext uri="{BB962C8B-B14F-4D97-AF65-F5344CB8AC3E}">
        <p14:creationId xmlns:p14="http://schemas.microsoft.com/office/powerpoint/2010/main" val="2635388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72D05657-94EE-4B2D-BC1B-A1D0650636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rc 36">
            <a:extLst>
              <a:ext uri="{FF2B5EF4-FFF2-40B4-BE49-F238E27FC236}">
                <a16:creationId xmlns:a16="http://schemas.microsoft.com/office/drawing/2014/main" id="{7586665A-47B3-4AEE-BC94-15D89FF70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65099" y="486184"/>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itle 1">
            <a:extLst>
              <a:ext uri="{FF2B5EF4-FFF2-40B4-BE49-F238E27FC236}">
                <a16:creationId xmlns:a16="http://schemas.microsoft.com/office/drawing/2014/main" id="{0163BD28-4032-0F8D-A2AF-A3A8F79FA3C1}"/>
              </a:ext>
            </a:extLst>
          </p:cNvPr>
          <p:cNvSpPr>
            <a:spLocks noGrp="1"/>
          </p:cNvSpPr>
          <p:nvPr>
            <p:ph type="title"/>
          </p:nvPr>
        </p:nvSpPr>
        <p:spPr>
          <a:xfrm>
            <a:off x="4246484" y="218279"/>
            <a:ext cx="7363990" cy="1031681"/>
          </a:xfrm>
        </p:spPr>
        <p:txBody>
          <a:bodyPr>
            <a:normAutofit/>
          </a:bodyPr>
          <a:lstStyle/>
          <a:p>
            <a:pPr algn="ctr"/>
            <a:r>
              <a:rPr lang="fr-FR" sz="2400" b="1" kern="0" dirty="0">
                <a:effectLst/>
                <a:latin typeface="Times New Roman" panose="02020603050405020304" pitchFamily="18" charset="0"/>
                <a:ea typeface="Times New Roman" panose="02020603050405020304" pitchFamily="18" charset="0"/>
              </a:rPr>
              <a:t>Domaines clés pour messages aux professionnels de santé et travailleurs de </a:t>
            </a:r>
            <a:r>
              <a:rPr lang="fr-FR" sz="2400" b="1" kern="0" dirty="0">
                <a:latin typeface="Times New Roman" panose="02020603050405020304" pitchFamily="18" charset="0"/>
              </a:rPr>
              <a:t>1ere ligne.</a:t>
            </a:r>
            <a:endParaRPr lang="en-US" sz="2400" b="1" kern="0" dirty="0">
              <a:latin typeface="Times New Roman" panose="02020603050405020304" pitchFamily="18" charset="0"/>
            </a:endParaRPr>
          </a:p>
        </p:txBody>
      </p:sp>
      <p:pic>
        <p:nvPicPr>
          <p:cNvPr id="5" name="Picture 4">
            <a:extLst>
              <a:ext uri="{FF2B5EF4-FFF2-40B4-BE49-F238E27FC236}">
                <a16:creationId xmlns:a16="http://schemas.microsoft.com/office/drawing/2014/main" id="{D054D895-89D8-504D-4616-26B8976D70CC}"/>
              </a:ext>
            </a:extLst>
          </p:cNvPr>
          <p:cNvPicPr>
            <a:picLocks noChangeAspect="1"/>
          </p:cNvPicPr>
          <p:nvPr/>
        </p:nvPicPr>
        <p:blipFill>
          <a:blip r:embed="rId3" cstate="screen">
            <a:extLst>
              <a:ext uri="{28A0092B-C50C-407E-A947-70E740481C1C}">
                <a14:useLocalDpi xmlns:a14="http://schemas.microsoft.com/office/drawing/2010/main"/>
              </a:ext>
            </a:extLst>
          </a:blip>
          <a:srcRect r="2" b="2"/>
          <a:stretch/>
        </p:blipFill>
        <p:spPr>
          <a:xfrm>
            <a:off x="581526" y="258142"/>
            <a:ext cx="3118718" cy="3118718"/>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pic>
        <p:nvPicPr>
          <p:cNvPr id="4" name="Picture 3" descr="A group of people sitting at a park&#10;&#10;Description automatically generated">
            <a:extLst>
              <a:ext uri="{FF2B5EF4-FFF2-40B4-BE49-F238E27FC236}">
                <a16:creationId xmlns:a16="http://schemas.microsoft.com/office/drawing/2014/main" id="{A5E3B417-372A-22B9-784B-E21273CC1826}"/>
              </a:ext>
            </a:extLst>
          </p:cNvPr>
          <p:cNvPicPr>
            <a:picLocks noChangeAspect="1"/>
          </p:cNvPicPr>
          <p:nvPr/>
        </p:nvPicPr>
        <p:blipFill rotWithShape="1">
          <a:blip r:embed="rId4">
            <a:extLst>
              <a:ext uri="{28A0092B-C50C-407E-A947-70E740481C1C}">
                <a14:useLocalDpi xmlns:a14="http://schemas.microsoft.com/office/drawing/2010/main" val="0"/>
              </a:ext>
            </a:extLst>
          </a:blip>
          <a:srcRect l="10625" r="14377" b="3"/>
          <a:stretch/>
        </p:blipFill>
        <p:spPr>
          <a:xfrm>
            <a:off x="581526" y="3486449"/>
            <a:ext cx="3118718" cy="3118718"/>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a:noFill/>
        </p:spPr>
      </p:pic>
      <p:sp>
        <p:nvSpPr>
          <p:cNvPr id="3" name="Content Placeholder 2">
            <a:extLst>
              <a:ext uri="{FF2B5EF4-FFF2-40B4-BE49-F238E27FC236}">
                <a16:creationId xmlns:a16="http://schemas.microsoft.com/office/drawing/2014/main" id="{F9024909-5BD0-C694-28E8-55839932BF48}"/>
              </a:ext>
            </a:extLst>
          </p:cNvPr>
          <p:cNvSpPr>
            <a:spLocks noGrp="1"/>
          </p:cNvSpPr>
          <p:nvPr>
            <p:ph idx="1"/>
          </p:nvPr>
        </p:nvSpPr>
        <p:spPr>
          <a:xfrm>
            <a:off x="4184542" y="1442720"/>
            <a:ext cx="7363990" cy="4855302"/>
          </a:xfrm>
        </p:spPr>
        <p:txBody>
          <a:bodyPr>
            <a:normAutofit/>
          </a:bodyPr>
          <a:lstStyle/>
          <a:p>
            <a:pPr marL="342900" marR="0" lvl="0" indent="-342900">
              <a:spcBef>
                <a:spcPts val="0"/>
              </a:spcBef>
              <a:spcAft>
                <a:spcPts val="800"/>
              </a:spcAft>
              <a:buFont typeface="+mj-lt"/>
              <a:buAutoNum type="arabicPeriod"/>
              <a:tabLst>
                <a:tab pos="457200" algn="l"/>
              </a:tabLst>
            </a:pPr>
            <a:r>
              <a:rPr lang="fr-FR" sz="2400" kern="0" dirty="0">
                <a:effectLst/>
                <a:latin typeface="Times New Roman" panose="02020603050405020304" pitchFamily="18" charset="0"/>
                <a:ea typeface="Times New Roman" panose="02020603050405020304" pitchFamily="18" charset="0"/>
                <a:cs typeface="Times New Roman" panose="02020603050405020304" pitchFamily="18" charset="0"/>
              </a:rPr>
              <a:t>Protection contre Ebola</a:t>
            </a:r>
          </a:p>
          <a:p>
            <a:pPr marL="342900" marR="0" lvl="0" indent="-342900">
              <a:spcBef>
                <a:spcPts val="0"/>
              </a:spcBef>
              <a:spcAft>
                <a:spcPts val="800"/>
              </a:spcAft>
              <a:buFont typeface="+mj-lt"/>
              <a:buAutoNum type="arabicPeriod"/>
              <a:tabLst>
                <a:tab pos="457200" algn="l"/>
              </a:tabLst>
            </a:pPr>
            <a:r>
              <a:rPr lang="fr-FR" sz="2400" kern="0" dirty="0">
                <a:effectLst/>
                <a:latin typeface="Times New Roman" panose="02020603050405020304" pitchFamily="18" charset="0"/>
                <a:ea typeface="Times New Roman" panose="02020603050405020304" pitchFamily="18" charset="0"/>
                <a:cs typeface="Times New Roman" panose="02020603050405020304" pitchFamily="18" charset="0"/>
              </a:rPr>
              <a:t>Sécurité et efficacité prouvées</a:t>
            </a:r>
          </a:p>
          <a:p>
            <a:pPr marL="342900" marR="0" lvl="0" indent="-342900">
              <a:spcBef>
                <a:spcPts val="0"/>
              </a:spcBef>
              <a:spcAft>
                <a:spcPts val="800"/>
              </a:spcAft>
              <a:buFont typeface="+mj-lt"/>
              <a:buAutoNum type="arabicPeriod"/>
              <a:tabLst>
                <a:tab pos="457200" algn="l"/>
              </a:tabLst>
            </a:pPr>
            <a:r>
              <a:rPr lang="fr-FR" sz="2400" kern="0" dirty="0">
                <a:effectLst/>
                <a:latin typeface="Times New Roman" panose="02020603050405020304" pitchFamily="18" charset="0"/>
                <a:ea typeface="Times New Roman" panose="02020603050405020304" pitchFamily="18" charset="0"/>
                <a:cs typeface="Times New Roman" panose="02020603050405020304" pitchFamily="18" charset="0"/>
              </a:rPr>
              <a:t>Mesure préventive a l’explosion</a:t>
            </a:r>
          </a:p>
          <a:p>
            <a:pPr marL="342900" marR="0" lvl="0" indent="-342900">
              <a:spcBef>
                <a:spcPts val="0"/>
              </a:spcBef>
              <a:spcAft>
                <a:spcPts val="800"/>
              </a:spcAft>
              <a:buFont typeface="+mj-lt"/>
              <a:buAutoNum type="arabicPeriod"/>
              <a:tabLst>
                <a:tab pos="457200" algn="l"/>
              </a:tabLst>
            </a:pPr>
            <a:r>
              <a:rPr lang="fr-FR" sz="2400" kern="0" dirty="0">
                <a:effectLst/>
                <a:latin typeface="Times New Roman" panose="02020603050405020304" pitchFamily="18" charset="0"/>
                <a:ea typeface="Times New Roman" panose="02020603050405020304" pitchFamily="18" charset="0"/>
                <a:cs typeface="Times New Roman" panose="02020603050405020304" pitchFamily="18" charset="0"/>
              </a:rPr>
              <a:t>Soutien à la continuité des soins de santé</a:t>
            </a:r>
          </a:p>
          <a:p>
            <a:pPr marL="342900" marR="0" lvl="0" indent="-342900">
              <a:spcBef>
                <a:spcPts val="0"/>
              </a:spcBef>
              <a:spcAft>
                <a:spcPts val="800"/>
              </a:spcAft>
              <a:buFont typeface="+mj-lt"/>
              <a:buAutoNum type="arabicPeriod"/>
              <a:tabLst>
                <a:tab pos="457200" algn="l"/>
              </a:tabLst>
            </a:pPr>
            <a:r>
              <a:rPr lang="fr-FR" sz="2400" kern="0" dirty="0">
                <a:effectLst/>
                <a:latin typeface="Times New Roman" panose="02020603050405020304" pitchFamily="18" charset="0"/>
                <a:ea typeface="Times New Roman" panose="02020603050405020304" pitchFamily="18" charset="0"/>
                <a:cs typeface="Times New Roman" panose="02020603050405020304" pitchFamily="18" charset="0"/>
              </a:rPr>
              <a:t>Leadership en santé publique/assurance/confiance</a:t>
            </a:r>
          </a:p>
          <a:p>
            <a:pPr marL="342900" marR="0" lvl="0" indent="-342900">
              <a:spcBef>
                <a:spcPts val="0"/>
              </a:spcBef>
              <a:spcAft>
                <a:spcPts val="800"/>
              </a:spcAft>
              <a:buFont typeface="+mj-lt"/>
              <a:buAutoNum type="arabicPeriod"/>
              <a:tabLst>
                <a:tab pos="457200" algn="l"/>
              </a:tabLst>
            </a:pPr>
            <a:r>
              <a:rPr lang="fr-FR" sz="2400" kern="0" dirty="0">
                <a:effectLst/>
                <a:latin typeface="Times New Roman" panose="02020603050405020304" pitchFamily="18" charset="0"/>
                <a:ea typeface="Times New Roman" panose="02020603050405020304" pitchFamily="18" charset="0"/>
                <a:cs typeface="Times New Roman" panose="02020603050405020304" pitchFamily="18" charset="0"/>
              </a:rPr>
              <a:t>Accès et disponibilité/prêt à faire face à </a:t>
            </a:r>
            <a:r>
              <a:rPr lang="fr-FR" sz="2400" kern="0" dirty="0">
                <a:latin typeface="Times New Roman" panose="02020603050405020304" pitchFamily="18" charset="0"/>
                <a:ea typeface="Times New Roman" panose="02020603050405020304" pitchFamily="18" charset="0"/>
                <a:cs typeface="Times New Roman" panose="02020603050405020304" pitchFamily="18" charset="0"/>
              </a:rPr>
              <a:t>aux </a:t>
            </a:r>
            <a:r>
              <a:rPr lang="fr-FR" sz="2400" kern="0" dirty="0">
                <a:effectLst/>
                <a:latin typeface="Times New Roman" panose="02020603050405020304" pitchFamily="18" charset="0"/>
                <a:ea typeface="Times New Roman" panose="02020603050405020304" pitchFamily="18" charset="0"/>
                <a:cs typeface="Times New Roman" panose="02020603050405020304" pitchFamily="18" charset="0"/>
              </a:rPr>
              <a:t>épidémies</a:t>
            </a:r>
          </a:p>
          <a:p>
            <a:pPr marL="342900" marR="0" lvl="0" indent="-342900">
              <a:spcBef>
                <a:spcPts val="0"/>
              </a:spcBef>
              <a:spcAft>
                <a:spcPts val="800"/>
              </a:spcAft>
              <a:buFont typeface="+mj-lt"/>
              <a:buAutoNum type="arabicPeriod"/>
              <a:tabLst>
                <a:tab pos="457200" algn="l"/>
              </a:tabLst>
            </a:pPr>
            <a:r>
              <a:rPr lang="fr-FR" sz="2400" kern="0" dirty="0">
                <a:effectLst/>
                <a:latin typeface="Times New Roman" panose="02020603050405020304" pitchFamily="18" charset="0"/>
                <a:ea typeface="Times New Roman" panose="02020603050405020304" pitchFamily="18" charset="0"/>
                <a:cs typeface="Times New Roman" panose="02020603050405020304" pitchFamily="18" charset="0"/>
              </a:rPr>
              <a:t>Informations fiables</a:t>
            </a:r>
          </a:p>
          <a:p>
            <a:pPr marL="342900" marR="0" lvl="0" indent="-342900">
              <a:spcBef>
                <a:spcPts val="0"/>
              </a:spcBef>
              <a:spcAft>
                <a:spcPts val="800"/>
              </a:spcAft>
              <a:buFont typeface="+mj-lt"/>
              <a:buAutoNum type="arabicPeriod"/>
              <a:tabLst>
                <a:tab pos="457200" algn="l"/>
              </a:tabLst>
            </a:pPr>
            <a:r>
              <a:rPr lang="fr-FR" sz="2400" kern="0" dirty="0">
                <a:effectLst/>
                <a:latin typeface="Times New Roman" panose="02020603050405020304" pitchFamily="18" charset="0"/>
                <a:ea typeface="Times New Roman" panose="02020603050405020304" pitchFamily="18" charset="0"/>
                <a:cs typeface="Times New Roman" panose="02020603050405020304" pitchFamily="18" charset="0"/>
              </a:rPr>
              <a:t>Promotion de la santé communautaire</a:t>
            </a:r>
          </a:p>
          <a:p>
            <a:pPr marL="342900" marR="0" lvl="0" indent="-342900">
              <a:spcBef>
                <a:spcPts val="0"/>
              </a:spcBef>
              <a:spcAft>
                <a:spcPts val="800"/>
              </a:spcAft>
              <a:buFont typeface="+mj-lt"/>
              <a:buAutoNum type="arabicPeriod"/>
              <a:tabLst>
                <a:tab pos="457200" algn="l"/>
              </a:tabLst>
            </a:pPr>
            <a:r>
              <a:rPr lang="fr-FR" sz="2400" kern="0" dirty="0">
                <a:effectLst/>
                <a:latin typeface="Times New Roman" panose="02020603050405020304" pitchFamily="18" charset="0"/>
                <a:ea typeface="Times New Roman" panose="02020603050405020304" pitchFamily="18" charset="0"/>
                <a:cs typeface="Times New Roman" panose="02020603050405020304" pitchFamily="18" charset="0"/>
              </a:rPr>
              <a:t>Vigilance/préparation continue aux futures épidémies</a:t>
            </a:r>
          </a:p>
          <a:p>
            <a:pPr marL="342900" marR="0" lvl="0" indent="-342900">
              <a:spcBef>
                <a:spcPts val="0"/>
              </a:spcBef>
              <a:spcAft>
                <a:spcPts val="800"/>
              </a:spcAft>
              <a:buFont typeface="+mj-lt"/>
              <a:buAutoNum type="arabicPeriod"/>
              <a:tabLst>
                <a:tab pos="457200" algn="l"/>
              </a:tabLst>
            </a:pPr>
            <a:r>
              <a:rPr lang="fr-FR" sz="2400" kern="0" dirty="0">
                <a:effectLst/>
                <a:latin typeface="Times New Roman" panose="02020603050405020304" pitchFamily="18" charset="0"/>
                <a:ea typeface="Times New Roman" panose="02020603050405020304" pitchFamily="18" charset="0"/>
                <a:cs typeface="Times New Roman" panose="02020603050405020304" pitchFamily="18" charset="0"/>
              </a:rPr>
              <a:t>Restez informé sur les recommandations et directives</a:t>
            </a:r>
            <a:endParaRPr lang="en-US" sz="2400" dirty="0"/>
          </a:p>
        </p:txBody>
      </p:sp>
    </p:spTree>
    <p:extLst>
      <p:ext uri="{BB962C8B-B14F-4D97-AF65-F5344CB8AC3E}">
        <p14:creationId xmlns:p14="http://schemas.microsoft.com/office/powerpoint/2010/main" val="427912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72D05657-94EE-4B2D-BC1B-A1D0650636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c 28">
            <a:extLst>
              <a:ext uri="{FF2B5EF4-FFF2-40B4-BE49-F238E27FC236}">
                <a16:creationId xmlns:a16="http://schemas.microsoft.com/office/drawing/2014/main" id="{7586665A-47B3-4AEE-BC94-15D89FF70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65099" y="486184"/>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itle 1">
            <a:extLst>
              <a:ext uri="{FF2B5EF4-FFF2-40B4-BE49-F238E27FC236}">
                <a16:creationId xmlns:a16="http://schemas.microsoft.com/office/drawing/2014/main" id="{F2190A44-C39E-D638-C4B6-1100AE0321B0}"/>
              </a:ext>
            </a:extLst>
          </p:cNvPr>
          <p:cNvSpPr>
            <a:spLocks noGrp="1"/>
          </p:cNvSpPr>
          <p:nvPr>
            <p:ph type="title"/>
          </p:nvPr>
        </p:nvSpPr>
        <p:spPr>
          <a:xfrm>
            <a:off x="4184542" y="486185"/>
            <a:ext cx="7363990" cy="900522"/>
          </a:xfrm>
        </p:spPr>
        <p:txBody>
          <a:bodyPr>
            <a:normAutofit fontScale="90000"/>
          </a:bodyPr>
          <a:lstStyle/>
          <a:p>
            <a:pPr algn="ctr"/>
            <a:r>
              <a:rPr kumimoji="0" lang="fr-FR" altLang="en-US" sz="2400" b="1" i="0" u="none" strike="noStrike" cap="none" normalizeH="0" baseline="0" dirty="0">
                <a:ln>
                  <a:noFill/>
                </a:ln>
                <a:effectLst/>
                <a:latin typeface="Arial" panose="020B0604020202020204" pitchFamily="34" charset="0"/>
              </a:rPr>
              <a:t>Stratégies pour atteindre et mobiliser efficacement les travailleurs de première ligne</a:t>
            </a:r>
            <a:br>
              <a:rPr kumimoji="0" lang="en-US" altLang="en-US" sz="2400" b="0" i="0" u="none" strike="noStrike" cap="none" normalizeH="0" baseline="0" dirty="0">
                <a:ln>
                  <a:noFill/>
                </a:ln>
                <a:effectLst/>
                <a:latin typeface="Arial" panose="020B0604020202020204" pitchFamily="34" charset="0"/>
              </a:rPr>
            </a:br>
            <a:endParaRPr lang="en-US" sz="2400" dirty="0"/>
          </a:p>
        </p:txBody>
      </p:sp>
      <p:pic>
        <p:nvPicPr>
          <p:cNvPr id="3" name="Picture 2">
            <a:extLst>
              <a:ext uri="{FF2B5EF4-FFF2-40B4-BE49-F238E27FC236}">
                <a16:creationId xmlns:a16="http://schemas.microsoft.com/office/drawing/2014/main" id="{DC38FEBF-0552-3312-768C-A98283E74488}"/>
              </a:ext>
            </a:extLst>
          </p:cNvPr>
          <p:cNvPicPr>
            <a:picLocks noChangeAspect="1"/>
          </p:cNvPicPr>
          <p:nvPr/>
        </p:nvPicPr>
        <p:blipFill>
          <a:blip r:embed="rId3" cstate="screen">
            <a:extLst>
              <a:ext uri="{28A0092B-C50C-407E-A947-70E740481C1C}">
                <a14:useLocalDpi xmlns:a14="http://schemas.microsoft.com/office/drawing/2010/main"/>
              </a:ext>
            </a:extLst>
          </a:blip>
          <a:srcRect r="2" b="2"/>
          <a:stretch/>
        </p:blipFill>
        <p:spPr>
          <a:xfrm>
            <a:off x="581526" y="258142"/>
            <a:ext cx="3118718" cy="3118718"/>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pic>
        <p:nvPicPr>
          <p:cNvPr id="4" name="Picture 3" descr="WHO broadens the pool of people who can get the Ebola vaccine - STAT">
            <a:extLst>
              <a:ext uri="{FF2B5EF4-FFF2-40B4-BE49-F238E27FC236}">
                <a16:creationId xmlns:a16="http://schemas.microsoft.com/office/drawing/2014/main" id="{51E0BB2F-CDF8-6C85-F274-CEE0C26DB36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247" r="25753" b="1"/>
          <a:stretch/>
        </p:blipFill>
        <p:spPr bwMode="auto">
          <a:xfrm>
            <a:off x="581526" y="3486449"/>
            <a:ext cx="3118718" cy="3118718"/>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a:noFill/>
          <a:extLst>
            <a:ext uri="{909E8E84-426E-40DD-AFC4-6F175D3DCCD1}">
              <a14:hiddenFill xmlns:a14="http://schemas.microsoft.com/office/drawing/2010/main">
                <a:solidFill>
                  <a:srgbClr val="FFFFFF"/>
                </a:solidFill>
              </a14:hiddenFill>
            </a:ext>
          </a:extLst>
        </p:spPr>
      </p:pic>
      <p:graphicFrame>
        <p:nvGraphicFramePr>
          <p:cNvPr id="13" name="Content Placeholder 2">
            <a:extLst>
              <a:ext uri="{FF2B5EF4-FFF2-40B4-BE49-F238E27FC236}">
                <a16:creationId xmlns:a16="http://schemas.microsoft.com/office/drawing/2014/main" id="{635CC212-2C96-656A-0BE1-900208E9A6F2}"/>
              </a:ext>
            </a:extLst>
          </p:cNvPr>
          <p:cNvGraphicFramePr>
            <a:graphicFrameLocks noGrp="1"/>
          </p:cNvGraphicFramePr>
          <p:nvPr>
            <p:ph idx="1"/>
            <p:extLst>
              <p:ext uri="{D42A27DB-BD31-4B8C-83A1-F6EECF244321}">
                <p14:modId xmlns:p14="http://schemas.microsoft.com/office/powerpoint/2010/main" val="730804156"/>
              </p:ext>
            </p:extLst>
          </p:nvPr>
        </p:nvGraphicFramePr>
        <p:xfrm>
          <a:off x="4184542" y="1310640"/>
          <a:ext cx="7363990" cy="498738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38156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7" name="Arc 26">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9A47E36-9695-7C76-56B3-93034E9E35F3}"/>
              </a:ext>
            </a:extLst>
          </p:cNvPr>
          <p:cNvSpPr>
            <a:spLocks noGrp="1"/>
          </p:cNvSpPr>
          <p:nvPr>
            <p:ph type="title"/>
          </p:nvPr>
        </p:nvSpPr>
        <p:spPr>
          <a:xfrm>
            <a:off x="5894962" y="479493"/>
            <a:ext cx="5458838" cy="942907"/>
          </a:xfrm>
        </p:spPr>
        <p:txBody>
          <a:bodyPr>
            <a:normAutofit fontScale="90000"/>
          </a:bodyPr>
          <a:lstStyle/>
          <a:p>
            <a:pPr algn="ctr"/>
            <a:br>
              <a:rPr lang="en-US" sz="2100" b="1"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fr-FR" sz="2200" b="1" dirty="0"/>
              <a:t>Appel à l'action : Importance des efforts soutenus et de la communication continue</a:t>
            </a:r>
            <a:endParaRPr lang="en-US" sz="2200" b="1" dirty="0"/>
          </a:p>
        </p:txBody>
      </p:sp>
      <p:sp>
        <p:nvSpPr>
          <p:cNvPr id="29" name="Freeform: Shape 28">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a:extLst>
              <a:ext uri="{FF2B5EF4-FFF2-40B4-BE49-F238E27FC236}">
                <a16:creationId xmlns:a16="http://schemas.microsoft.com/office/drawing/2014/main" id="{71955F1A-23F7-242F-A376-6F18612798B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03183" y="955437"/>
            <a:ext cx="4335162"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BE7B4B5E-B77B-F013-2740-96F3773CDF68}"/>
              </a:ext>
            </a:extLst>
          </p:cNvPr>
          <p:cNvSpPr>
            <a:spLocks noGrp="1"/>
          </p:cNvSpPr>
          <p:nvPr>
            <p:ph idx="1"/>
          </p:nvPr>
        </p:nvSpPr>
        <p:spPr>
          <a:xfrm>
            <a:off x="5120641" y="1422400"/>
            <a:ext cx="6233160" cy="4754563"/>
          </a:xfrm>
        </p:spPr>
        <p:txBody>
          <a:bodyPr>
            <a:normAutofit/>
          </a:bodyPr>
          <a:lstStyle/>
          <a:p>
            <a:pPr marL="342900" marR="0" lvl="0" indent="-342900" algn="just">
              <a:spcBef>
                <a:spcPts val="0"/>
              </a:spcBef>
              <a:spcAft>
                <a:spcPts val="800"/>
              </a:spcAft>
              <a:buFont typeface="+mj-lt"/>
              <a:buAutoNum type="arabicPeriod"/>
              <a:tabLst>
                <a:tab pos="457200" algn="l"/>
              </a:tabLst>
            </a:pPr>
            <a:r>
              <a:rPr lang="fr-FR" sz="1600" b="1" kern="0" dirty="0">
                <a:latin typeface="Times New Roman" panose="02020603050405020304" pitchFamily="18" charset="0"/>
                <a:cs typeface="Times New Roman" panose="02020603050405020304" pitchFamily="18" charset="0"/>
              </a:rPr>
              <a:t>Protection cohérente : </a:t>
            </a:r>
            <a:r>
              <a:rPr lang="fr-FR" sz="1600" dirty="0"/>
              <a:t>des efforts soutenus permettent de garantir que les professionnels de santé et de première ligne reçoivent les vaccins en temps opportun, y compris les rappels si nécessaire.</a:t>
            </a:r>
          </a:p>
          <a:p>
            <a:pPr marL="342900" marR="0" lvl="0" indent="-342900" algn="just">
              <a:spcBef>
                <a:spcPts val="0"/>
              </a:spcBef>
              <a:spcAft>
                <a:spcPts val="800"/>
              </a:spcAft>
              <a:buFont typeface="+mj-lt"/>
              <a:buAutoNum type="arabicPeriod"/>
              <a:tabLst>
                <a:tab pos="457200" algn="l"/>
              </a:tabLst>
            </a:pPr>
            <a:r>
              <a:rPr lang="fr-FR" sz="1600" b="1" kern="0" dirty="0">
                <a:latin typeface="Times New Roman" panose="02020603050405020304" pitchFamily="18" charset="0"/>
                <a:cs typeface="Times New Roman" panose="02020603050405020304" pitchFamily="18" charset="0"/>
              </a:rPr>
              <a:t>Lutter contre l'hésitation à la vaccination : </a:t>
            </a:r>
            <a:r>
              <a:rPr lang="fr-FR" sz="1600" dirty="0"/>
              <a:t>une communication continue et taillée sur les problèmes spécifiques permet aux responsables de la vaccination de lutter de manière proactive contre l'hésitation à la vaccination parmi les professionnels de santé et de première ligne. </a:t>
            </a:r>
          </a:p>
          <a:p>
            <a:pPr marL="342900" marR="0" lvl="0" indent="-342900" algn="just">
              <a:spcBef>
                <a:spcPts val="0"/>
              </a:spcBef>
              <a:spcAft>
                <a:spcPts val="800"/>
              </a:spcAft>
              <a:buFont typeface="+mj-lt"/>
              <a:buAutoNum type="arabicPeriod"/>
              <a:tabLst>
                <a:tab pos="457200" algn="l"/>
              </a:tabLst>
            </a:pPr>
            <a:r>
              <a:rPr lang="fr-FR" sz="1600" b="1" kern="0" dirty="0">
                <a:latin typeface="Times New Roman" panose="02020603050405020304" pitchFamily="18" charset="0"/>
                <a:cs typeface="Times New Roman" panose="02020603050405020304" pitchFamily="18" charset="0"/>
              </a:rPr>
              <a:t>S'adapter aux défis : A</a:t>
            </a:r>
            <a:r>
              <a:rPr lang="fr-FR" sz="1600" dirty="0"/>
              <a:t>dapter les stratégies de vaccination pour surmonter les défis tels que les obstacles logistiques, la rotation du personnel ou l'évolution des perceptions de la communauté.</a:t>
            </a:r>
          </a:p>
          <a:p>
            <a:pPr marL="342900" marR="0" lvl="0" indent="-342900" algn="just">
              <a:spcBef>
                <a:spcPts val="0"/>
              </a:spcBef>
              <a:spcAft>
                <a:spcPts val="800"/>
              </a:spcAft>
              <a:buFont typeface="+mj-lt"/>
              <a:buAutoNum type="arabicPeriod"/>
              <a:tabLst>
                <a:tab pos="457200" algn="l"/>
              </a:tabLst>
            </a:pPr>
            <a:r>
              <a:rPr lang="fr-FR" sz="1600" b="1" kern="0" dirty="0">
                <a:latin typeface="Times New Roman" panose="02020603050405020304" pitchFamily="18" charset="0"/>
                <a:cs typeface="Times New Roman" panose="02020603050405020304" pitchFamily="18" charset="0"/>
              </a:rPr>
              <a:t>Suivi et évaluation :</a:t>
            </a:r>
            <a:r>
              <a:rPr lang="fr-FR" sz="1600" dirty="0"/>
              <a:t> Suivi de la couverture vaccinale et de l'efficacité parmi les professionnels de santé et de première ligne. Une évaluation continue permet d'ajuster les stratégies pour améliorer les résultats et assurer une protection optimale.</a:t>
            </a:r>
          </a:p>
          <a:p>
            <a:pPr marL="342900" marR="0" lvl="0" indent="-342900" algn="just">
              <a:spcBef>
                <a:spcPts val="0"/>
              </a:spcBef>
              <a:spcAft>
                <a:spcPts val="800"/>
              </a:spcAft>
              <a:buFont typeface="+mj-lt"/>
              <a:buAutoNum type="arabicPeriod"/>
              <a:tabLst>
                <a:tab pos="457200" algn="l"/>
              </a:tabLst>
            </a:pPr>
            <a:r>
              <a:rPr lang="fr-FR" sz="1600" b="1" kern="0" dirty="0">
                <a:latin typeface="Times New Roman" panose="02020603050405020304" pitchFamily="18" charset="0"/>
                <a:cs typeface="Times New Roman" panose="02020603050405020304" pitchFamily="18" charset="0"/>
              </a:rPr>
              <a:t>Renforcer la résilience : </a:t>
            </a:r>
            <a:r>
              <a:rPr lang="fr-FR" sz="1600" dirty="0"/>
              <a:t>une communication continue favorise une culture de résilience et de préparation au sein des systèmes de santé.</a:t>
            </a:r>
            <a:endParaRPr lang="en-US" sz="1600" dirty="0"/>
          </a:p>
        </p:txBody>
      </p:sp>
    </p:spTree>
    <p:extLst>
      <p:ext uri="{BB962C8B-B14F-4D97-AF65-F5344CB8AC3E}">
        <p14:creationId xmlns:p14="http://schemas.microsoft.com/office/powerpoint/2010/main" val="2480383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9" name="Arc 18">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326E832-4C62-22BC-F53C-C069214F5C98}"/>
              </a:ext>
            </a:extLst>
          </p:cNvPr>
          <p:cNvSpPr>
            <a:spLocks noGrp="1"/>
          </p:cNvSpPr>
          <p:nvPr>
            <p:ph type="title"/>
          </p:nvPr>
        </p:nvSpPr>
        <p:spPr>
          <a:xfrm>
            <a:off x="5890934" y="292656"/>
            <a:ext cx="5458838" cy="764358"/>
          </a:xfrm>
        </p:spPr>
        <p:txBody>
          <a:bodyPr>
            <a:normAutofit/>
          </a:bodyPr>
          <a:lstStyle/>
          <a:p>
            <a:pPr algn="ctr"/>
            <a:r>
              <a:rPr lang="fr-FR" sz="2000" b="1" dirty="0"/>
              <a:t>Exemples de </a:t>
            </a:r>
            <a:r>
              <a:rPr lang="fr-FR" sz="2000" b="1" dirty="0" err="1"/>
              <a:t>materiels</a:t>
            </a:r>
            <a:r>
              <a:rPr lang="fr-FR" sz="2000" b="1" dirty="0"/>
              <a:t> de communication pour sensibiliser les professionnels de sante</a:t>
            </a:r>
            <a:endParaRPr lang="en-US" sz="2000" b="1" dirty="0"/>
          </a:p>
        </p:txBody>
      </p:sp>
      <p:sp>
        <p:nvSpPr>
          <p:cNvPr id="21" name="Freeform: Shape 20">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a:extLst>
              <a:ext uri="{FF2B5EF4-FFF2-40B4-BE49-F238E27FC236}">
                <a16:creationId xmlns:a16="http://schemas.microsoft.com/office/drawing/2014/main" id="{F3ADC472-D8F5-9302-F18E-487FAC14D81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03182" y="955437"/>
            <a:ext cx="4137515"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45E7486D-DBEE-FC6E-AA22-6D6643D8D06E}"/>
              </a:ext>
            </a:extLst>
          </p:cNvPr>
          <p:cNvSpPr>
            <a:spLocks noGrp="1"/>
          </p:cNvSpPr>
          <p:nvPr>
            <p:ph idx="1"/>
          </p:nvPr>
        </p:nvSpPr>
        <p:spPr>
          <a:xfrm>
            <a:off x="4936381" y="1057014"/>
            <a:ext cx="6417419" cy="5119949"/>
          </a:xfrm>
        </p:spPr>
        <p:txBody>
          <a:bodyPr>
            <a:normAutofit fontScale="85000" lnSpcReduction="20000"/>
          </a:bodyPr>
          <a:lstStyle/>
          <a:p>
            <a:pPr marL="0" marR="0" indent="0">
              <a:buNone/>
            </a:pPr>
            <a:endParaRPr lang="en-US" sz="700" dirty="0">
              <a:effectLst/>
              <a:latin typeface="Times New Roman" panose="02020603050405020304" pitchFamily="18" charset="0"/>
              <a:ea typeface="Times New Roman" panose="02020603050405020304" pitchFamily="18" charset="0"/>
            </a:endParaRPr>
          </a:p>
          <a:p>
            <a:pPr marL="0" marR="0" indent="0" algn="just">
              <a:spcBef>
                <a:spcPts val="0"/>
              </a:spcBef>
              <a:spcAft>
                <a:spcPts val="800"/>
              </a:spcAft>
              <a:buNone/>
            </a:pPr>
            <a:r>
              <a:rPr lang="en-US" sz="1300" b="1" kern="0" dirty="0">
                <a:effectLst/>
                <a:latin typeface="Times New Roman" panose="02020603050405020304" pitchFamily="18" charset="0"/>
                <a:ea typeface="Times New Roman" panose="02020603050405020304" pitchFamily="18" charset="0"/>
                <a:cs typeface="Times New Roman" panose="02020603050405020304" pitchFamily="18" charset="0"/>
              </a:rPr>
              <a:t>1. Brochures et Flyers</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SzPts val="1000"/>
              <a:buFont typeface="Symbol" panose="05050102010706020507" pitchFamily="18" charset="2"/>
              <a:buChar char=""/>
              <a:tabLst>
                <a:tab pos="457200" algn="l"/>
              </a:tabLst>
            </a:pPr>
            <a:r>
              <a:rPr lang="fr-FR" sz="1300" b="1" kern="0" dirty="0">
                <a:effectLst/>
                <a:latin typeface="Times New Roman" panose="02020603050405020304" pitchFamily="18" charset="0"/>
                <a:ea typeface="Times New Roman" panose="02020603050405020304" pitchFamily="18" charset="0"/>
                <a:cs typeface="Times New Roman" panose="02020603050405020304" pitchFamily="18" charset="0"/>
              </a:rPr>
              <a:t>Contenu :</a:t>
            </a:r>
            <a:r>
              <a:rPr lang="fr-FR" sz="1300" kern="0" dirty="0">
                <a:effectLst/>
                <a:latin typeface="Times New Roman" panose="02020603050405020304" pitchFamily="18" charset="0"/>
                <a:ea typeface="Times New Roman" panose="02020603050405020304" pitchFamily="18" charset="0"/>
                <a:cs typeface="Times New Roman" panose="02020603050405020304" pitchFamily="18" charset="0"/>
              </a:rPr>
              <a:t> Informations sur l'Ebola, les avantages de la vaccination, la sécurité des vaccins, et des réponses aux questions fréquentes.</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SzPts val="1000"/>
              <a:buFont typeface="Symbol" panose="05050102010706020507" pitchFamily="18" charset="2"/>
              <a:buChar char=""/>
              <a:tabLst>
                <a:tab pos="457200" algn="l"/>
              </a:tabLst>
            </a:pPr>
            <a:r>
              <a:rPr lang="fr-FR" sz="1300" b="1" kern="0" dirty="0">
                <a:effectLst/>
                <a:latin typeface="Times New Roman" panose="02020603050405020304" pitchFamily="18" charset="0"/>
                <a:ea typeface="Times New Roman" panose="02020603050405020304" pitchFamily="18" charset="0"/>
                <a:cs typeface="Times New Roman" panose="02020603050405020304" pitchFamily="18" charset="0"/>
              </a:rPr>
              <a:t>Design :</a:t>
            </a:r>
            <a:r>
              <a:rPr lang="fr-FR" sz="1300" kern="0" dirty="0">
                <a:effectLst/>
                <a:latin typeface="Times New Roman" panose="02020603050405020304" pitchFamily="18" charset="0"/>
                <a:ea typeface="Times New Roman" panose="02020603050405020304" pitchFamily="18" charset="0"/>
                <a:cs typeface="Times New Roman" panose="02020603050405020304" pitchFamily="18" charset="0"/>
              </a:rPr>
              <a:t> Visuellement attrayant, avec des graphiques clairs et des faits précis. Inclure des témoignages de professionnels de santé ayant reçu le vaccin.</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spcBef>
                <a:spcPts val="0"/>
              </a:spcBef>
              <a:spcAft>
                <a:spcPts val="800"/>
              </a:spcAft>
              <a:buNone/>
            </a:pPr>
            <a:r>
              <a:rPr lang="en-US" sz="1300" b="1" kern="0" dirty="0">
                <a:effectLst/>
                <a:latin typeface="Times New Roman" panose="02020603050405020304" pitchFamily="18" charset="0"/>
                <a:ea typeface="Times New Roman" panose="02020603050405020304" pitchFamily="18" charset="0"/>
                <a:cs typeface="Times New Roman" panose="02020603050405020304" pitchFamily="18" charset="0"/>
              </a:rPr>
              <a:t>2. Affiches</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SzPts val="1000"/>
              <a:buFont typeface="Symbol" panose="05050102010706020507" pitchFamily="18" charset="2"/>
              <a:buChar char=""/>
              <a:tabLst>
                <a:tab pos="457200" algn="l"/>
              </a:tabLst>
            </a:pPr>
            <a:r>
              <a:rPr lang="fr-FR" sz="1300" b="1" kern="0" dirty="0">
                <a:effectLst/>
                <a:latin typeface="Times New Roman" panose="02020603050405020304" pitchFamily="18" charset="0"/>
                <a:ea typeface="Times New Roman" panose="02020603050405020304" pitchFamily="18" charset="0"/>
                <a:cs typeface="Times New Roman" panose="02020603050405020304" pitchFamily="18" charset="0"/>
              </a:rPr>
              <a:t>Contenu :</a:t>
            </a:r>
            <a:r>
              <a:rPr lang="fr-FR" sz="1300" kern="0" dirty="0">
                <a:effectLst/>
                <a:latin typeface="Times New Roman" panose="02020603050405020304" pitchFamily="18" charset="0"/>
                <a:ea typeface="Times New Roman" panose="02020603050405020304" pitchFamily="18" charset="0"/>
                <a:cs typeface="Times New Roman" panose="02020603050405020304" pitchFamily="18" charset="0"/>
              </a:rPr>
              <a:t> Messages clés sur l'importance de la vaccination, le processus de vaccination, et des statistiques sur l'efficacité des vaccins contre l'Ebola.</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SzPts val="1000"/>
              <a:buFont typeface="Symbol" panose="05050102010706020507" pitchFamily="18" charset="2"/>
              <a:buChar char=""/>
              <a:tabLst>
                <a:tab pos="457200" algn="l"/>
              </a:tabLst>
            </a:pPr>
            <a:r>
              <a:rPr lang="fr-FR" sz="1300" b="1" kern="0" dirty="0">
                <a:effectLst/>
                <a:latin typeface="Times New Roman" panose="02020603050405020304" pitchFamily="18" charset="0"/>
                <a:ea typeface="Times New Roman" panose="02020603050405020304" pitchFamily="18" charset="0"/>
                <a:cs typeface="Times New Roman" panose="02020603050405020304" pitchFamily="18" charset="0"/>
              </a:rPr>
              <a:t>Design :</a:t>
            </a:r>
            <a:r>
              <a:rPr lang="fr-FR" sz="1300" kern="0" dirty="0">
                <a:effectLst/>
                <a:latin typeface="Times New Roman" panose="02020603050405020304" pitchFamily="18" charset="0"/>
                <a:ea typeface="Times New Roman" panose="02020603050405020304" pitchFamily="18" charset="0"/>
                <a:cs typeface="Times New Roman" panose="02020603050405020304" pitchFamily="18" charset="0"/>
              </a:rPr>
              <a:t> Utiliser des images percutantes et des </a:t>
            </a:r>
            <a:r>
              <a:rPr lang="fr-FR" sz="1300" kern="0" dirty="0" err="1">
                <a:effectLst/>
                <a:latin typeface="Times New Roman" panose="02020603050405020304" pitchFamily="18" charset="0"/>
                <a:ea typeface="Times New Roman" panose="02020603050405020304" pitchFamily="18" charset="0"/>
                <a:cs typeface="Times New Roman" panose="02020603050405020304" pitchFamily="18" charset="0"/>
              </a:rPr>
              <a:t>bullet</a:t>
            </a:r>
            <a:r>
              <a:rPr lang="fr-FR" sz="1300" kern="0" dirty="0">
                <a:effectLst/>
                <a:latin typeface="Times New Roman" panose="02020603050405020304" pitchFamily="18" charset="0"/>
                <a:ea typeface="Times New Roman" panose="02020603050405020304" pitchFamily="18" charset="0"/>
                <a:cs typeface="Times New Roman" panose="02020603050405020304" pitchFamily="18" charset="0"/>
              </a:rPr>
              <a:t> points pour transmettre rapidement les informations essentielles. Afficher ces affiches dans les zones de travail des professionnels de santé, telles que les salles d’attente et les bureaux.</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spcBef>
                <a:spcPts val="0"/>
              </a:spcBef>
              <a:spcAft>
                <a:spcPts val="800"/>
              </a:spcAft>
              <a:buNone/>
            </a:pPr>
            <a:r>
              <a:rPr lang="en-US" sz="1300" b="1" kern="0" dirty="0">
                <a:effectLst/>
                <a:latin typeface="Times New Roman" panose="02020603050405020304" pitchFamily="18" charset="0"/>
                <a:ea typeface="Times New Roman" panose="02020603050405020304" pitchFamily="18" charset="0"/>
                <a:cs typeface="Times New Roman" panose="02020603050405020304" pitchFamily="18" charset="0"/>
              </a:rPr>
              <a:t>3. </a:t>
            </a:r>
            <a:r>
              <a:rPr lang="en-US" sz="13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Vidéos</a:t>
            </a:r>
            <a:r>
              <a:rPr lang="en-US" sz="13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b="1" kern="0" dirty="0" err="1">
                <a:effectLst/>
                <a:latin typeface="Times New Roman" panose="02020603050405020304" pitchFamily="18" charset="0"/>
                <a:ea typeface="Times New Roman" panose="02020603050405020304" pitchFamily="18" charset="0"/>
                <a:cs typeface="Times New Roman" panose="02020603050405020304" pitchFamily="18" charset="0"/>
              </a:rPr>
              <a:t>Éducatives</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SzPts val="1000"/>
              <a:buFont typeface="Symbol" panose="05050102010706020507" pitchFamily="18" charset="2"/>
              <a:buChar char=""/>
              <a:tabLst>
                <a:tab pos="457200" algn="l"/>
              </a:tabLst>
            </a:pPr>
            <a:r>
              <a:rPr lang="fr-FR" sz="1300" b="1" kern="0" dirty="0">
                <a:effectLst/>
                <a:latin typeface="Times New Roman" panose="02020603050405020304" pitchFamily="18" charset="0"/>
                <a:ea typeface="Times New Roman" panose="02020603050405020304" pitchFamily="18" charset="0"/>
                <a:cs typeface="Times New Roman" panose="02020603050405020304" pitchFamily="18" charset="0"/>
              </a:rPr>
              <a:t>Contenu :</a:t>
            </a:r>
            <a:r>
              <a:rPr lang="fr-FR" sz="1300" kern="0" dirty="0">
                <a:effectLst/>
                <a:latin typeface="Times New Roman" panose="02020603050405020304" pitchFamily="18" charset="0"/>
                <a:ea typeface="Times New Roman" panose="02020603050405020304" pitchFamily="18" charset="0"/>
                <a:cs typeface="Times New Roman" panose="02020603050405020304" pitchFamily="18" charset="0"/>
              </a:rPr>
              <a:t> Explications détaillées sur le vaccin Ebola, y compris des animations sur le fonctionnement du vaccin, des interviews avec des experts en santé, et des témoignages de professionnels de santé vaccinés.</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SzPts val="1000"/>
              <a:buFont typeface="Symbol" panose="05050102010706020507" pitchFamily="18" charset="2"/>
              <a:buChar char=""/>
              <a:tabLst>
                <a:tab pos="457200" algn="l"/>
              </a:tabLst>
            </a:pPr>
            <a:r>
              <a:rPr lang="fr-FR" sz="1300" b="1" kern="0" dirty="0">
                <a:effectLst/>
                <a:latin typeface="Times New Roman" panose="02020603050405020304" pitchFamily="18" charset="0"/>
                <a:ea typeface="Times New Roman" panose="02020603050405020304" pitchFamily="18" charset="0"/>
                <a:cs typeface="Times New Roman" panose="02020603050405020304" pitchFamily="18" charset="0"/>
              </a:rPr>
              <a:t>Design :</a:t>
            </a:r>
            <a:r>
              <a:rPr lang="fr-FR" sz="1300" kern="0" dirty="0">
                <a:effectLst/>
                <a:latin typeface="Times New Roman" panose="02020603050405020304" pitchFamily="18" charset="0"/>
                <a:ea typeface="Times New Roman" panose="02020603050405020304" pitchFamily="18" charset="0"/>
                <a:cs typeface="Times New Roman" panose="02020603050405020304" pitchFamily="18" charset="0"/>
              </a:rPr>
              <a:t> Courtes (5 à 10 minutes), claires, et accessibles. Disponible sur des plateformes internes de formation ou à travers des séances de formation en ligne.</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spcBef>
                <a:spcPts val="0"/>
              </a:spcBef>
              <a:spcAft>
                <a:spcPts val="800"/>
              </a:spcAft>
              <a:buNone/>
            </a:pPr>
            <a:r>
              <a:rPr lang="en-US" sz="1300" b="1" kern="0" dirty="0">
                <a:effectLst/>
                <a:latin typeface="Times New Roman" panose="02020603050405020304" pitchFamily="18" charset="0"/>
                <a:ea typeface="Times New Roman" panose="02020603050405020304" pitchFamily="18" charset="0"/>
                <a:cs typeface="Times New Roman" panose="02020603050405020304" pitchFamily="18" charset="0"/>
              </a:rPr>
              <a:t>4. </a:t>
            </a:r>
            <a:r>
              <a:rPr lang="en-US" sz="13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Présentations</a:t>
            </a:r>
            <a:r>
              <a:rPr lang="en-US" sz="1300" b="1" kern="0" dirty="0">
                <a:effectLst/>
                <a:latin typeface="Times New Roman" panose="02020603050405020304" pitchFamily="18" charset="0"/>
                <a:ea typeface="Times New Roman" panose="02020603050405020304" pitchFamily="18" charset="0"/>
                <a:cs typeface="Times New Roman" panose="02020603050405020304" pitchFamily="18" charset="0"/>
              </a:rPr>
              <a:t> PowerPoint</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SzPts val="1000"/>
              <a:buFont typeface="Symbol" panose="05050102010706020507" pitchFamily="18" charset="2"/>
              <a:buChar char=""/>
              <a:tabLst>
                <a:tab pos="457200" algn="l"/>
              </a:tabLst>
            </a:pPr>
            <a:r>
              <a:rPr lang="fr-FR" sz="1300" b="1" kern="0" dirty="0">
                <a:effectLst/>
                <a:latin typeface="Times New Roman" panose="02020603050405020304" pitchFamily="18" charset="0"/>
                <a:ea typeface="Times New Roman" panose="02020603050405020304" pitchFamily="18" charset="0"/>
                <a:cs typeface="Times New Roman" panose="02020603050405020304" pitchFamily="18" charset="0"/>
              </a:rPr>
              <a:t>Contenu :</a:t>
            </a:r>
            <a:r>
              <a:rPr lang="fr-FR" sz="1300" kern="0" dirty="0">
                <a:effectLst/>
                <a:latin typeface="Times New Roman" panose="02020603050405020304" pitchFamily="18" charset="0"/>
                <a:ea typeface="Times New Roman" panose="02020603050405020304" pitchFamily="18" charset="0"/>
                <a:cs typeface="Times New Roman" panose="02020603050405020304" pitchFamily="18" charset="0"/>
              </a:rPr>
              <a:t> Diapositives expliquant le besoin de vaccination contre l'Ebola, les avantages du vaccin, les données sur son efficacité et sécurité, et les recommandations des autorités sanitaires.</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SzPts val="1000"/>
              <a:buFont typeface="Symbol" panose="05050102010706020507" pitchFamily="18" charset="2"/>
              <a:buChar char=""/>
              <a:tabLst>
                <a:tab pos="457200" algn="l"/>
              </a:tabLst>
            </a:pPr>
            <a:r>
              <a:rPr lang="fr-FR" sz="1300" b="1" kern="0" dirty="0">
                <a:effectLst/>
                <a:latin typeface="Times New Roman" panose="02020603050405020304" pitchFamily="18" charset="0"/>
                <a:ea typeface="Times New Roman" panose="02020603050405020304" pitchFamily="18" charset="0"/>
                <a:cs typeface="Times New Roman" panose="02020603050405020304" pitchFamily="18" charset="0"/>
              </a:rPr>
              <a:t>Design :</a:t>
            </a:r>
            <a:r>
              <a:rPr lang="fr-FR" sz="1300" kern="0" dirty="0">
                <a:effectLst/>
                <a:latin typeface="Times New Roman" panose="02020603050405020304" pitchFamily="18" charset="0"/>
                <a:ea typeface="Times New Roman" panose="02020603050405020304" pitchFamily="18" charset="0"/>
                <a:cs typeface="Times New Roman" panose="02020603050405020304" pitchFamily="18" charset="0"/>
              </a:rPr>
              <a:t> Visuel avec des graphiques, des données actuelles, et des notes de présentation pour les formateurs. </a:t>
            </a:r>
            <a:r>
              <a:rPr lang="en-US" sz="1300" kern="0" dirty="0" err="1">
                <a:effectLst/>
                <a:latin typeface="Times New Roman" panose="02020603050405020304" pitchFamily="18" charset="0"/>
                <a:ea typeface="Times New Roman" panose="02020603050405020304" pitchFamily="18" charset="0"/>
                <a:cs typeface="Times New Roman" panose="02020603050405020304" pitchFamily="18" charset="0"/>
              </a:rPr>
              <a:t>Utilisable</a:t>
            </a:r>
            <a:r>
              <a:rPr lang="en-US" sz="13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0" dirty="0" err="1">
                <a:effectLst/>
                <a:latin typeface="Times New Roman" panose="02020603050405020304" pitchFamily="18" charset="0"/>
                <a:ea typeface="Times New Roman" panose="02020603050405020304" pitchFamily="18" charset="0"/>
                <a:cs typeface="Times New Roman" panose="02020603050405020304" pitchFamily="18" charset="0"/>
              </a:rPr>
              <a:t>lors</a:t>
            </a:r>
            <a:r>
              <a:rPr lang="en-US" sz="1300"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300" kern="0" dirty="0" err="1">
                <a:effectLst/>
                <a:latin typeface="Times New Roman" panose="02020603050405020304" pitchFamily="18" charset="0"/>
                <a:ea typeface="Times New Roman" panose="02020603050405020304" pitchFamily="18" charset="0"/>
                <a:cs typeface="Times New Roman" panose="02020603050405020304" pitchFamily="18" charset="0"/>
              </a:rPr>
              <a:t>réunions</a:t>
            </a:r>
            <a:r>
              <a:rPr lang="en-US" sz="13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0" dirty="0" err="1">
                <a:effectLst/>
                <a:latin typeface="Times New Roman" panose="02020603050405020304" pitchFamily="18" charset="0"/>
                <a:ea typeface="Times New Roman" panose="02020603050405020304" pitchFamily="18" charset="0"/>
                <a:cs typeface="Times New Roman" panose="02020603050405020304" pitchFamily="18" charset="0"/>
              </a:rPr>
              <a:t>séminaires</a:t>
            </a:r>
            <a:r>
              <a:rPr lang="en-US" sz="13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0" dirty="0" err="1">
                <a:effectLst/>
                <a:latin typeface="Times New Roman" panose="02020603050405020304" pitchFamily="18" charset="0"/>
                <a:ea typeface="Times New Roman" panose="02020603050405020304" pitchFamily="18" charset="0"/>
                <a:cs typeface="Times New Roman" panose="02020603050405020304" pitchFamily="18" charset="0"/>
              </a:rPr>
              <a:t>ou</a:t>
            </a:r>
            <a:r>
              <a:rPr lang="en-US" sz="1300" kern="0" dirty="0">
                <a:effectLst/>
                <a:latin typeface="Times New Roman" panose="02020603050405020304" pitchFamily="18" charset="0"/>
                <a:ea typeface="Times New Roman" panose="02020603050405020304" pitchFamily="18" charset="0"/>
                <a:cs typeface="Times New Roman" panose="02020603050405020304" pitchFamily="18" charset="0"/>
              </a:rPr>
              <a:t> sessions de formation.</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spcBef>
                <a:spcPts val="0"/>
              </a:spcBef>
              <a:spcAft>
                <a:spcPts val="800"/>
              </a:spcAft>
              <a:buNone/>
            </a:pPr>
            <a:r>
              <a:rPr lang="en-US" sz="1300" b="1" kern="0" dirty="0">
                <a:effectLst/>
                <a:latin typeface="Times New Roman" panose="02020603050405020304" pitchFamily="18" charset="0"/>
                <a:ea typeface="Times New Roman" panose="02020603050405020304" pitchFamily="18" charset="0"/>
                <a:cs typeface="Times New Roman" panose="02020603050405020304" pitchFamily="18" charset="0"/>
              </a:rPr>
              <a:t>5. </a:t>
            </a:r>
            <a:r>
              <a:rPr lang="en-US" sz="1300" b="1" kern="0" dirty="0" err="1">
                <a:effectLst/>
                <a:latin typeface="Times New Roman" panose="02020603050405020304" pitchFamily="18" charset="0"/>
                <a:ea typeface="Times New Roman" panose="02020603050405020304" pitchFamily="18" charset="0"/>
                <a:cs typeface="Times New Roman" panose="02020603050405020304" pitchFamily="18" charset="0"/>
              </a:rPr>
              <a:t>Infographies</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SzPts val="1000"/>
              <a:buFont typeface="Symbol" panose="05050102010706020507" pitchFamily="18" charset="2"/>
              <a:buChar char=""/>
              <a:tabLst>
                <a:tab pos="457200" algn="l"/>
              </a:tabLst>
            </a:pPr>
            <a:r>
              <a:rPr lang="fr-FR" sz="1300" b="1" kern="0" dirty="0">
                <a:effectLst/>
                <a:latin typeface="Times New Roman" panose="02020603050405020304" pitchFamily="18" charset="0"/>
                <a:ea typeface="Times New Roman" panose="02020603050405020304" pitchFamily="18" charset="0"/>
                <a:cs typeface="Times New Roman" panose="02020603050405020304" pitchFamily="18" charset="0"/>
              </a:rPr>
              <a:t>Contenu :</a:t>
            </a:r>
            <a:r>
              <a:rPr lang="fr-FR" sz="1300" kern="0" dirty="0">
                <a:effectLst/>
                <a:latin typeface="Times New Roman" panose="02020603050405020304" pitchFamily="18" charset="0"/>
                <a:ea typeface="Times New Roman" panose="02020603050405020304" pitchFamily="18" charset="0"/>
                <a:cs typeface="Times New Roman" panose="02020603050405020304" pitchFamily="18" charset="0"/>
              </a:rPr>
              <a:t> Représentations visuelles des informations clés sur la vaccination contre l'Ebola, y compris des statistiques sur les taux de vaccination et des faits sur le virus.</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SzPts val="1000"/>
              <a:buFont typeface="Symbol" panose="05050102010706020507" pitchFamily="18" charset="2"/>
              <a:buChar char=""/>
              <a:tabLst>
                <a:tab pos="457200" algn="l"/>
              </a:tabLst>
            </a:pPr>
            <a:r>
              <a:rPr lang="fr-FR" sz="1300" b="1" kern="0" dirty="0">
                <a:effectLst/>
                <a:latin typeface="Times New Roman" panose="02020603050405020304" pitchFamily="18" charset="0"/>
                <a:ea typeface="Times New Roman" panose="02020603050405020304" pitchFamily="18" charset="0"/>
                <a:cs typeface="Times New Roman" panose="02020603050405020304" pitchFamily="18" charset="0"/>
              </a:rPr>
              <a:t>Design :</a:t>
            </a:r>
            <a:r>
              <a:rPr lang="fr-FR" sz="1300" kern="0" dirty="0">
                <a:effectLst/>
                <a:latin typeface="Times New Roman" panose="02020603050405020304" pitchFamily="18" charset="0"/>
                <a:ea typeface="Times New Roman" panose="02020603050405020304" pitchFamily="18" charset="0"/>
                <a:cs typeface="Times New Roman" panose="02020603050405020304" pitchFamily="18" charset="0"/>
              </a:rPr>
              <a:t> Clair, concis, et engageant. Utilisable dans des publications internes ou comme support pour des présentations.</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700" dirty="0"/>
          </a:p>
        </p:txBody>
      </p:sp>
    </p:spTree>
    <p:extLst>
      <p:ext uri="{BB962C8B-B14F-4D97-AF65-F5344CB8AC3E}">
        <p14:creationId xmlns:p14="http://schemas.microsoft.com/office/powerpoint/2010/main" val="2441457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9" name="Arc 18">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326E832-4C62-22BC-F53C-C069214F5C98}"/>
              </a:ext>
            </a:extLst>
          </p:cNvPr>
          <p:cNvSpPr>
            <a:spLocks noGrp="1"/>
          </p:cNvSpPr>
          <p:nvPr>
            <p:ph type="title"/>
          </p:nvPr>
        </p:nvSpPr>
        <p:spPr>
          <a:xfrm>
            <a:off x="5894962" y="292655"/>
            <a:ext cx="5458838" cy="1325563"/>
          </a:xfrm>
        </p:spPr>
        <p:txBody>
          <a:bodyPr>
            <a:normAutofit/>
          </a:bodyPr>
          <a:lstStyle/>
          <a:p>
            <a:pPr algn="ctr"/>
            <a:r>
              <a:rPr lang="fr-FR" sz="2000" b="1" dirty="0"/>
              <a:t>Exemples de </a:t>
            </a:r>
            <a:r>
              <a:rPr lang="fr-FR" sz="2000" b="1" dirty="0" err="1"/>
              <a:t>materiels</a:t>
            </a:r>
            <a:r>
              <a:rPr lang="fr-FR" sz="2000" b="1" dirty="0"/>
              <a:t> de communication pour sensibiliser les professionnels de sante</a:t>
            </a:r>
            <a:endParaRPr lang="en-US" sz="2000" b="1" dirty="0"/>
          </a:p>
        </p:txBody>
      </p:sp>
      <p:sp>
        <p:nvSpPr>
          <p:cNvPr id="21" name="Freeform: Shape 20">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a:extLst>
              <a:ext uri="{FF2B5EF4-FFF2-40B4-BE49-F238E27FC236}">
                <a16:creationId xmlns:a16="http://schemas.microsoft.com/office/drawing/2014/main" id="{AF2EDCB8-84B5-2C01-80BE-8F2F96019AA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03182" y="955437"/>
            <a:ext cx="4162433"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45E7486D-DBEE-FC6E-AA22-6D6643D8D06E}"/>
              </a:ext>
            </a:extLst>
          </p:cNvPr>
          <p:cNvSpPr>
            <a:spLocks noGrp="1"/>
          </p:cNvSpPr>
          <p:nvPr>
            <p:ph idx="1"/>
          </p:nvPr>
        </p:nvSpPr>
        <p:spPr>
          <a:xfrm>
            <a:off x="4932353" y="1333850"/>
            <a:ext cx="6421447" cy="4843113"/>
          </a:xfrm>
        </p:spPr>
        <p:txBody>
          <a:bodyPr>
            <a:normAutofit fontScale="92500" lnSpcReduction="20000"/>
          </a:bodyPr>
          <a:lstStyle/>
          <a:p>
            <a:pPr marL="0" marR="0" indent="0" algn="just">
              <a:spcBef>
                <a:spcPts val="0"/>
              </a:spcBef>
              <a:spcAft>
                <a:spcPts val="800"/>
              </a:spcAft>
              <a:buNone/>
            </a:pPr>
            <a:r>
              <a:rPr lang="en-US" sz="1300" b="1" kern="0" dirty="0">
                <a:effectLst/>
                <a:latin typeface="Times New Roman" panose="02020603050405020304" pitchFamily="18" charset="0"/>
                <a:ea typeface="Times New Roman" panose="02020603050405020304" pitchFamily="18" charset="0"/>
                <a:cs typeface="Times New Roman" panose="02020603050405020304" pitchFamily="18" charset="0"/>
              </a:rPr>
              <a:t>6. Guides de </a:t>
            </a:r>
            <a:r>
              <a:rPr lang="en-US" sz="1300" b="1" kern="0" dirty="0" err="1">
                <a:effectLst/>
                <a:latin typeface="Times New Roman" panose="02020603050405020304" pitchFamily="18" charset="0"/>
                <a:ea typeface="Times New Roman" panose="02020603050405020304" pitchFamily="18" charset="0"/>
                <a:cs typeface="Times New Roman" panose="02020603050405020304" pitchFamily="18" charset="0"/>
              </a:rPr>
              <a:t>Réponses</a:t>
            </a:r>
            <a:r>
              <a:rPr lang="en-US" sz="1300" b="1" kern="0" dirty="0">
                <a:effectLst/>
                <a:latin typeface="Times New Roman" panose="02020603050405020304" pitchFamily="18" charset="0"/>
                <a:ea typeface="Times New Roman" panose="02020603050405020304" pitchFamily="18" charset="0"/>
                <a:cs typeface="Times New Roman" panose="02020603050405020304" pitchFamily="18" charset="0"/>
              </a:rPr>
              <a:t> aux Questions</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SzPts val="1000"/>
              <a:buFont typeface="Symbol" panose="05050102010706020507" pitchFamily="18" charset="2"/>
              <a:buChar char=""/>
              <a:tabLst>
                <a:tab pos="457200" algn="l"/>
              </a:tabLst>
            </a:pPr>
            <a:r>
              <a:rPr lang="fr-FR" sz="1300" b="1" kern="0" dirty="0">
                <a:effectLst/>
                <a:latin typeface="Times New Roman" panose="02020603050405020304" pitchFamily="18" charset="0"/>
                <a:ea typeface="Times New Roman" panose="02020603050405020304" pitchFamily="18" charset="0"/>
                <a:cs typeface="Times New Roman" panose="02020603050405020304" pitchFamily="18" charset="0"/>
              </a:rPr>
              <a:t>Contenu :</a:t>
            </a:r>
            <a:r>
              <a:rPr lang="fr-FR" sz="1300" kern="0" dirty="0">
                <a:effectLst/>
                <a:latin typeface="Times New Roman" panose="02020603050405020304" pitchFamily="18" charset="0"/>
                <a:ea typeface="Times New Roman" panose="02020603050405020304" pitchFamily="18" charset="0"/>
                <a:cs typeface="Times New Roman" panose="02020603050405020304" pitchFamily="18" charset="0"/>
              </a:rPr>
              <a:t> Foire aux questions (FAQ) détaillée répondant aux préoccupations courantes des professionnels de santé sur le vaccin Ebola, telles que la sécurité, les effets secondaires, et l’efficacité.</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SzPts val="1000"/>
              <a:buFont typeface="Symbol" panose="05050102010706020507" pitchFamily="18" charset="2"/>
              <a:buChar char=""/>
              <a:tabLst>
                <a:tab pos="457200" algn="l"/>
              </a:tabLst>
            </a:pPr>
            <a:r>
              <a:rPr lang="fr-FR" sz="1300" b="1" kern="0" dirty="0">
                <a:effectLst/>
                <a:latin typeface="Times New Roman" panose="02020603050405020304" pitchFamily="18" charset="0"/>
                <a:ea typeface="Times New Roman" panose="02020603050405020304" pitchFamily="18" charset="0"/>
                <a:cs typeface="Times New Roman" panose="02020603050405020304" pitchFamily="18" charset="0"/>
              </a:rPr>
              <a:t>Design :</a:t>
            </a:r>
            <a:r>
              <a:rPr lang="fr-FR" sz="1300" kern="0" dirty="0">
                <a:effectLst/>
                <a:latin typeface="Times New Roman" panose="02020603050405020304" pitchFamily="18" charset="0"/>
                <a:ea typeface="Times New Roman" panose="02020603050405020304" pitchFamily="18" charset="0"/>
                <a:cs typeface="Times New Roman" panose="02020603050405020304" pitchFamily="18" charset="0"/>
              </a:rPr>
              <a:t> Document PDF ou papier facile à lire et à consulter rapidement.</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spcBef>
                <a:spcPts val="0"/>
              </a:spcBef>
              <a:spcAft>
                <a:spcPts val="800"/>
              </a:spcAft>
              <a:buNone/>
            </a:pPr>
            <a:r>
              <a:rPr lang="en-US" sz="1300" b="1" kern="0" dirty="0">
                <a:effectLst/>
                <a:latin typeface="Times New Roman" panose="02020603050405020304" pitchFamily="18" charset="0"/>
                <a:ea typeface="Times New Roman" panose="02020603050405020304" pitchFamily="18" charset="0"/>
                <a:cs typeface="Times New Roman" panose="02020603050405020304" pitchFamily="18" charset="0"/>
              </a:rPr>
              <a:t>7. Newsletters Internes</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SzPts val="1000"/>
              <a:buFont typeface="Symbol" panose="05050102010706020507" pitchFamily="18" charset="2"/>
              <a:buChar char=""/>
              <a:tabLst>
                <a:tab pos="457200" algn="l"/>
              </a:tabLst>
            </a:pPr>
            <a:r>
              <a:rPr lang="fr-FR" sz="1300" b="1" kern="0" dirty="0">
                <a:effectLst/>
                <a:latin typeface="Times New Roman" panose="02020603050405020304" pitchFamily="18" charset="0"/>
                <a:ea typeface="Times New Roman" panose="02020603050405020304" pitchFamily="18" charset="0"/>
                <a:cs typeface="Times New Roman" panose="02020603050405020304" pitchFamily="18" charset="0"/>
              </a:rPr>
              <a:t>Contenu :</a:t>
            </a:r>
            <a:r>
              <a:rPr lang="fr-FR" sz="1300" kern="0" dirty="0">
                <a:effectLst/>
                <a:latin typeface="Times New Roman" panose="02020603050405020304" pitchFamily="18" charset="0"/>
                <a:ea typeface="Times New Roman" panose="02020603050405020304" pitchFamily="18" charset="0"/>
                <a:cs typeface="Times New Roman" panose="02020603050405020304" pitchFamily="18" charset="0"/>
              </a:rPr>
              <a:t> Articles et mises à jour sur la vaccination Ebola, les dernières recherches, et les recommandations des autorités sanitaires.</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SzPts val="1000"/>
              <a:buFont typeface="Symbol" panose="05050102010706020507" pitchFamily="18" charset="2"/>
              <a:buChar char=""/>
              <a:tabLst>
                <a:tab pos="457200" algn="l"/>
              </a:tabLst>
            </a:pPr>
            <a:r>
              <a:rPr lang="fr-FR" sz="1300" b="1" kern="0" dirty="0">
                <a:effectLst/>
                <a:latin typeface="Times New Roman" panose="02020603050405020304" pitchFamily="18" charset="0"/>
                <a:ea typeface="Times New Roman" panose="02020603050405020304" pitchFamily="18" charset="0"/>
                <a:cs typeface="Times New Roman" panose="02020603050405020304" pitchFamily="18" charset="0"/>
              </a:rPr>
              <a:t>Design :</a:t>
            </a:r>
            <a:r>
              <a:rPr lang="fr-FR" sz="1300" kern="0" dirty="0">
                <a:effectLst/>
                <a:latin typeface="Times New Roman" panose="02020603050405020304" pitchFamily="18" charset="0"/>
                <a:ea typeface="Times New Roman" panose="02020603050405020304" pitchFamily="18" charset="0"/>
                <a:cs typeface="Times New Roman" panose="02020603050405020304" pitchFamily="18" charset="0"/>
              </a:rPr>
              <a:t> Format périodique, avec des sections claires et des appels à l'action pour encourager la vaccination.</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spcBef>
                <a:spcPts val="0"/>
              </a:spcBef>
              <a:spcAft>
                <a:spcPts val="800"/>
              </a:spcAft>
              <a:buNone/>
            </a:pPr>
            <a:r>
              <a:rPr lang="en-US" sz="1300" b="1" kern="0" dirty="0">
                <a:effectLst/>
                <a:latin typeface="Times New Roman" panose="02020603050405020304" pitchFamily="18" charset="0"/>
                <a:ea typeface="Times New Roman" panose="02020603050405020304" pitchFamily="18" charset="0"/>
                <a:cs typeface="Times New Roman" panose="02020603050405020304" pitchFamily="18" charset="0"/>
              </a:rPr>
              <a:t>8. Séances de Formation et </a:t>
            </a:r>
            <a:r>
              <a:rPr lang="en-US" sz="1300" b="1" kern="0" dirty="0" err="1">
                <a:effectLst/>
                <a:latin typeface="Times New Roman" panose="02020603050405020304" pitchFamily="18" charset="0"/>
                <a:ea typeface="Times New Roman" panose="02020603050405020304" pitchFamily="18" charset="0"/>
                <a:cs typeface="Times New Roman" panose="02020603050405020304" pitchFamily="18" charset="0"/>
              </a:rPr>
              <a:t>Webinaires</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SzPts val="1000"/>
              <a:buFont typeface="Symbol" panose="05050102010706020507" pitchFamily="18" charset="2"/>
              <a:buChar char=""/>
              <a:tabLst>
                <a:tab pos="457200" algn="l"/>
              </a:tabLst>
            </a:pPr>
            <a:r>
              <a:rPr lang="fr-FR" sz="1300" b="1" kern="0" dirty="0">
                <a:effectLst/>
                <a:latin typeface="Times New Roman" panose="02020603050405020304" pitchFamily="18" charset="0"/>
                <a:ea typeface="Times New Roman" panose="02020603050405020304" pitchFamily="18" charset="0"/>
                <a:cs typeface="Times New Roman" panose="02020603050405020304" pitchFamily="18" charset="0"/>
              </a:rPr>
              <a:t>Contenu :</a:t>
            </a:r>
            <a:r>
              <a:rPr lang="fr-FR" sz="1300" kern="0" dirty="0">
                <a:effectLst/>
                <a:latin typeface="Times New Roman" panose="02020603050405020304" pitchFamily="18" charset="0"/>
                <a:ea typeface="Times New Roman" panose="02020603050405020304" pitchFamily="18" charset="0"/>
                <a:cs typeface="Times New Roman" panose="02020603050405020304" pitchFamily="18" charset="0"/>
              </a:rPr>
              <a:t> Sessions interactives avec des experts en épidémiologie et en vaccinologie, couvrant les avantages de la vaccination, la gestion des effets secondaires, et des études de cas.</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SzPts val="1000"/>
              <a:buFont typeface="Symbol" panose="05050102010706020507" pitchFamily="18" charset="2"/>
              <a:buChar char=""/>
              <a:tabLst>
                <a:tab pos="457200" algn="l"/>
              </a:tabLst>
            </a:pPr>
            <a:r>
              <a:rPr lang="fr-FR" sz="1300" b="1" kern="0" dirty="0">
                <a:effectLst/>
                <a:latin typeface="Times New Roman" panose="02020603050405020304" pitchFamily="18" charset="0"/>
                <a:ea typeface="Times New Roman" panose="02020603050405020304" pitchFamily="18" charset="0"/>
                <a:cs typeface="Times New Roman" panose="02020603050405020304" pitchFamily="18" charset="0"/>
              </a:rPr>
              <a:t>Design :</a:t>
            </a:r>
            <a:r>
              <a:rPr lang="fr-FR" sz="1300" kern="0" dirty="0">
                <a:effectLst/>
                <a:latin typeface="Times New Roman" panose="02020603050405020304" pitchFamily="18" charset="0"/>
                <a:ea typeface="Times New Roman" panose="02020603050405020304" pitchFamily="18" charset="0"/>
                <a:cs typeface="Times New Roman" panose="02020603050405020304" pitchFamily="18" charset="0"/>
              </a:rPr>
              <a:t> Offrir des sessions en direct avec la possibilité de poser des questions, ou des enregistrements accessibles en ligne.</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spcBef>
                <a:spcPts val="0"/>
              </a:spcBef>
              <a:spcAft>
                <a:spcPts val="800"/>
              </a:spcAft>
              <a:buNone/>
            </a:pPr>
            <a:r>
              <a:rPr lang="en-US" sz="1300" b="1" kern="0" dirty="0">
                <a:effectLst/>
                <a:latin typeface="Times New Roman" panose="02020603050405020304" pitchFamily="18" charset="0"/>
                <a:ea typeface="Times New Roman" panose="02020603050405020304" pitchFamily="18" charset="0"/>
                <a:cs typeface="Times New Roman" panose="02020603050405020304" pitchFamily="18" charset="0"/>
              </a:rPr>
              <a:t>9. </a:t>
            </a:r>
            <a:r>
              <a:rPr lang="en-US" sz="13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Témoignages</a:t>
            </a:r>
            <a:r>
              <a:rPr lang="en-US" sz="13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3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Professionnels</a:t>
            </a:r>
            <a:r>
              <a:rPr lang="en-US" sz="13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3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Santé</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SzPts val="1000"/>
              <a:buFont typeface="Symbol" panose="05050102010706020507" pitchFamily="18" charset="2"/>
              <a:buChar char=""/>
              <a:tabLst>
                <a:tab pos="457200" algn="l"/>
              </a:tabLst>
            </a:pPr>
            <a:r>
              <a:rPr lang="fr-FR" sz="1300" b="1" kern="0" dirty="0">
                <a:effectLst/>
                <a:latin typeface="Times New Roman" panose="02020603050405020304" pitchFamily="18" charset="0"/>
                <a:ea typeface="Times New Roman" panose="02020603050405020304" pitchFamily="18" charset="0"/>
                <a:cs typeface="Times New Roman" panose="02020603050405020304" pitchFamily="18" charset="0"/>
              </a:rPr>
              <a:t>Contenu :</a:t>
            </a:r>
            <a:r>
              <a:rPr lang="fr-FR" sz="1300" kern="0" dirty="0">
                <a:effectLst/>
                <a:latin typeface="Times New Roman" panose="02020603050405020304" pitchFamily="18" charset="0"/>
                <a:ea typeface="Times New Roman" panose="02020603050405020304" pitchFamily="18" charset="0"/>
                <a:cs typeface="Times New Roman" panose="02020603050405020304" pitchFamily="18" charset="0"/>
              </a:rPr>
              <a:t> Témoignages vidéo ou écrits de professionnels de santé ayant reçu le vaccin contre l'Ebola, partageant leurs expériences positives et les raisons de leur choix.</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SzPts val="1000"/>
              <a:buFont typeface="Symbol" panose="05050102010706020507" pitchFamily="18" charset="2"/>
              <a:buChar char=""/>
              <a:tabLst>
                <a:tab pos="457200" algn="l"/>
              </a:tabLst>
            </a:pPr>
            <a:r>
              <a:rPr lang="fr-FR" sz="1300" b="1" kern="0" dirty="0">
                <a:effectLst/>
                <a:latin typeface="Times New Roman" panose="02020603050405020304" pitchFamily="18" charset="0"/>
                <a:ea typeface="Times New Roman" panose="02020603050405020304" pitchFamily="18" charset="0"/>
                <a:cs typeface="Times New Roman" panose="02020603050405020304" pitchFamily="18" charset="0"/>
              </a:rPr>
              <a:t>Design :</a:t>
            </a:r>
            <a:r>
              <a:rPr lang="fr-FR" sz="1300" kern="0" dirty="0">
                <a:effectLst/>
                <a:latin typeface="Times New Roman" panose="02020603050405020304" pitchFamily="18" charset="0"/>
                <a:ea typeface="Times New Roman" panose="02020603050405020304" pitchFamily="18" charset="0"/>
                <a:cs typeface="Times New Roman" panose="02020603050405020304" pitchFamily="18" charset="0"/>
              </a:rPr>
              <a:t> Présenter des témoignages authentiques pour humaniser le message et créer un impact émotionnel.</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spcBef>
                <a:spcPts val="0"/>
              </a:spcBef>
              <a:spcAft>
                <a:spcPts val="800"/>
              </a:spcAft>
              <a:buNone/>
            </a:pPr>
            <a:r>
              <a:rPr lang="en-US" sz="1300" b="1" kern="0" dirty="0">
                <a:effectLst/>
                <a:latin typeface="Times New Roman" panose="02020603050405020304" pitchFamily="18" charset="0"/>
                <a:ea typeface="Times New Roman" panose="02020603050405020304" pitchFamily="18" charset="0"/>
                <a:cs typeface="Times New Roman" panose="02020603050405020304" pitchFamily="18" charset="0"/>
              </a:rPr>
              <a:t>10. Posters de Conscience </a:t>
            </a:r>
            <a:r>
              <a:rPr lang="en-US" sz="1300" b="1" kern="0" dirty="0" err="1">
                <a:effectLst/>
                <a:latin typeface="Times New Roman" panose="02020603050405020304" pitchFamily="18" charset="0"/>
                <a:ea typeface="Times New Roman" panose="02020603050405020304" pitchFamily="18" charset="0"/>
                <a:cs typeface="Times New Roman" panose="02020603050405020304" pitchFamily="18" charset="0"/>
              </a:rPr>
              <a:t>Épidémique</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SzPts val="1000"/>
              <a:buFont typeface="Symbol" panose="05050102010706020507" pitchFamily="18" charset="2"/>
              <a:buChar char=""/>
              <a:tabLst>
                <a:tab pos="457200" algn="l"/>
              </a:tabLst>
            </a:pPr>
            <a:r>
              <a:rPr lang="fr-FR" sz="1300" b="1" kern="0" dirty="0">
                <a:effectLst/>
                <a:latin typeface="Times New Roman" panose="02020603050405020304" pitchFamily="18" charset="0"/>
                <a:ea typeface="Times New Roman" panose="02020603050405020304" pitchFamily="18" charset="0"/>
                <a:cs typeface="Times New Roman" panose="02020603050405020304" pitchFamily="18" charset="0"/>
              </a:rPr>
              <a:t>Contenu :</a:t>
            </a:r>
            <a:r>
              <a:rPr lang="fr-FR" sz="1300" kern="0" dirty="0">
                <a:effectLst/>
                <a:latin typeface="Times New Roman" panose="02020603050405020304" pitchFamily="18" charset="0"/>
                <a:ea typeface="Times New Roman" panose="02020603050405020304" pitchFamily="18" charset="0"/>
                <a:cs typeface="Times New Roman" panose="02020603050405020304" pitchFamily="18" charset="0"/>
              </a:rPr>
              <a:t> Informations sur les symptômes de l’Ebola, les risques associés, et comment la vaccination aide à contrôler la propagation.</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0"/>
              </a:spcBef>
              <a:spcAft>
                <a:spcPts val="800"/>
              </a:spcAft>
              <a:buSzPts val="1000"/>
              <a:buFont typeface="Symbol" panose="05050102010706020507" pitchFamily="18" charset="2"/>
              <a:buChar char=""/>
              <a:tabLst>
                <a:tab pos="457200" algn="l"/>
              </a:tabLst>
            </a:pPr>
            <a:r>
              <a:rPr lang="fr-FR" sz="1300" b="1" kern="0" dirty="0">
                <a:effectLst/>
                <a:latin typeface="Times New Roman" panose="02020603050405020304" pitchFamily="18" charset="0"/>
                <a:ea typeface="Times New Roman" panose="02020603050405020304" pitchFamily="18" charset="0"/>
                <a:cs typeface="Times New Roman" panose="02020603050405020304" pitchFamily="18" charset="0"/>
              </a:rPr>
              <a:t>Design :</a:t>
            </a:r>
            <a:r>
              <a:rPr lang="fr-FR" sz="1300" kern="0" dirty="0">
                <a:effectLst/>
                <a:latin typeface="Times New Roman" panose="02020603050405020304" pitchFamily="18" charset="0"/>
                <a:ea typeface="Times New Roman" panose="02020603050405020304" pitchFamily="18" charset="0"/>
                <a:cs typeface="Times New Roman" panose="02020603050405020304" pitchFamily="18" charset="0"/>
              </a:rPr>
              <a:t> Visuel et informatif, affiché dans des lieux fréquentés par les professionnels de santé.</a:t>
            </a:r>
            <a:endParaRPr lang="en-US" sz="13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700" dirty="0"/>
          </a:p>
        </p:txBody>
      </p:sp>
    </p:spTree>
    <p:extLst>
      <p:ext uri="{BB962C8B-B14F-4D97-AF65-F5344CB8AC3E}">
        <p14:creationId xmlns:p14="http://schemas.microsoft.com/office/powerpoint/2010/main" val="410185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0087D53-9295-4463-AAE4-D5C626046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BABA51-5794-DF47-FB2D-6AE16AFAE820}"/>
              </a:ext>
            </a:extLst>
          </p:cNvPr>
          <p:cNvSpPr>
            <a:spLocks noGrp="1"/>
          </p:cNvSpPr>
          <p:nvPr>
            <p:ph type="title"/>
          </p:nvPr>
        </p:nvSpPr>
        <p:spPr>
          <a:xfrm>
            <a:off x="638881" y="5612646"/>
            <a:ext cx="10909640" cy="798313"/>
          </a:xfrm>
        </p:spPr>
        <p:txBody>
          <a:bodyPr vert="horz" lIns="91440" tIns="45720" rIns="91440" bIns="45720" rtlCol="0" anchor="ctr">
            <a:normAutofit/>
          </a:bodyPr>
          <a:lstStyle/>
          <a:p>
            <a:pPr algn="ctr"/>
            <a:r>
              <a:rPr lang="en-US" sz="2000" b="1" i="0" dirty="0">
                <a:effectLst/>
              </a:rPr>
              <a:t>Everett  Rogers</a:t>
            </a:r>
            <a:r>
              <a:rPr lang="en-US" sz="2000" b="0" i="0" dirty="0">
                <a:effectLst/>
              </a:rPr>
              <a:t> ,  </a:t>
            </a:r>
            <a:r>
              <a:rPr lang="en-US" sz="2000" b="0" i="0" dirty="0" err="1">
                <a:effectLst/>
              </a:rPr>
              <a:t>théorie</a:t>
            </a:r>
            <a:r>
              <a:rPr lang="en-US" sz="2000" b="0" i="0" dirty="0">
                <a:effectLst/>
              </a:rPr>
              <a:t> de  la  </a:t>
            </a:r>
            <a:r>
              <a:rPr lang="en-US" sz="2000" b="1" i="0" dirty="0">
                <a:effectLst/>
              </a:rPr>
              <a:t>diffusion  de  </a:t>
            </a:r>
            <a:r>
              <a:rPr lang="en-US" sz="2000" b="1" i="0" dirty="0" err="1">
                <a:effectLst/>
              </a:rPr>
              <a:t>l’innovation</a:t>
            </a:r>
            <a:r>
              <a:rPr lang="en-US" sz="2000" b="1" i="0" dirty="0">
                <a:effectLst/>
              </a:rPr>
              <a:t>, </a:t>
            </a:r>
            <a:r>
              <a:rPr lang="en-US" sz="2000" b="1" dirty="0" err="1"/>
              <a:t>années</a:t>
            </a:r>
            <a:r>
              <a:rPr lang="en-US" sz="2000" b="1" dirty="0"/>
              <a:t>  60,</a:t>
            </a:r>
          </a:p>
        </p:txBody>
      </p:sp>
      <p:pic>
        <p:nvPicPr>
          <p:cNvPr id="6" name="Picture 5">
            <a:extLst>
              <a:ext uri="{FF2B5EF4-FFF2-40B4-BE49-F238E27FC236}">
                <a16:creationId xmlns:a16="http://schemas.microsoft.com/office/drawing/2014/main" id="{C746A815-3D90-0182-EAB9-9B494780796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79576" y="320040"/>
            <a:ext cx="2996184" cy="3895344"/>
          </a:xfrm>
          <a:prstGeom prst="rect">
            <a:avLst/>
          </a:prstGeom>
        </p:spPr>
      </p:pic>
      <p:pic>
        <p:nvPicPr>
          <p:cNvPr id="5" name="Content Placeholder 4" descr="A diagram of a variety of colored shapes&#10;&#10;Description automatically generated with medium confidence">
            <a:extLst>
              <a:ext uri="{FF2B5EF4-FFF2-40B4-BE49-F238E27FC236}">
                <a16:creationId xmlns:a16="http://schemas.microsoft.com/office/drawing/2014/main" id="{EB57005C-02D3-7738-4F7A-DF74E38DCCFC}"/>
              </a:ext>
            </a:extLst>
          </p:cNvPr>
          <p:cNvPicPr>
            <a:picLocks noChangeAspect="1"/>
          </p:cNvPicPr>
          <p:nvPr/>
        </p:nvPicPr>
        <p:blipFill>
          <a:blip r:embed="rId3">
            <a:extLst>
              <a:ext uri="{28A0092B-C50C-407E-A947-70E740481C1C}">
                <a14:useLocalDpi xmlns:a14="http://schemas.microsoft.com/office/drawing/2010/main" val="0"/>
              </a:ext>
            </a:extLst>
          </a:blip>
          <a:srcRect t="2580" r="1" b="1"/>
          <a:stretch/>
        </p:blipFill>
        <p:spPr>
          <a:xfrm>
            <a:off x="4175760" y="320040"/>
            <a:ext cx="7693152" cy="4599432"/>
          </a:xfrm>
          <a:prstGeom prst="rect">
            <a:avLst/>
          </a:prstGeom>
        </p:spPr>
      </p:pic>
      <p:sp>
        <p:nvSpPr>
          <p:cNvPr id="17"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5594358"/>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2776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0" name="Arc 29">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A269439-453A-DB87-39BC-893AE76A02AE}"/>
              </a:ext>
            </a:extLst>
          </p:cNvPr>
          <p:cNvSpPr>
            <a:spLocks noGrp="1"/>
          </p:cNvSpPr>
          <p:nvPr>
            <p:ph type="title"/>
          </p:nvPr>
        </p:nvSpPr>
        <p:spPr>
          <a:xfrm>
            <a:off x="5894962" y="479493"/>
            <a:ext cx="5458838" cy="729547"/>
          </a:xfrm>
        </p:spPr>
        <p:txBody>
          <a:bodyPr>
            <a:normAutofit/>
          </a:bodyPr>
          <a:lstStyle/>
          <a:p>
            <a:pPr algn="ctr"/>
            <a:r>
              <a:rPr lang="en-US" b="1" dirty="0"/>
              <a:t>Conclusion</a:t>
            </a:r>
          </a:p>
        </p:txBody>
      </p:sp>
      <p:sp>
        <p:nvSpPr>
          <p:cNvPr id="32" name="Freeform: Shape 31">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a:extLst>
              <a:ext uri="{FF2B5EF4-FFF2-40B4-BE49-F238E27FC236}">
                <a16:creationId xmlns:a16="http://schemas.microsoft.com/office/drawing/2014/main" id="{E9851C4E-D521-F72E-91D2-FCE32BC934E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03182" y="955437"/>
            <a:ext cx="4777381"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D4292552-2E15-481F-2683-7DE1F8400386}"/>
              </a:ext>
            </a:extLst>
          </p:cNvPr>
          <p:cNvSpPr>
            <a:spLocks noGrp="1"/>
          </p:cNvSpPr>
          <p:nvPr>
            <p:ph idx="1"/>
          </p:nvPr>
        </p:nvSpPr>
        <p:spPr>
          <a:xfrm>
            <a:off x="5480563" y="1209041"/>
            <a:ext cx="5873237" cy="4523778"/>
          </a:xfrm>
        </p:spPr>
        <p:txBody>
          <a:bodyPr>
            <a:normAutofit/>
          </a:bodyPr>
          <a:lstStyle/>
          <a:p>
            <a:pPr marL="0" indent="0" algn="just" eaLnBrk="0" fontAlgn="base" hangingPunct="0">
              <a:spcBef>
                <a:spcPct val="0"/>
              </a:spcBef>
              <a:spcAft>
                <a:spcPts val="600"/>
              </a:spcAft>
              <a:buNone/>
            </a:pPr>
            <a:r>
              <a:rPr lang="fr-FR" kern="0" dirty="0">
                <a:effectLst/>
                <a:latin typeface="Times New Roman" panose="02020603050405020304" pitchFamily="18" charset="0"/>
                <a:ea typeface="Times New Roman" panose="02020603050405020304" pitchFamily="18" charset="0"/>
                <a:cs typeface="Times New Roman" panose="02020603050405020304" pitchFamily="18" charset="0"/>
              </a:rPr>
              <a:t>En conclusion, des efforts soutenus et une communication continue sont essentiels pour maintenir une couverture vaccinale élevée, relever les défis et renforcer la sécurité sanitaire mondiale contre des maladies comme Ebola parmi les professionnels de la santé ou les travailleurs de première ligne.</a:t>
            </a:r>
            <a:endParaRPr lang="en-US" dirty="0"/>
          </a:p>
        </p:txBody>
      </p:sp>
    </p:spTree>
    <p:extLst>
      <p:ext uri="{BB962C8B-B14F-4D97-AF65-F5344CB8AC3E}">
        <p14:creationId xmlns:p14="http://schemas.microsoft.com/office/powerpoint/2010/main" val="1124466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E6D8A8-BB8F-284B-B376-B7D745561571}"/>
              </a:ext>
            </a:extLst>
          </p:cNvPr>
          <p:cNvSpPr>
            <a:spLocks noGrp="1"/>
          </p:cNvSpPr>
          <p:nvPr>
            <p:ph type="title"/>
          </p:nvPr>
        </p:nvSpPr>
        <p:spPr>
          <a:xfrm>
            <a:off x="6739128" y="638089"/>
            <a:ext cx="4818888" cy="1476801"/>
          </a:xfrm>
        </p:spPr>
        <p:txBody>
          <a:bodyPr anchor="b">
            <a:normAutofit/>
          </a:bodyPr>
          <a:lstStyle/>
          <a:p>
            <a:r>
              <a:rPr lang="en-US" sz="5400"/>
              <a:t>Q&amp;R</a:t>
            </a:r>
          </a:p>
        </p:txBody>
      </p:sp>
      <p:pic>
        <p:nvPicPr>
          <p:cNvPr id="4" name="Picture 3">
            <a:extLst>
              <a:ext uri="{FF2B5EF4-FFF2-40B4-BE49-F238E27FC236}">
                <a16:creationId xmlns:a16="http://schemas.microsoft.com/office/drawing/2014/main" id="{5B86DE3B-A7EA-07D0-E8EC-21946F1F06E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0936" y="699516"/>
            <a:ext cx="5458968" cy="5458968"/>
          </a:xfrm>
          <a:prstGeom prst="rect">
            <a:avLst/>
          </a:prstGeom>
        </p:spPr>
      </p:pic>
      <p:sp>
        <p:nvSpPr>
          <p:cNvPr id="30"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FFA93EB-F874-C51E-220C-25290507758F}"/>
              </a:ext>
            </a:extLst>
          </p:cNvPr>
          <p:cNvSpPr>
            <a:spLocks noGrp="1"/>
          </p:cNvSpPr>
          <p:nvPr>
            <p:ph idx="1"/>
          </p:nvPr>
        </p:nvSpPr>
        <p:spPr>
          <a:xfrm>
            <a:off x="6739128" y="2664886"/>
            <a:ext cx="4818888" cy="3550789"/>
          </a:xfrm>
        </p:spPr>
        <p:txBody>
          <a:bodyPr anchor="t">
            <a:normAutofit/>
          </a:bodyPr>
          <a:lstStyle/>
          <a:p>
            <a:r>
              <a:rPr lang="fr-FR" sz="2200"/>
              <a:t>Espace ouvert pour questions et discussions</a:t>
            </a:r>
            <a:endParaRPr lang="en-US" sz="2200"/>
          </a:p>
        </p:txBody>
      </p:sp>
    </p:spTree>
    <p:extLst>
      <p:ext uri="{BB962C8B-B14F-4D97-AF65-F5344CB8AC3E}">
        <p14:creationId xmlns:p14="http://schemas.microsoft.com/office/powerpoint/2010/main" val="1743387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4" name="Arc 33">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5894962" y="479493"/>
            <a:ext cx="5458838" cy="1325563"/>
          </a:xfrm>
        </p:spPr>
        <p:txBody>
          <a:bodyPr>
            <a:normAutofit/>
          </a:bodyPr>
          <a:lstStyle/>
          <a:p>
            <a:r>
              <a:rPr lang="en-US" b="1" err="1">
                <a:latin typeface="Atkinson Hyperlegible" pitchFamily="2" charset="77"/>
              </a:rPr>
              <a:t>Ressources</a:t>
            </a:r>
            <a:endParaRPr lang="en-US" b="1">
              <a:latin typeface="Atkinson Hyperlegible" pitchFamily="2" charset="77"/>
            </a:endParaRPr>
          </a:p>
        </p:txBody>
      </p:sp>
      <p:sp>
        <p:nvSpPr>
          <p:cNvPr id="32" name="Freeform: Shape 31">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a:extLst>
              <a:ext uri="{FF2B5EF4-FFF2-40B4-BE49-F238E27FC236}">
                <a16:creationId xmlns:a16="http://schemas.microsoft.com/office/drawing/2014/main" id="{1A7C7520-71F3-131C-8E66-68A9F0B2AB3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03182" y="955437"/>
            <a:ext cx="4777381"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p:cNvSpPr>
            <a:spLocks noGrp="1"/>
          </p:cNvSpPr>
          <p:nvPr>
            <p:ph idx="1"/>
          </p:nvPr>
        </p:nvSpPr>
        <p:spPr>
          <a:xfrm>
            <a:off x="5894962" y="1984443"/>
            <a:ext cx="5458838" cy="4192520"/>
          </a:xfrm>
        </p:spPr>
        <p:txBody>
          <a:bodyPr>
            <a:normAutofit/>
          </a:bodyPr>
          <a:lstStyle/>
          <a:p>
            <a:pPr marL="457200" indent="-457200">
              <a:buAutoNum type="arabicPeriod"/>
            </a:pPr>
            <a:r>
              <a:rPr lang="en-US" sz="1800">
                <a:latin typeface="Atkinson Hyperlegible"/>
              </a:rPr>
              <a:t>World Health Organization: WHO Outbreak communication guidelines. 2005. Available at </a:t>
            </a:r>
            <a:r>
              <a:rPr lang="en-US" sz="1800">
                <a:latin typeface="Atkinson Hyperlegible"/>
                <a:hlinkClick r:id="rId3"/>
              </a:rPr>
              <a:t>https://www.who.int/publications/i/item/who-outbreak-communication-guidelines</a:t>
            </a:r>
            <a:endParaRPr lang="en-US" sz="1800">
              <a:latin typeface="Atkinson Hyperlegible"/>
            </a:endParaRPr>
          </a:p>
          <a:p>
            <a:pPr marL="457200" indent="-457200">
              <a:buAutoNum type="arabicPeriod"/>
            </a:pPr>
            <a:r>
              <a:rPr lang="en-US" sz="1800">
                <a:latin typeface="Atkinson Hyperlegible"/>
              </a:rPr>
              <a:t> World Health Organization: </a:t>
            </a:r>
            <a:r>
              <a:rPr lang="en-AU" sz="1800">
                <a:latin typeface="Atkinson Hyperlegible"/>
              </a:rPr>
              <a:t>Communicating risk in public health emergencies A WHO guideline for emergency risk communication (ERC) policy and practice. 2017. Available at </a:t>
            </a:r>
            <a:r>
              <a:rPr lang="en-AU" sz="1800">
                <a:latin typeface="Atkinson Hyperlegible"/>
                <a:hlinkClick r:id="rId4"/>
              </a:rPr>
              <a:t>https://www.who.int/emergencies/risk-communications</a:t>
            </a:r>
            <a:r>
              <a:rPr lang="en-AU" sz="1800">
                <a:latin typeface="Atkinson Hyperlegible"/>
              </a:rPr>
              <a:t> </a:t>
            </a:r>
          </a:p>
          <a:p>
            <a:pPr marL="457200" indent="-457200">
              <a:buFont typeface="Arial" panose="020B0604020202020204" pitchFamily="34" charset="0"/>
              <a:buAutoNum type="arabicPeriod"/>
            </a:pPr>
            <a:r>
              <a:rPr kumimoji="0" lang="en-US" sz="1800" b="0" i="0" u="none" strike="noStrike" kern="0" cap="none" spc="0" normalizeH="0" baseline="0" noProof="0">
                <a:ln>
                  <a:noFill/>
                </a:ln>
                <a:effectLst/>
                <a:uLnTx/>
                <a:uFillTx/>
                <a:latin typeface="Atkinson Hyperlegible"/>
                <a:ea typeface="ＭＳ Ｐゴシック" pitchFamily="34" charset="-128"/>
                <a:cs typeface="Arial"/>
              </a:rPr>
              <a:t>WHO </a:t>
            </a:r>
            <a:r>
              <a:rPr kumimoji="0" lang="en-US" sz="1800" b="0" i="0" u="none" strike="noStrike" kern="0" cap="none" spc="0" normalizeH="0" baseline="0" noProof="0" err="1">
                <a:ln>
                  <a:noFill/>
                </a:ln>
                <a:effectLst/>
                <a:uLnTx/>
                <a:uFillTx/>
                <a:latin typeface="Atkinson Hyperlegible"/>
                <a:ea typeface="ＭＳ Ｐゴシック" pitchFamily="34" charset="-128"/>
                <a:cs typeface="Arial"/>
              </a:rPr>
              <a:t>socialNET</a:t>
            </a:r>
            <a:r>
              <a:rPr kumimoji="0" lang="en-US" sz="1800" b="0" i="0" u="none" strike="noStrike" kern="0" cap="none" spc="0" normalizeH="0" baseline="0" noProof="0">
                <a:ln>
                  <a:noFill/>
                </a:ln>
                <a:effectLst/>
                <a:uLnTx/>
                <a:uFillTx/>
                <a:latin typeface="Atkinson Hyperlegible"/>
                <a:ea typeface="ＭＳ Ｐゴシック" pitchFamily="34" charset="-128"/>
                <a:cs typeface="Arial"/>
              </a:rPr>
              <a:t> - </a:t>
            </a:r>
            <a:r>
              <a:rPr kumimoji="0" lang="en-US" sz="1800" b="0" i="0" u="none" strike="noStrike" kern="0" cap="none" spc="0" normalizeH="0" baseline="0" noProof="0">
                <a:ln>
                  <a:noFill/>
                </a:ln>
                <a:effectLst/>
                <a:uLnTx/>
                <a:uFillTx/>
                <a:latin typeface="Atkinson Hyperlegible"/>
                <a:ea typeface="ＭＳ Ｐゴシック" pitchFamily="34" charset="-128"/>
                <a:cs typeface="Arial"/>
                <a:hlinkClick r:id="rId5"/>
              </a:rPr>
              <a:t>https://openwho.org/courses/social-net</a:t>
            </a:r>
            <a:r>
              <a:rPr kumimoji="0" lang="en-US" sz="1800" b="0" i="0" u="none" strike="noStrike" kern="0" cap="none" spc="0" normalizeH="0" baseline="0" noProof="0">
                <a:ln>
                  <a:noFill/>
                </a:ln>
                <a:effectLst/>
                <a:uLnTx/>
                <a:uFillTx/>
                <a:latin typeface="Atkinson Hyperlegible"/>
                <a:ea typeface="ＭＳ Ｐゴシック" pitchFamily="34" charset="-128"/>
                <a:cs typeface="Arial"/>
              </a:rPr>
              <a:t> </a:t>
            </a:r>
          </a:p>
          <a:p>
            <a:pPr marL="457200" indent="-457200">
              <a:buFont typeface="Arial" panose="020B0604020202020204" pitchFamily="34" charset="0"/>
              <a:buAutoNum type="arabicPeriod"/>
            </a:pPr>
            <a:r>
              <a:rPr kumimoji="0" lang="en-US" sz="1800" b="0" i="0" u="none" strike="noStrike" kern="0" cap="none" spc="0" normalizeH="0" baseline="0" noProof="0">
                <a:ln>
                  <a:noFill/>
                </a:ln>
                <a:effectLst/>
                <a:uLnTx/>
                <a:uFillTx/>
                <a:latin typeface="Atkinson Hyperlegible"/>
                <a:ea typeface="MS PGothic" panose="020B0600070205080204" pitchFamily="34" charset="-128"/>
                <a:cs typeface="Arial" panose="020B0604020202020204"/>
              </a:rPr>
              <a:t>Social science in humanitarian action - </a:t>
            </a:r>
            <a:r>
              <a:rPr kumimoji="0" lang="en-US" sz="1800" b="0" i="0" u="none" strike="noStrike" kern="0" cap="none" spc="0" normalizeH="0" baseline="0" noProof="0">
                <a:ln>
                  <a:noFill/>
                </a:ln>
                <a:effectLst/>
                <a:uLnTx/>
                <a:uFillTx/>
                <a:latin typeface="Atkinson Hyperlegible"/>
                <a:ea typeface="MS PGothic" panose="020B0600070205080204" pitchFamily="34" charset="-128"/>
                <a:cs typeface="Arial" panose="020B0604020202020204"/>
                <a:hlinkClick r:id="rId6"/>
              </a:rPr>
              <a:t>http://www.socialscienceinaction.org/</a:t>
            </a:r>
            <a:r>
              <a:rPr kumimoji="0" lang="en-US" sz="1800" b="0" i="0" u="none" strike="noStrike" kern="0" cap="none" spc="0" normalizeH="0" baseline="0" noProof="0">
                <a:ln>
                  <a:noFill/>
                </a:ln>
                <a:effectLst/>
                <a:uLnTx/>
                <a:uFillTx/>
                <a:latin typeface="Atkinson Hyperlegible"/>
                <a:ea typeface="MS PGothic" panose="020B0600070205080204" pitchFamily="34" charset="-128"/>
                <a:cs typeface="Arial" panose="020B0604020202020204"/>
              </a:rPr>
              <a:t> </a:t>
            </a:r>
          </a:p>
          <a:p>
            <a:pPr marL="457200" indent="-457200">
              <a:buFont typeface="Arial" panose="020B0604020202020204" pitchFamily="34" charset="0"/>
              <a:buAutoNum type="arabicPeriod"/>
            </a:pPr>
            <a:endParaRPr kumimoji="0" lang="en-US" sz="1800" b="0" i="0" u="none" strike="noStrike" kern="0" cap="none" spc="0" normalizeH="0" baseline="0" noProof="0">
              <a:ln>
                <a:noFill/>
              </a:ln>
              <a:effectLst/>
              <a:uLnTx/>
              <a:uFillTx/>
              <a:latin typeface="Arial"/>
              <a:ea typeface="ＭＳ Ｐゴシック" pitchFamily="34" charset="-128"/>
              <a:cs typeface="Arial"/>
            </a:endParaRPr>
          </a:p>
          <a:p>
            <a:pPr marL="457200" indent="-457200">
              <a:buAutoNum type="arabicPeriod"/>
            </a:pPr>
            <a:endParaRPr lang="en-US" sz="1800">
              <a:latin typeface="Atkinson Hyperlegible" pitchFamily="2" charset="77"/>
            </a:endParaRPr>
          </a:p>
          <a:p>
            <a:pPr marL="0" indent="0">
              <a:buNone/>
            </a:pPr>
            <a:endParaRPr lang="en-US" sz="1800">
              <a:latin typeface="Atkinson Hyperlegible" pitchFamily="2" charset="7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A4B5CC9EDF221409618B2DF695DB40D" ma:contentTypeVersion="18" ma:contentTypeDescription="Create a new document." ma:contentTypeScope="" ma:versionID="30f1c54b7ce6f8c87a0b9d34cb992982">
  <xsd:schema xmlns:xsd="http://www.w3.org/2001/XMLSchema" xmlns:xs="http://www.w3.org/2001/XMLSchema" xmlns:p="http://schemas.microsoft.com/office/2006/metadata/properties" xmlns:ns2="9538e8e8-37da-4099-8b53-4520a2e56b40" xmlns:ns3="9293c628-f351-476b-bac4-4ac2b9a0ab84" targetNamespace="http://schemas.microsoft.com/office/2006/metadata/properties" ma:root="true" ma:fieldsID="2aa6c65805fe350010fa4cf46e56e689" ns2:_="" ns3:_="">
    <xsd:import namespace="9538e8e8-37da-4099-8b53-4520a2e56b40"/>
    <xsd:import namespace="9293c628-f351-476b-bac4-4ac2b9a0ab8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38e8e8-37da-4099-8b53-4520a2e56b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aa4eac88-8ae6-4a96-90c7-97bc93c844e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293c628-f351-476b-bac4-4ac2b9a0ab8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d81e0e0-83b1-40b3-a78c-514a3eb937cf}" ma:internalName="TaxCatchAll" ma:showField="CatchAllData" ma:web="9293c628-f351-476b-bac4-4ac2b9a0ab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538e8e8-37da-4099-8b53-4520a2e56b40">
      <Terms xmlns="http://schemas.microsoft.com/office/infopath/2007/PartnerControls"/>
    </lcf76f155ced4ddcb4097134ff3c332f>
    <TaxCatchAll xmlns="9293c628-f351-476b-bac4-4ac2b9a0ab84" xsi:nil="true"/>
  </documentManagement>
</p:properties>
</file>

<file path=customXml/itemProps1.xml><?xml version="1.0" encoding="utf-8"?>
<ds:datastoreItem xmlns:ds="http://schemas.openxmlformats.org/officeDocument/2006/customXml" ds:itemID="{A8D060AE-FFA4-4D1D-8259-8DF40D144BED}"/>
</file>

<file path=customXml/itemProps2.xml><?xml version="1.0" encoding="utf-8"?>
<ds:datastoreItem xmlns:ds="http://schemas.openxmlformats.org/officeDocument/2006/customXml" ds:itemID="{8CE2EB46-9D2B-4C4A-9404-591273E60566}"/>
</file>

<file path=customXml/itemProps3.xml><?xml version="1.0" encoding="utf-8"?>
<ds:datastoreItem xmlns:ds="http://schemas.openxmlformats.org/officeDocument/2006/customXml" ds:itemID="{BEA51F4F-9272-459A-A1B3-5C8B9CF50727}"/>
</file>

<file path=docProps/app.xml><?xml version="1.0" encoding="utf-8"?>
<Properties xmlns="http://schemas.openxmlformats.org/officeDocument/2006/extended-properties" xmlns:vt="http://schemas.openxmlformats.org/officeDocument/2006/docPropsVTypes">
  <TotalTime>5085</TotalTime>
  <Words>3872</Words>
  <Application>Microsoft Office PowerPoint</Application>
  <PresentationFormat>Widescreen</PresentationFormat>
  <Paragraphs>195</Paragraphs>
  <Slides>18</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Atkinson Hyperlegible</vt:lpstr>
      <vt:lpstr>Calibri</vt:lpstr>
      <vt:lpstr>Calibri Light</vt:lpstr>
      <vt:lpstr>Courier New</vt:lpstr>
      <vt:lpstr>Symbol</vt:lpstr>
      <vt:lpstr>Times New Roman</vt:lpstr>
      <vt:lpstr>Office Theme</vt:lpstr>
      <vt:lpstr> Engagement communautaire pour améliorer la demande a la vaccination des professionnels de santé &amp; des travailleurs de 1ere ligne.  Reunion des directeurs du PEV, 9 - 12 Septembre 2024, Kinshasa </vt:lpstr>
      <vt:lpstr>Plan</vt:lpstr>
      <vt:lpstr>La perception en communication</vt:lpstr>
      <vt:lpstr>                               Importance de la vaccination pour le personnel de sante et les travailleurs de 1ere ligne</vt:lpstr>
      <vt:lpstr>Current Challenges</vt:lpstr>
      <vt:lpstr>   Les raisons courantes de l'hésitation à se faire vacciner chez les travailleurs de première ligne et les professionnels de la santé  </vt:lpstr>
      <vt:lpstr>Quelques stratégies pour réduire l’hesitation au sein du personnel de sante</vt:lpstr>
      <vt:lpstr> La vaccination des professionnels de santé renforce la confiance au sein de la communauté  </vt:lpstr>
      <vt:lpstr>Exemples de stratégies d’engagement communautaire réussies parmi les professionnels de santé/les travailleurs de première ligne</vt:lpstr>
      <vt:lpstr>Domaines clés pour messages aux professionnels de santé et travailleurs de 1ere ligne.</vt:lpstr>
      <vt:lpstr>Stratégies pour atteindre et mobiliser efficacement les travailleurs de première ligne </vt:lpstr>
      <vt:lpstr> Appel à l'action : Importance des efforts soutenus et de la communication continue</vt:lpstr>
      <vt:lpstr>Exemples de materiels de communication pour sensibiliser les professionnels de sante</vt:lpstr>
      <vt:lpstr>Exemples de materiels de communication pour sensibiliser les professionnels de sante</vt:lpstr>
      <vt:lpstr>Everett  Rogers ,  théorie de  la  diffusion  de  l’innovation, années  60,</vt:lpstr>
      <vt:lpstr>Conclusion</vt:lpstr>
      <vt:lpstr>Q&amp;R</vt:lpstr>
      <vt:lpstr>Ressources</vt:lpstr>
    </vt:vector>
  </TitlesOfParts>
  <Company>UNICEF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Communication and Community Engagement for Ebola Vaccine Advocacy   Expanded Program for Immunization Managers Meeting, 28th June 2024, Johannesburg</dc:title>
  <dc:creator>Ghaffar Gomina</dc:creator>
  <cp:lastModifiedBy>Ghaffar Gomina</cp:lastModifiedBy>
  <cp:revision>9</cp:revision>
  <dcterms:created xsi:type="dcterms:W3CDTF">2024-06-25T13:12:26Z</dcterms:created>
  <dcterms:modified xsi:type="dcterms:W3CDTF">2024-09-11T15:52:15Z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0x0101005A4B5CC9EDF221409618B2DF695DB40D</vt:lpwstr>
  </property>
</Properties>
</file>